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유지</c:v>
                </c:pt>
              </c:strCache>
            </c:strRef>
          </c:tx>
          <c:spPr>
            <a:solidFill>
              <a:srgbClr val="26A455"/>
            </a:solidFill>
            <a:ln w="19050" cap="flat">
              <a:solidFill>
                <a:srgbClr val="171E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18</c:v>
                </c:pt>
                <c:pt idx="2">
                  <c:v>25</c:v>
                </c:pt>
                <c:pt idx="3">
                  <c:v>32</c:v>
                </c:pt>
                <c:pt idx="4">
                  <c:v>38</c:v>
                </c:pt>
                <c:pt idx="5">
                  <c:v>43</c:v>
                </c:pt>
                <c:pt idx="6">
                  <c:v>47</c:v>
                </c:pt>
                <c:pt idx="7">
                  <c:v>50</c:v>
                </c:pt>
                <c:pt idx="8">
                  <c:v>54</c:v>
                </c:pt>
                <c:pt idx="9">
                  <c:v>57</c:v>
                </c:pt>
                <c:pt idx="10">
                  <c:v>60</c:v>
                </c:pt>
                <c:pt idx="11">
                  <c:v>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신규 채택</c:v>
                </c:pt>
              </c:strCache>
            </c:strRef>
          </c:tx>
          <c:spPr>
            <a:solidFill>
              <a:srgbClr val="2596B0"/>
            </a:solidFill>
            <a:ln w="19050" cap="flat">
              <a:solidFill>
                <a:srgbClr val="171E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은퇴</c:v>
                </c:pt>
              </c:strCache>
            </c:strRef>
          </c:tx>
          <c:spPr>
            <a:solidFill>
              <a:srgbClr val="C93B54"/>
            </a:solidFill>
            <a:ln w="19050" cap="flat">
              <a:solidFill>
                <a:srgbClr val="171E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4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3A2C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2A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3A2C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E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3A2C0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171E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전수 실행 (85×4)</c:v>
                </c:pt>
              </c:strCache>
            </c:strRef>
          </c:tx>
          <c:spPr>
            <a:solidFill>
              <a:srgbClr val="C93B54"/>
            </a:solidFill>
            <a:ln w="38100" cap="flat">
              <a:solidFill>
                <a:srgbClr val="C93B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3B54"/>
              </a:solidFill>
              <a:ln w="9525" cap="flat">
                <a:solidFill>
                  <a:srgbClr val="C93B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  <c:pt idx="10">
                    <c:v>D11</c:v>
                  </c:pt>
                  <c:pt idx="11">
                    <c:v>D12</c:v>
                  </c:pt>
                  <c:pt idx="12">
                    <c:v>D13</c:v>
                  </c:pt>
                  <c:pt idx="13">
                    <c:v>D14</c:v>
                  </c:pt>
                  <c:pt idx="14">
                    <c:v>D15</c:v>
                  </c:pt>
                  <c:pt idx="15">
                    <c:v>D16</c:v>
                  </c:pt>
                  <c:pt idx="16">
                    <c:v>D17</c:v>
                  </c:pt>
                  <c:pt idx="17">
                    <c:v>D18</c:v>
                  </c:pt>
                  <c:pt idx="18">
                    <c:v>D19</c:v>
                  </c:pt>
                  <c:pt idx="19">
                    <c:v>D20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340</c:v>
                </c:pt>
                <c:pt idx="1">
                  <c:v>340</c:v>
                </c:pt>
                <c:pt idx="2">
                  <c:v>340</c:v>
                </c:pt>
                <c:pt idx="3">
                  <c:v>340</c:v>
                </c:pt>
                <c:pt idx="4">
                  <c:v>340</c:v>
                </c:pt>
                <c:pt idx="5">
                  <c:v>340</c:v>
                </c:pt>
                <c:pt idx="6">
                  <c:v>340</c:v>
                </c:pt>
                <c:pt idx="7">
                  <c:v>340</c:v>
                </c:pt>
                <c:pt idx="8">
                  <c:v>340</c:v>
                </c:pt>
                <c:pt idx="9">
                  <c:v>340</c:v>
                </c:pt>
                <c:pt idx="10">
                  <c:v>340</c:v>
                </c:pt>
                <c:pt idx="11">
                  <c:v>340</c:v>
                </c:pt>
                <c:pt idx="12">
                  <c:v>340</c:v>
                </c:pt>
                <c:pt idx="13">
                  <c:v>340</c:v>
                </c:pt>
                <c:pt idx="14">
                  <c:v>340</c:v>
                </c:pt>
                <c:pt idx="15">
                  <c:v>340</c:v>
                </c:pt>
                <c:pt idx="16">
                  <c:v>340</c:v>
                </c:pt>
                <c:pt idx="17">
                  <c:v>340</c:v>
                </c:pt>
                <c:pt idx="18">
                  <c:v>340</c:v>
                </c:pt>
                <c:pt idx="19">
                  <c:v>340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이벤트 소집</c:v>
                </c:pt>
              </c:strCache>
            </c:strRef>
          </c:tx>
          <c:spPr>
            <a:solidFill>
              <a:srgbClr val="26A455"/>
            </a:solidFill>
            <a:ln w="38100" cap="flat">
              <a:solidFill>
                <a:srgbClr val="26A4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6A455"/>
              </a:solidFill>
              <a:ln w="9525" cap="flat">
                <a:solidFill>
                  <a:srgbClr val="26A4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  <c:pt idx="10">
                    <c:v>D11</c:v>
                  </c:pt>
                  <c:pt idx="11">
                    <c:v>D12</c:v>
                  </c:pt>
                  <c:pt idx="12">
                    <c:v>D13</c:v>
                  </c:pt>
                  <c:pt idx="13">
                    <c:v>D14</c:v>
                  </c:pt>
                  <c:pt idx="14">
                    <c:v>D15</c:v>
                  </c:pt>
                  <c:pt idx="15">
                    <c:v>D16</c:v>
                  </c:pt>
                  <c:pt idx="16">
                    <c:v>D17</c:v>
                  </c:pt>
                  <c:pt idx="17">
                    <c:v>D18</c:v>
                  </c:pt>
                  <c:pt idx="18">
                    <c:v>D19</c:v>
                  </c:pt>
                  <c:pt idx="19">
                    <c:v>D20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38</c:v>
                </c:pt>
                <c:pt idx="1">
                  <c:v>52</c:v>
                </c:pt>
                <c:pt idx="2">
                  <c:v>44</c:v>
                </c:pt>
                <c:pt idx="3">
                  <c:v>61</c:v>
                </c:pt>
                <c:pt idx="4">
                  <c:v>35</c:v>
                </c:pt>
                <c:pt idx="5">
                  <c:v>49</c:v>
                </c:pt>
                <c:pt idx="6">
                  <c:v>88</c:v>
                </c:pt>
                <c:pt idx="7">
                  <c:v>41</c:v>
                </c:pt>
                <c:pt idx="8">
                  <c:v>57</c:v>
                </c:pt>
                <c:pt idx="9">
                  <c:v>46</c:v>
                </c:pt>
                <c:pt idx="10">
                  <c:v>72</c:v>
                </c:pt>
                <c:pt idx="11">
                  <c:v>39</c:v>
                </c:pt>
                <c:pt idx="12">
                  <c:v>55</c:v>
                </c:pt>
                <c:pt idx="13">
                  <c:v>64</c:v>
                </c:pt>
                <c:pt idx="14">
                  <c:v>43</c:v>
                </c:pt>
                <c:pt idx="15">
                  <c:v>51</c:v>
                </c:pt>
                <c:pt idx="16">
                  <c:v>47</c:v>
                </c:pt>
                <c:pt idx="17">
                  <c:v>95</c:v>
                </c:pt>
                <c:pt idx="18">
                  <c:v>58</c:v>
                </c:pt>
                <c:pt idx="19">
                  <c:v>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87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12700" cap="flat">
              <a:solidFill>
                <a:srgbClr val="2A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2C0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E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3A2C0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171E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2296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5214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1673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48132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64592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1051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97510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13969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30428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46888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63347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79806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96265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12724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29184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45643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62102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78561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95020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27939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44398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60857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77316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93776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26694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43153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59612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576072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592531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08990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25449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8368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674827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8640" y="4754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STOCK_AGENT v2.0  ·  INTERNAL  ·  NOT INVESTMENT ADVICE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1170432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살아있는 리서치 데스크</a:t>
            </a:r>
            <a:endParaRPr lang="en-US" sz="46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19751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논문이 흐르고, 에이전트가 소집된다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24505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12편과 고정된 8데스크를 버린다. 논문은 매주 새로 들어와 재현 검사를 통과한 것만 살아남고,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이벤트가 뜰 때만 소집됐다가 봉투를 내고 사라진다.</a:t>
            </a:r>
            <a:endParaRPr lang="en-US" sz="13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75888"/>
            <a:ext cx="749808" cy="749808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438912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기업분석</a:t>
            </a:r>
            <a:endParaRPr lang="en-US" sz="850" dirty="0"/>
          </a:p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675888"/>
            <a:ext cx="749808" cy="749808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1005840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계량</a:t>
            </a:r>
            <a:endParaRPr lang="en-US" sz="850" dirty="0"/>
          </a:p>
        </p:txBody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3675888"/>
            <a:ext cx="749808" cy="749808"/>
          </a:xfrm>
          <a:prstGeom prst="rect">
            <a:avLst/>
          </a:prstGeom>
        </p:spPr>
      </p:pic>
      <p:sp>
        <p:nvSpPr>
          <p:cNvPr id="53" name="Text 48"/>
          <p:cNvSpPr txBox="1"/>
          <p:nvPr/>
        </p:nvSpPr>
        <p:spPr>
          <a:xfrm>
            <a:off x="1572768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매크로</a:t>
            </a:r>
            <a:endParaRPr lang="en-US" sz="850" dirty="0"/>
          </a:p>
        </p:txBody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424" y="3675888"/>
            <a:ext cx="749808" cy="74980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2139696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집행</a:t>
            </a:r>
            <a:endParaRPr lang="en-US" sz="850" dirty="0"/>
          </a:p>
        </p:txBody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6352" y="3675888"/>
            <a:ext cx="749808" cy="749808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2706624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리스크</a:t>
            </a:r>
            <a:endParaRPr lang="en-US" sz="850" dirty="0"/>
          </a:p>
        </p:txBody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675888"/>
            <a:ext cx="749808" cy="749808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3273552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준법</a:t>
            </a:r>
            <a:endParaRPr lang="en-US" sz="850" dirty="0"/>
          </a:p>
        </p:txBody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208" y="3675888"/>
            <a:ext cx="749808" cy="749808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3840480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데이터</a:t>
            </a:r>
            <a:endParaRPr lang="en-US" sz="850" dirty="0"/>
          </a:p>
        </p:txBody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7136" y="3675888"/>
            <a:ext cx="749808" cy="749808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4407408" y="46085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간사</a:t>
            </a:r>
            <a:endParaRPr lang="en-US" sz="850" dirty="0"/>
          </a:p>
        </p:txBody>
      </p:sp>
      <p:sp>
        <p:nvSpPr>
          <p:cNvPr id="64" name="Shape 54"/>
          <p:cNvSpPr/>
          <p:nvPr/>
        </p:nvSpPr>
        <p:spPr>
          <a:xfrm>
            <a:off x="530352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65" name="Shape 55"/>
          <p:cNvSpPr/>
          <p:nvPr/>
        </p:nvSpPr>
        <p:spPr>
          <a:xfrm>
            <a:off x="648310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66" name="Shape 56"/>
          <p:cNvSpPr/>
          <p:nvPr/>
        </p:nvSpPr>
        <p:spPr>
          <a:xfrm>
            <a:off x="766267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67" name="Shape 57"/>
          <p:cNvSpPr/>
          <p:nvPr/>
        </p:nvSpPr>
        <p:spPr>
          <a:xfrm>
            <a:off x="884225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68" name="Shape 58"/>
          <p:cNvSpPr/>
          <p:nvPr/>
        </p:nvSpPr>
        <p:spPr>
          <a:xfrm>
            <a:off x="1002182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69" name="Shape 59"/>
          <p:cNvSpPr/>
          <p:nvPr/>
        </p:nvSpPr>
        <p:spPr>
          <a:xfrm>
            <a:off x="1120140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70" name="Shape 60"/>
          <p:cNvSpPr/>
          <p:nvPr/>
        </p:nvSpPr>
        <p:spPr>
          <a:xfrm>
            <a:off x="1238098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71" name="Shape 61"/>
          <p:cNvSpPr/>
          <p:nvPr/>
        </p:nvSpPr>
        <p:spPr>
          <a:xfrm>
            <a:off x="1356055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72" name="Shape 62"/>
          <p:cNvSpPr/>
          <p:nvPr/>
        </p:nvSpPr>
        <p:spPr>
          <a:xfrm>
            <a:off x="1474013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73" name="Shape 63"/>
          <p:cNvSpPr/>
          <p:nvPr/>
        </p:nvSpPr>
        <p:spPr>
          <a:xfrm>
            <a:off x="1591970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74" name="Shape 64"/>
          <p:cNvSpPr/>
          <p:nvPr/>
        </p:nvSpPr>
        <p:spPr>
          <a:xfrm>
            <a:off x="1709928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75" name="Shape 65"/>
          <p:cNvSpPr/>
          <p:nvPr/>
        </p:nvSpPr>
        <p:spPr>
          <a:xfrm>
            <a:off x="1827886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76" name="Shape 66"/>
          <p:cNvSpPr/>
          <p:nvPr/>
        </p:nvSpPr>
        <p:spPr>
          <a:xfrm>
            <a:off x="1945843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77" name="Shape 67"/>
          <p:cNvSpPr/>
          <p:nvPr/>
        </p:nvSpPr>
        <p:spPr>
          <a:xfrm>
            <a:off x="2063801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78" name="Shape 68"/>
          <p:cNvSpPr/>
          <p:nvPr/>
        </p:nvSpPr>
        <p:spPr>
          <a:xfrm>
            <a:off x="2181758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79" name="Shape 69"/>
          <p:cNvSpPr/>
          <p:nvPr/>
        </p:nvSpPr>
        <p:spPr>
          <a:xfrm>
            <a:off x="2299716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80" name="Shape 70"/>
          <p:cNvSpPr/>
          <p:nvPr/>
        </p:nvSpPr>
        <p:spPr>
          <a:xfrm>
            <a:off x="2417674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81" name="Shape 71"/>
          <p:cNvSpPr/>
          <p:nvPr/>
        </p:nvSpPr>
        <p:spPr>
          <a:xfrm>
            <a:off x="2535631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82" name="Shape 72"/>
          <p:cNvSpPr/>
          <p:nvPr/>
        </p:nvSpPr>
        <p:spPr>
          <a:xfrm>
            <a:off x="2653589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83" name="Shape 73"/>
          <p:cNvSpPr/>
          <p:nvPr/>
        </p:nvSpPr>
        <p:spPr>
          <a:xfrm>
            <a:off x="2771546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84" name="Shape 74"/>
          <p:cNvSpPr/>
          <p:nvPr/>
        </p:nvSpPr>
        <p:spPr>
          <a:xfrm>
            <a:off x="2889504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85" name="Shape 75"/>
          <p:cNvSpPr/>
          <p:nvPr/>
        </p:nvSpPr>
        <p:spPr>
          <a:xfrm>
            <a:off x="3007462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86" name="Shape 76"/>
          <p:cNvSpPr/>
          <p:nvPr/>
        </p:nvSpPr>
        <p:spPr>
          <a:xfrm>
            <a:off x="3125419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87" name="Shape 77"/>
          <p:cNvSpPr/>
          <p:nvPr/>
        </p:nvSpPr>
        <p:spPr>
          <a:xfrm>
            <a:off x="3243377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88" name="Shape 78"/>
          <p:cNvSpPr/>
          <p:nvPr/>
        </p:nvSpPr>
        <p:spPr>
          <a:xfrm>
            <a:off x="3361334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89" name="Shape 79"/>
          <p:cNvSpPr/>
          <p:nvPr/>
        </p:nvSpPr>
        <p:spPr>
          <a:xfrm>
            <a:off x="3479292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90" name="Shape 80"/>
          <p:cNvSpPr/>
          <p:nvPr/>
        </p:nvSpPr>
        <p:spPr>
          <a:xfrm>
            <a:off x="3597250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91" name="Shape 81"/>
          <p:cNvSpPr/>
          <p:nvPr/>
        </p:nvSpPr>
        <p:spPr>
          <a:xfrm>
            <a:off x="3715207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92" name="Shape 82"/>
          <p:cNvSpPr/>
          <p:nvPr/>
        </p:nvSpPr>
        <p:spPr>
          <a:xfrm>
            <a:off x="3833165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93" name="Shape 83"/>
          <p:cNvSpPr/>
          <p:nvPr/>
        </p:nvSpPr>
        <p:spPr>
          <a:xfrm>
            <a:off x="3951122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94" name="Shape 84"/>
          <p:cNvSpPr/>
          <p:nvPr/>
        </p:nvSpPr>
        <p:spPr>
          <a:xfrm>
            <a:off x="4069080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95" name="Shape 85"/>
          <p:cNvSpPr/>
          <p:nvPr/>
        </p:nvSpPr>
        <p:spPr>
          <a:xfrm>
            <a:off x="4187038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96" name="Shape 86"/>
          <p:cNvSpPr/>
          <p:nvPr/>
        </p:nvSpPr>
        <p:spPr>
          <a:xfrm>
            <a:off x="4304995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97" name="Shape 87"/>
          <p:cNvSpPr/>
          <p:nvPr/>
        </p:nvSpPr>
        <p:spPr>
          <a:xfrm>
            <a:off x="4422953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98" name="Shape 88"/>
          <p:cNvSpPr/>
          <p:nvPr/>
        </p:nvSpPr>
        <p:spPr>
          <a:xfrm>
            <a:off x="4540910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99" name="Shape 89"/>
          <p:cNvSpPr/>
          <p:nvPr/>
        </p:nvSpPr>
        <p:spPr>
          <a:xfrm>
            <a:off x="4658868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100" name="Shape 90"/>
          <p:cNvSpPr/>
          <p:nvPr/>
        </p:nvSpPr>
        <p:spPr>
          <a:xfrm>
            <a:off x="4776826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101" name="Shape 91"/>
          <p:cNvSpPr/>
          <p:nvPr/>
        </p:nvSpPr>
        <p:spPr>
          <a:xfrm>
            <a:off x="4894783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102" name="Shape 92"/>
          <p:cNvSpPr/>
          <p:nvPr/>
        </p:nvSpPr>
        <p:spPr>
          <a:xfrm>
            <a:off x="5012741" y="4425696"/>
            <a:ext cx="117958" cy="117958"/>
          </a:xfrm>
          <a:prstGeom prst="rect">
            <a:avLst/>
          </a:prstGeom>
          <a:solidFill>
            <a:srgbClr val="1B2338"/>
          </a:solidFill>
          <a:ln/>
        </p:spPr>
      </p:sp>
      <p:sp>
        <p:nvSpPr>
          <p:cNvPr id="103" name="Shape 93"/>
          <p:cNvSpPr/>
          <p:nvPr/>
        </p:nvSpPr>
        <p:spPr>
          <a:xfrm>
            <a:off x="5130698" y="4425696"/>
            <a:ext cx="117958" cy="11795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104" name="Shape 94"/>
          <p:cNvSpPr/>
          <p:nvPr/>
        </p:nvSpPr>
        <p:spPr>
          <a:xfrm>
            <a:off x="598932" y="5006340"/>
            <a:ext cx="2615184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05" name="Shape 95"/>
          <p:cNvSpPr/>
          <p:nvPr/>
        </p:nvSpPr>
        <p:spPr>
          <a:xfrm>
            <a:off x="548640" y="4956048"/>
            <a:ext cx="2615184" cy="9692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6" name="Text 96"/>
          <p:cNvSpPr txBox="1"/>
          <p:nvPr/>
        </p:nvSpPr>
        <p:spPr>
          <a:xfrm>
            <a:off x="694944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100" dirty="0"/>
          </a:p>
        </p:txBody>
      </p:sp>
      <p:sp>
        <p:nvSpPr>
          <p:cNvPr id="107" name="Text 97"/>
          <p:cNvSpPr txBox="1"/>
          <p:nvPr/>
        </p:nvSpPr>
        <p:spPr>
          <a:xfrm>
            <a:off x="694944" y="5394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살아있는 논문</a:t>
            </a:r>
            <a:endParaRPr lang="en-US" sz="1100" dirty="0"/>
          </a:p>
        </p:txBody>
      </p:sp>
      <p:sp>
        <p:nvSpPr>
          <p:cNvPr id="108" name="Text 98"/>
          <p:cNvSpPr txBox="1"/>
          <p:nvPr/>
        </p:nvSpPr>
        <p:spPr>
          <a:xfrm>
            <a:off x="694944" y="5614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12편이 아니다</a:t>
            </a:r>
            <a:endParaRPr lang="en-US" sz="950" dirty="0"/>
          </a:p>
        </p:txBody>
      </p:sp>
      <p:sp>
        <p:nvSpPr>
          <p:cNvPr id="109" name="Shape 99"/>
          <p:cNvSpPr/>
          <p:nvPr/>
        </p:nvSpPr>
        <p:spPr>
          <a:xfrm>
            <a:off x="3396996" y="5006340"/>
            <a:ext cx="2615184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0" name="Shape 100"/>
          <p:cNvSpPr/>
          <p:nvPr/>
        </p:nvSpPr>
        <p:spPr>
          <a:xfrm>
            <a:off x="3346704" y="4956048"/>
            <a:ext cx="2615184" cy="9692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1" name="Text 101"/>
          <p:cNvSpPr txBox="1"/>
          <p:nvPr/>
        </p:nvSpPr>
        <p:spPr>
          <a:xfrm>
            <a:off x="3493008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endParaRPr lang="en-US" sz="2100" dirty="0"/>
          </a:p>
        </p:txBody>
      </p:sp>
      <p:sp>
        <p:nvSpPr>
          <p:cNvPr id="112" name="Text 102"/>
          <p:cNvSpPr txBox="1"/>
          <p:nvPr/>
        </p:nvSpPr>
        <p:spPr>
          <a:xfrm>
            <a:off x="3493008" y="5394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소집 방식</a:t>
            </a:r>
            <a:endParaRPr lang="en-US" sz="1100" dirty="0"/>
          </a:p>
        </p:txBody>
      </p:sp>
      <p:sp>
        <p:nvSpPr>
          <p:cNvPr id="113" name="Text 103"/>
          <p:cNvSpPr txBox="1"/>
          <p:nvPr/>
        </p:nvSpPr>
        <p:spPr>
          <a:xfrm>
            <a:off x="3493008" y="5614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스캔이 아니다</a:t>
            </a:r>
            <a:endParaRPr lang="en-US" sz="950" dirty="0"/>
          </a:p>
        </p:txBody>
      </p:sp>
      <p:sp>
        <p:nvSpPr>
          <p:cNvPr id="114" name="Shape 104"/>
          <p:cNvSpPr/>
          <p:nvPr/>
        </p:nvSpPr>
        <p:spPr>
          <a:xfrm>
            <a:off x="6195060" y="5006340"/>
            <a:ext cx="2615184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5" name="Shape 105"/>
          <p:cNvSpPr/>
          <p:nvPr/>
        </p:nvSpPr>
        <p:spPr>
          <a:xfrm>
            <a:off x="6144768" y="4956048"/>
            <a:ext cx="2615184" cy="9692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6" name="Text 106"/>
          <p:cNvSpPr txBox="1"/>
          <p:nvPr/>
        </p:nvSpPr>
        <p:spPr>
          <a:xfrm>
            <a:off x="6291072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100" dirty="0"/>
          </a:p>
        </p:txBody>
      </p:sp>
      <p:sp>
        <p:nvSpPr>
          <p:cNvPr id="117" name="Text 107"/>
          <p:cNvSpPr txBox="1"/>
          <p:nvPr/>
        </p:nvSpPr>
        <p:spPr>
          <a:xfrm>
            <a:off x="6291072" y="5394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게이트</a:t>
            </a:r>
            <a:endParaRPr lang="en-US" sz="1100" dirty="0"/>
          </a:p>
        </p:txBody>
      </p:sp>
      <p:sp>
        <p:nvSpPr>
          <p:cNvPr id="118" name="Text 108"/>
          <p:cNvSpPr txBox="1"/>
          <p:nvPr/>
        </p:nvSpPr>
        <p:spPr>
          <a:xfrm>
            <a:off x="6291072" y="5614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관문 신설</a:t>
            </a:r>
            <a:endParaRPr lang="en-US" sz="950" dirty="0"/>
          </a:p>
        </p:txBody>
      </p:sp>
      <p:sp>
        <p:nvSpPr>
          <p:cNvPr id="119" name="Shape 109"/>
          <p:cNvSpPr/>
          <p:nvPr/>
        </p:nvSpPr>
        <p:spPr>
          <a:xfrm>
            <a:off x="8993124" y="5006340"/>
            <a:ext cx="2615184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0" name="Shape 110"/>
          <p:cNvSpPr/>
          <p:nvPr/>
        </p:nvSpPr>
        <p:spPr>
          <a:xfrm>
            <a:off x="8942832" y="4956048"/>
            <a:ext cx="2615184" cy="9692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1" name="Text 111"/>
          <p:cNvSpPr txBox="1"/>
          <p:nvPr/>
        </p:nvSpPr>
        <p:spPr>
          <a:xfrm>
            <a:off x="9089136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100" dirty="0"/>
          </a:p>
        </p:txBody>
      </p:sp>
      <p:sp>
        <p:nvSpPr>
          <p:cNvPr id="122" name="Text 112"/>
          <p:cNvSpPr txBox="1"/>
          <p:nvPr/>
        </p:nvSpPr>
        <p:spPr>
          <a:xfrm>
            <a:off x="9089136" y="5394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쓰기 권한</a:t>
            </a:r>
            <a:endParaRPr lang="en-US" sz="1100" dirty="0"/>
          </a:p>
        </p:txBody>
      </p:sp>
      <p:sp>
        <p:nvSpPr>
          <p:cNvPr id="123" name="Text 113"/>
          <p:cNvSpPr txBox="1"/>
          <p:nvPr/>
        </p:nvSpPr>
        <p:spPr>
          <a:xfrm>
            <a:off x="9089136" y="5614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못 쓴다</a:t>
            </a:r>
            <a:endParaRPr lang="en-US" sz="950" dirty="0"/>
          </a:p>
        </p:txBody>
      </p:sp>
      <p:sp>
        <p:nvSpPr>
          <p:cNvPr id="124" name="Text 114"/>
          <p:cNvSpPr txBox="1"/>
          <p:nvPr/>
        </p:nvSpPr>
        <p:spPr>
          <a:xfrm>
            <a:off x="548640" y="614476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2026-09-13  ·  InnbumBaek/Stock_Agent  ·  최종 결정은 사람이 한다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WHAT CHANGES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은 조직도였다. v2 는 흐름이다.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구조는 그대로 둔다 — 원장은 여전히 사실만 담고, 판단은 여전히 사람이 한다. 바뀌는 것은 논문과 에이전트의 수명이다.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696212"/>
            <a:ext cx="11094415" cy="40233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11094415" cy="402336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45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항목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6459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 (지난 방안)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64592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 (이번 방안)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157984"/>
            <a:ext cx="11094415" cy="56692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1579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논문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15798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채택본 12편 고정 · 손으로 고른 목록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2331720"/>
            <a:ext cx="310896" cy="19202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83680" y="21579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수확 → 재현 검사 → 통과분만 채택 · 반감기 지나면 은퇴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807208"/>
            <a:ext cx="11094415" cy="56692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28072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근거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28072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논문을 인용한다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2980944"/>
            <a:ext cx="310896" cy="19202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583680" y="28072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논문을 우리 원장에서 재현해 보고 인용한다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3456432"/>
            <a:ext cx="11094415" cy="56692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1520" y="34564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에이전트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2286000" y="34564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상설 8데스크 · 매일 전수 실행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3630168"/>
            <a:ext cx="310896" cy="19202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583680" y="34564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상설 3 + 이벤트 소집 N · 변동분만 실행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4105656"/>
            <a:ext cx="11094415" cy="56692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31520" y="41056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수명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2286000" y="410565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떠 있다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4279392"/>
            <a:ext cx="310896" cy="19202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583680" y="41056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 → 봉투 → dissolve · 상태를 들고 있지 않는다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4754880"/>
            <a:ext cx="11094415" cy="56692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31520" y="47548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비용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2286000" y="47548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종목수 × 데스크수 (선형 증가)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4928616"/>
            <a:ext cx="310896" cy="19202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583680" y="47548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수에 비례 (실측 기준 1/5~1/8)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48640" y="5404104"/>
            <a:ext cx="11094415" cy="56692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31520" y="54041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게이트</a:t>
            </a:r>
            <a:endParaRPr lang="en-US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2286000" y="540410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</a:t>
            </a:r>
            <a:endParaRPr lang="en-US" sz="11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5577840"/>
            <a:ext cx="310896" cy="19202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583680" y="540410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— 재현 관문 추가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깨지 않는 것: 재기만 하고 판단하지 않는다 · 원장에는 사실만 · 없는 값을 만들지 않는다 · 등급을 섞지 않는다 · 키는 저장소 밖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12편은 목록이 아니라 스냅샷이다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.papers.json 의 verified 는 2026-09-05 다. 그날 이후로 이 데스크의 방법론은 멈춰 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5486400" cy="4169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5486400" cy="4169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653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adopted = 12   ·   frozen @ 2026-09-05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786384" y="2304288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52144" y="2350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roll1984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52144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1984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2084832" y="23042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450592" y="2350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j1990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2450592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1990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3383280" y="230428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749040" y="2350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ritter1991</a:t>
            </a:r>
            <a:endParaRPr lang="en-US" sz="850" dirty="0"/>
          </a:p>
        </p:txBody>
      </p:sp>
      <p:sp>
        <p:nvSpPr>
          <p:cNvPr id="16" name="Text 11"/>
          <p:cNvSpPr txBox="1"/>
          <p:nvPr/>
        </p:nvSpPr>
        <p:spPr>
          <a:xfrm>
            <a:off x="3749040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1991</a:t>
            </a:r>
            <a:endParaRPr lang="en-US" sz="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4681728" y="230428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047488" y="2350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jt1993</a:t>
            </a:r>
            <a:endParaRPr lang="en-US" sz="850" dirty="0"/>
          </a:p>
        </p:txBody>
      </p:sp>
      <p:sp>
        <p:nvSpPr>
          <p:cNvPr id="19" name="Text 13"/>
          <p:cNvSpPr txBox="1"/>
          <p:nvPr/>
        </p:nvSpPr>
        <p:spPr>
          <a:xfrm>
            <a:off x="5047488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1993</a:t>
            </a:r>
            <a:endParaRPr lang="en-US" sz="8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786384" y="3236976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52144" y="3282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dnr1998</a:t>
            </a:r>
            <a:endParaRPr lang="en-US" sz="850" dirty="0"/>
          </a:p>
        </p:txBody>
      </p:sp>
      <p:sp>
        <p:nvSpPr>
          <p:cNvPr id="22" name="Text 15"/>
          <p:cNvSpPr txBox="1"/>
          <p:nvPr/>
        </p:nvSpPr>
        <p:spPr>
          <a:xfrm>
            <a:off x="1152144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1998</a:t>
            </a:r>
            <a:endParaRPr lang="en-US" sz="8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2084832" y="3236976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50592" y="3282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ac2000</a:t>
            </a:r>
            <a:endParaRPr lang="en-US" sz="850" dirty="0"/>
          </a:p>
        </p:txBody>
      </p:sp>
      <p:sp>
        <p:nvSpPr>
          <p:cNvPr id="25" name="Text 17"/>
          <p:cNvSpPr txBox="1"/>
          <p:nvPr/>
        </p:nvSpPr>
        <p:spPr>
          <a:xfrm>
            <a:off x="2450592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endParaRPr lang="en-US" sz="8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>
            <a:alphaModFix amt="55000"/>
          </a:blip>
          <a:stretch>
            <a:fillRect/>
          </a:stretch>
        </p:blipFill>
        <p:spPr>
          <a:xfrm>
            <a:off x="3383280" y="3236976"/>
            <a:ext cx="310896" cy="31089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749040" y="3282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fh2001</a:t>
            </a:r>
            <a:endParaRPr lang="en-US" sz="850" dirty="0"/>
          </a:p>
        </p:txBody>
      </p:sp>
      <p:sp>
        <p:nvSpPr>
          <p:cNvPr id="28" name="Text 19"/>
          <p:cNvSpPr txBox="1"/>
          <p:nvPr/>
        </p:nvSpPr>
        <p:spPr>
          <a:xfrm>
            <a:off x="3749040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2001</a:t>
            </a:r>
            <a:endParaRPr lang="en-US" sz="8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>
            <a:alphaModFix amt="55000"/>
          </a:blip>
          <a:stretch>
            <a:fillRect/>
          </a:stretch>
        </p:blipFill>
        <p:spPr>
          <a:xfrm>
            <a:off x="4681728" y="3236976"/>
            <a:ext cx="310896" cy="31089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047488" y="3282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amihud2002</a:t>
            </a:r>
            <a:endParaRPr lang="en-US" sz="850" dirty="0"/>
          </a:p>
        </p:txBody>
      </p:sp>
      <p:sp>
        <p:nvSpPr>
          <p:cNvPr id="31" name="Text 21"/>
          <p:cNvSpPr txBox="1"/>
          <p:nvPr/>
        </p:nvSpPr>
        <p:spPr>
          <a:xfrm>
            <a:off x="5047488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2002</a:t>
            </a:r>
            <a:endParaRPr lang="en-US" sz="8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>
            <a:alphaModFix amt="55000"/>
          </a:blip>
          <a:stretch>
            <a:fillRect/>
          </a:stretch>
        </p:blipFill>
        <p:spPr>
          <a:xfrm>
            <a:off x="786384" y="4169664"/>
            <a:ext cx="310896" cy="31089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152144" y="4215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gh2004</a:t>
            </a:r>
            <a:endParaRPr lang="en-US" sz="850" dirty="0"/>
          </a:p>
        </p:txBody>
      </p:sp>
      <p:sp>
        <p:nvSpPr>
          <p:cNvPr id="34" name="Text 23"/>
          <p:cNvSpPr txBox="1"/>
          <p:nvPr/>
        </p:nvSpPr>
        <p:spPr>
          <a:xfrm>
            <a:off x="1152144" y="4407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2004</a:t>
            </a:r>
            <a:endParaRPr lang="en-US" sz="8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>
            <a:alphaModFix amt="55000"/>
          </a:blip>
          <a:stretch>
            <a:fillRect/>
          </a:stretch>
        </p:blipFill>
        <p:spPr>
          <a:xfrm>
            <a:off x="2084832" y="4169664"/>
            <a:ext cx="310896" cy="310896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2450592" y="4215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athl2005</a:t>
            </a:r>
            <a:endParaRPr lang="en-US" sz="850" dirty="0"/>
          </a:p>
        </p:txBody>
      </p:sp>
      <p:sp>
        <p:nvSpPr>
          <p:cNvPr id="37" name="Text 25"/>
          <p:cNvSpPr txBox="1"/>
          <p:nvPr/>
        </p:nvSpPr>
        <p:spPr>
          <a:xfrm>
            <a:off x="2450592" y="4407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2005</a:t>
            </a:r>
            <a:endParaRPr lang="en-US" sz="8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>
            <a:alphaModFix amt="55000"/>
          </a:blip>
          <a:stretch>
            <a:fillRect/>
          </a:stretch>
        </p:blipFill>
        <p:spPr>
          <a:xfrm>
            <a:off x="3383280" y="4169664"/>
            <a:ext cx="310896" cy="310896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3749040" y="4215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ahxz2006</a:t>
            </a:r>
            <a:endParaRPr lang="en-US" sz="850" dirty="0"/>
          </a:p>
        </p:txBody>
      </p:sp>
      <p:sp>
        <p:nvSpPr>
          <p:cNvPr id="40" name="Text 27"/>
          <p:cNvSpPr txBox="1"/>
          <p:nvPr/>
        </p:nvSpPr>
        <p:spPr>
          <a:xfrm>
            <a:off x="3749040" y="4407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2006</a:t>
            </a:r>
            <a:endParaRPr lang="en-US" sz="8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>
            <a:alphaModFix amt="55000"/>
          </a:blip>
          <a:stretch>
            <a:fillRect/>
          </a:stretch>
        </p:blipFill>
        <p:spPr>
          <a:xfrm>
            <a:off x="4681728" y="4169664"/>
            <a:ext cx="310896" cy="310896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5047488" y="4215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cs2012</a:t>
            </a:r>
            <a:endParaRPr lang="en-US" sz="850" dirty="0"/>
          </a:p>
        </p:txBody>
      </p:sp>
      <p:sp>
        <p:nvSpPr>
          <p:cNvPr id="43" name="Text 29"/>
          <p:cNvSpPr txBox="1"/>
          <p:nvPr/>
        </p:nvSpPr>
        <p:spPr>
          <a:xfrm>
            <a:off x="5047488" y="4407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2012</a:t>
            </a:r>
            <a:endParaRPr lang="en-US" sz="800" dirty="0"/>
          </a:p>
        </p:txBody>
      </p:sp>
      <p:sp>
        <p:nvSpPr>
          <p:cNvPr id="44" name="Text 30"/>
          <p:cNvSpPr txBox="1"/>
          <p:nvPr/>
        </p:nvSpPr>
        <p:spPr>
          <a:xfrm>
            <a:off x="786384" y="4901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최신 채택본이 2012년이다 — 14년치 계량금융이 비어 있다</a:t>
            </a:r>
            <a:endParaRPr lang="en-US" sz="1050" dirty="0"/>
          </a:p>
        </p:txBody>
      </p:sp>
      <p:sp>
        <p:nvSpPr>
          <p:cNvPr id="45" name="Text 31"/>
          <p:cNvSpPr txBox="1"/>
          <p:nvPr/>
        </p:nvSpPr>
        <p:spPr>
          <a:xfrm>
            <a:off x="786384" y="51937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사이 시장미시구조·집행비용 연구가 가장 많이 쌓인 구간이다. 훑지 않아서 없는 것이지, 없어서 없는 것이 아니다.</a:t>
            </a:r>
            <a:endParaRPr lang="en-US" sz="1000" dirty="0"/>
          </a:p>
        </p:txBody>
      </p:sp>
      <p:sp>
        <p:nvSpPr>
          <p:cNvPr id="46" name="Shape 32"/>
          <p:cNvSpPr/>
          <p:nvPr/>
        </p:nvSpPr>
        <p:spPr>
          <a:xfrm>
            <a:off x="6323076" y="1751076"/>
            <a:ext cx="5367528" cy="9326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7" name="Shape 33"/>
          <p:cNvSpPr/>
          <p:nvPr/>
        </p:nvSpPr>
        <p:spPr>
          <a:xfrm>
            <a:off x="6272784" y="1700784"/>
            <a:ext cx="5367528" cy="93268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5664" y="1837944"/>
            <a:ext cx="201168" cy="201168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766560" y="18105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고른 목록은 고른 날짜에서 멈춘다</a:t>
            </a:r>
            <a:endParaRPr lang="en-US" sz="1250" dirty="0"/>
          </a:p>
        </p:txBody>
      </p:sp>
      <p:sp>
        <p:nvSpPr>
          <p:cNvPr id="50" name="Text 35"/>
          <p:cNvSpPr txBox="1"/>
          <p:nvPr/>
        </p:nvSpPr>
        <p:spPr>
          <a:xfrm>
            <a:off x="6766560" y="20848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언제 다시 훑을지가 정해져 있지 않으면, 갱신은 사실상 일어나지 않는다.</a:t>
            </a:r>
            <a:endParaRPr lang="en-US" sz="1000" dirty="0"/>
          </a:p>
        </p:txBody>
      </p:sp>
      <p:sp>
        <p:nvSpPr>
          <p:cNvPr id="51" name="Shape 36"/>
          <p:cNvSpPr/>
          <p:nvPr/>
        </p:nvSpPr>
        <p:spPr>
          <a:xfrm>
            <a:off x="6323076" y="2784348"/>
            <a:ext cx="5367528" cy="9326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2" name="Shape 37"/>
          <p:cNvSpPr/>
          <p:nvPr/>
        </p:nvSpPr>
        <p:spPr>
          <a:xfrm>
            <a:off x="6272784" y="2734056"/>
            <a:ext cx="5367528" cy="93268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5664" y="2871216"/>
            <a:ext cx="201168" cy="201168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6766560" y="284378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78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인용은 검증이 아니다</a:t>
            </a:r>
            <a:endParaRPr lang="en-US" sz="1250" dirty="0"/>
          </a:p>
        </p:txBody>
      </p:sp>
      <p:sp>
        <p:nvSpPr>
          <p:cNvPr id="55" name="Text 39"/>
          <p:cNvSpPr txBox="1"/>
          <p:nvPr/>
        </p:nvSpPr>
        <p:spPr>
          <a:xfrm>
            <a:off x="6766560" y="31181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논문이 미국 대형주에서 보인 효과가 코스닥 소형주에서 성립하는지는 아무도 확인하지 않았다.</a:t>
            </a:r>
            <a:endParaRPr lang="en-US" sz="1000" dirty="0"/>
          </a:p>
        </p:txBody>
      </p:sp>
      <p:sp>
        <p:nvSpPr>
          <p:cNvPr id="56" name="Shape 40"/>
          <p:cNvSpPr/>
          <p:nvPr/>
        </p:nvSpPr>
        <p:spPr>
          <a:xfrm>
            <a:off x="6323076" y="3817620"/>
            <a:ext cx="5367528" cy="9326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7" name="Shape 41"/>
          <p:cNvSpPr/>
          <p:nvPr/>
        </p:nvSpPr>
        <p:spPr>
          <a:xfrm>
            <a:off x="6272784" y="3767328"/>
            <a:ext cx="5367528" cy="93268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5664" y="3904488"/>
            <a:ext cx="201168" cy="201168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6766560" y="387705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채로 계속 쓰인다</a:t>
            </a:r>
            <a:endParaRPr lang="en-US" sz="1250" dirty="0"/>
          </a:p>
        </p:txBody>
      </p:sp>
      <p:sp>
        <p:nvSpPr>
          <p:cNvPr id="60" name="Text 43"/>
          <p:cNvSpPr txBox="1"/>
          <p:nvPr/>
        </p:nvSpPr>
        <p:spPr>
          <a:xfrm>
            <a:off x="6766560" y="41513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채택본에 은퇴 개념이 없다. 뒤집힌 결과도 목록에 남아 계속 인용된다.</a:t>
            </a:r>
            <a:endParaRPr lang="en-US" sz="1000" dirty="0"/>
          </a:p>
        </p:txBody>
      </p:sp>
      <p:sp>
        <p:nvSpPr>
          <p:cNvPr id="61" name="Shape 44"/>
          <p:cNvSpPr/>
          <p:nvPr/>
        </p:nvSpPr>
        <p:spPr>
          <a:xfrm>
            <a:off x="6323076" y="4878324"/>
            <a:ext cx="5367528" cy="104241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2" name="Shape 45"/>
          <p:cNvSpPr/>
          <p:nvPr/>
        </p:nvSpPr>
        <p:spPr>
          <a:xfrm>
            <a:off x="6272784" y="4828032"/>
            <a:ext cx="5367528" cy="1042416"/>
          </a:xfrm>
          <a:prstGeom prst="rect">
            <a:avLst/>
          </a:prstGeom>
          <a:solidFill>
            <a:srgbClr val="16281C"/>
          </a:solidFill>
          <a:ln w="15875">
            <a:solidFill>
              <a:srgbClr val="2A5A3A"/>
            </a:solidFill>
            <a:prstDash val="solid"/>
          </a:ln>
        </p:spPr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5664" y="4992624"/>
            <a:ext cx="219456" cy="219456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6766560" y="49560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편수를 세지 않는다</a:t>
            </a:r>
            <a:endParaRPr lang="en-US" sz="1300" dirty="0"/>
          </a:p>
        </p:txBody>
      </p:sp>
      <p:sp>
        <p:nvSpPr>
          <p:cNvPr id="65" name="Text 47"/>
          <p:cNvSpPr txBox="1"/>
          <p:nvPr/>
        </p:nvSpPr>
        <p:spPr>
          <a:xfrm>
            <a:off x="6766560" y="524865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"몇 편 있는가"가 아니라 "몇 편이 아직 살아있는가"를 센다. 채택은 상태이지 영구 자격이 아니다.</a:t>
            </a:r>
            <a:endParaRPr lang="en-US" sz="1050" dirty="0"/>
          </a:p>
        </p:txBody>
      </p:sp>
      <p:sp>
        <p:nvSpPr>
          <p:cNvPr id="66" name="Text 48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근거: stock-monitor/.papers.json — schema ki.papers/1 · verified 2026-09-05 · adopted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PAPER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논문은 다섯 관문을 지나야 인용된다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수확은 이미 있다(fetch_papers.py). 새로 넣는 것은 세 번째 — 재현 관문이다.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2157984" cy="4754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2157984" cy="47548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HARVEST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8932" y="2299716"/>
            <a:ext cx="215798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49424"/>
            <a:ext cx="215798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23957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수확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798064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 q-fin 8분류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Semantic Scholar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OpenAlex · Crossref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" y="4041648"/>
            <a:ext cx="1865376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" y="4041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 ~400건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3218688"/>
            <a:ext cx="274320" cy="17373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875788" y="1751076"/>
            <a:ext cx="2157984" cy="4754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6" name="Shape 13"/>
          <p:cNvSpPr/>
          <p:nvPr/>
        </p:nvSpPr>
        <p:spPr>
          <a:xfrm>
            <a:off x="2825496" y="1700784"/>
            <a:ext cx="2157984" cy="47548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935224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SCREEN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875788" y="2299716"/>
            <a:ext cx="215798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9" name="Shape 16"/>
          <p:cNvSpPr/>
          <p:nvPr/>
        </p:nvSpPr>
        <p:spPr>
          <a:xfrm>
            <a:off x="2825496" y="2249424"/>
            <a:ext cx="215798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71800" y="23957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C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2971800" y="2798064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초록으로 네 질문 중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하나를 바꾸는가 판정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프리프린트 등급 표시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971800" y="4041648"/>
            <a:ext cx="1865376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971800" y="4041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 ~40건</a:t>
            </a:r>
            <a:endParaRPr lang="en-US" sz="10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3218688"/>
            <a:ext cx="274320" cy="17373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152644" y="1751076"/>
            <a:ext cx="2157984" cy="4754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6" name="Shape 22"/>
          <p:cNvSpPr/>
          <p:nvPr/>
        </p:nvSpPr>
        <p:spPr>
          <a:xfrm>
            <a:off x="5102352" y="1700784"/>
            <a:ext cx="2157984" cy="47548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5212080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REPLICATE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152644" y="2299716"/>
            <a:ext cx="215798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9" name="Shape 25"/>
          <p:cNvSpPr/>
          <p:nvPr/>
        </p:nvSpPr>
        <p:spPr>
          <a:xfrm>
            <a:off x="5102352" y="2249424"/>
            <a:ext cx="215798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248656" y="23957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</a:t>
            </a:r>
            <a:endParaRPr lang="en-US" sz="1900" dirty="0"/>
          </a:p>
        </p:txBody>
      </p:sp>
      <p:sp>
        <p:nvSpPr>
          <p:cNvPr id="31" name="Text 27"/>
          <p:cNvSpPr txBox="1"/>
          <p:nvPr/>
        </p:nvSpPr>
        <p:spPr>
          <a:xfrm>
            <a:off x="5248656" y="2798064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원장 일봉에서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팩터를 실제로 계산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방향·유의성 대조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248656" y="4041648"/>
            <a:ext cx="1865376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5248656" y="4041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 ~6건</a:t>
            </a:r>
            <a:endParaRPr lang="en-US" sz="10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3218688"/>
            <a:ext cx="274320" cy="17373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7429500" y="1751076"/>
            <a:ext cx="2157984" cy="4754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6" name="Shape 31"/>
          <p:cNvSpPr/>
          <p:nvPr/>
        </p:nvSpPr>
        <p:spPr>
          <a:xfrm>
            <a:off x="7379208" y="1700784"/>
            <a:ext cx="2157984" cy="47548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7488936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ADOPT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7429500" y="2299716"/>
            <a:ext cx="215798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9" name="Shape 34"/>
          <p:cNvSpPr/>
          <p:nvPr/>
        </p:nvSpPr>
        <p:spPr>
          <a:xfrm>
            <a:off x="7379208" y="2249424"/>
            <a:ext cx="215798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7525512" y="23957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</a:t>
            </a:r>
            <a:endParaRPr lang="en-US" sz="1900" dirty="0"/>
          </a:p>
        </p:txBody>
      </p:sp>
      <p:sp>
        <p:nvSpPr>
          <p:cNvPr id="41" name="Text 36"/>
          <p:cNvSpPr txBox="1"/>
          <p:nvPr/>
        </p:nvSpPr>
        <p:spPr>
          <a:xfrm>
            <a:off x="7525512" y="2798064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Crossref 발행정보 재대조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limits 작성 필수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최대 1편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7525512" y="4041648"/>
            <a:ext cx="1865376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7525512" y="4041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 ~2건</a:t>
            </a:r>
            <a:endParaRPr lang="en-US" sz="10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3218688"/>
            <a:ext cx="274320" cy="173736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9706356" y="1751076"/>
            <a:ext cx="2157984" cy="4754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6" name="Shape 40"/>
          <p:cNvSpPr/>
          <p:nvPr/>
        </p:nvSpPr>
        <p:spPr>
          <a:xfrm>
            <a:off x="9656064" y="1700784"/>
            <a:ext cx="2157984" cy="475488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9765792" y="17007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DECAY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9706356" y="2299716"/>
            <a:ext cx="215798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9" name="Shape 43"/>
          <p:cNvSpPr/>
          <p:nvPr/>
        </p:nvSpPr>
        <p:spPr>
          <a:xfrm>
            <a:off x="9656064" y="2249424"/>
            <a:ext cx="215798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9802368" y="239572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감가</a:t>
            </a:r>
            <a:endParaRPr lang="en-US" sz="1900" dirty="0"/>
          </a:p>
        </p:txBody>
      </p:sp>
      <p:sp>
        <p:nvSpPr>
          <p:cNvPr id="51" name="Text 45"/>
          <p:cNvSpPr txBox="1"/>
          <p:nvPr/>
        </p:nvSpPr>
        <p:spPr>
          <a:xfrm>
            <a:off x="9802368" y="2798064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반감기마다 재현 재검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실패 시 은퇴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절에 경고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9802368" y="4041648"/>
            <a:ext cx="1865376" cy="329184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9802368" y="4041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상시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598932" y="4969764"/>
            <a:ext cx="11094415" cy="93268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5" name="Shape 49"/>
          <p:cNvSpPr/>
          <p:nvPr/>
        </p:nvSpPr>
        <p:spPr>
          <a:xfrm>
            <a:off x="548640" y="4919472"/>
            <a:ext cx="11094415" cy="93268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768096" y="5029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깔때기가 좁은 것이 정상이다</a:t>
            </a:r>
            <a:endParaRPr lang="en-US" sz="1250" dirty="0"/>
          </a:p>
        </p:txBody>
      </p:sp>
      <p:sp>
        <p:nvSpPr>
          <p:cNvPr id="57" name="Text 51"/>
          <p:cNvSpPr txBox="1"/>
          <p:nvPr/>
        </p:nvSpPr>
        <p:spPr>
          <a:xfrm>
            <a:off x="768096" y="530352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400건을 훑어 2건이 남는다. 훑는 양을 늘리는 것이 목적이 아니라, 남는 2건이 코스닥에서 실제로 성립하는 것이 목적이다.</a:t>
            </a:r>
            <a:endParaRPr lang="en-US" sz="1050" dirty="0"/>
          </a:p>
        </p:txBody>
      </p:sp>
      <p:sp>
        <p:nvSpPr>
          <p:cNvPr id="58" name="Text 52"/>
          <p:cNvSpPr txBox="1"/>
          <p:nvPr/>
        </p:nvSpPr>
        <p:spPr>
          <a:xfrm>
            <a:off x="7772400" y="50474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2200" dirty="0"/>
          </a:p>
        </p:txBody>
      </p:sp>
      <p:sp>
        <p:nvSpPr>
          <p:cNvPr id="59" name="Text 53"/>
          <p:cNvSpPr txBox="1"/>
          <p:nvPr/>
        </p:nvSpPr>
        <p:spPr>
          <a:xfrm>
            <a:off x="8430768" y="51023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300" dirty="0"/>
          </a:p>
        </p:txBody>
      </p:sp>
      <p:sp>
        <p:nvSpPr>
          <p:cNvPr id="60" name="Text 54"/>
          <p:cNvSpPr txBox="1"/>
          <p:nvPr/>
        </p:nvSpPr>
        <p:spPr>
          <a:xfrm>
            <a:off x="7772400" y="54681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수확</a:t>
            </a:r>
            <a:endParaRPr lang="en-US" sz="900" dirty="0"/>
          </a:p>
        </p:txBody>
      </p:sp>
      <p:sp>
        <p:nvSpPr>
          <p:cNvPr id="61" name="Text 55"/>
          <p:cNvSpPr txBox="1"/>
          <p:nvPr/>
        </p:nvSpPr>
        <p:spPr>
          <a:xfrm>
            <a:off x="8759952" y="50474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2200" dirty="0"/>
          </a:p>
        </p:txBody>
      </p:sp>
      <p:sp>
        <p:nvSpPr>
          <p:cNvPr id="62" name="Text 56"/>
          <p:cNvSpPr txBox="1"/>
          <p:nvPr/>
        </p:nvSpPr>
        <p:spPr>
          <a:xfrm>
            <a:off x="9418320" y="51023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300" dirty="0"/>
          </a:p>
        </p:txBody>
      </p:sp>
      <p:sp>
        <p:nvSpPr>
          <p:cNvPr id="63" name="Text 57"/>
          <p:cNvSpPr txBox="1"/>
          <p:nvPr/>
        </p:nvSpPr>
        <p:spPr>
          <a:xfrm>
            <a:off x="8759952" y="54681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심사</a:t>
            </a:r>
            <a:endParaRPr lang="en-US" sz="900" dirty="0"/>
          </a:p>
        </p:txBody>
      </p:sp>
      <p:sp>
        <p:nvSpPr>
          <p:cNvPr id="64" name="Text 58"/>
          <p:cNvSpPr txBox="1"/>
          <p:nvPr/>
        </p:nvSpPr>
        <p:spPr>
          <a:xfrm>
            <a:off x="9747504" y="50474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65" name="Text 59"/>
          <p:cNvSpPr txBox="1"/>
          <p:nvPr/>
        </p:nvSpPr>
        <p:spPr>
          <a:xfrm>
            <a:off x="10405872" y="51023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300" dirty="0"/>
          </a:p>
        </p:txBody>
      </p:sp>
      <p:sp>
        <p:nvSpPr>
          <p:cNvPr id="66" name="Text 60"/>
          <p:cNvSpPr txBox="1"/>
          <p:nvPr/>
        </p:nvSpPr>
        <p:spPr>
          <a:xfrm>
            <a:off x="9747504" y="54681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10735056" y="50474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68" name="Text 62"/>
          <p:cNvSpPr txBox="1"/>
          <p:nvPr/>
        </p:nvSpPr>
        <p:spPr>
          <a:xfrm>
            <a:off x="10735056" y="54681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채택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수확 4곳은 이미 구현돼 있다 (docs/fetch_papers.py --harvest/--adopt/--verify) · 03 재현과 05 감가가 신설분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★ REPLICATION GATE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관문 — 인용하기 전에 우리 데이터로 계산해 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데스크가 다루는 것은 코스닥 소형주다. 논문 표본이 미국 대형주라면, 그 결론은 가설이지 근거가 아니다.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32788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82496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828800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755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논문에서 검정 가능한 주장 하나를 뽑는다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0116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"거래량이 낮을수록 이후 수익률이 높다" 처럼 방향이 있는 한 문장으로 환원한다. 환원되지 않으면 재현 대상이 아니다.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8932" y="2519172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468880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15184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5420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원장에서 그 팩터를 계산한다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27980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ki.sqlite 일봉으로 팩터를 만든다. 새 데이터를 받지 않는다 — 이미 KRX 공식 API 로 받아 둔 것만 쓴다.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" y="3305556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55264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401568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33284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 전종목에 적용해 방향을 본다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35844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 포트폴리오 스프레드의 부호가 논문과 같은가. 표본이 부족하면 계산을 거부한다(기존 원칙 그대로).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8932" y="4091940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041648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187952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6656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114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중 하나로 판정한다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43708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재현됨 / 방향 반대 / 판정 불가. 재현되지 않아도 지우지 않고 결과를 남긴다.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" y="4878324"/>
            <a:ext cx="5943600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828032"/>
            <a:ext cx="5943600" cy="6949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4974336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6656" y="4974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49011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재현된 것만 채택본으로 넘긴다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207008" y="515721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결과와 표본 구간이 논문 항목에 함께 저장돼, 리포트에 인용될 때 같이 따라 나간다.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3428" y="1732788"/>
            <a:ext cx="4837176" cy="39319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6" name="Shape 34"/>
          <p:cNvSpPr/>
          <p:nvPr/>
        </p:nvSpPr>
        <p:spPr>
          <a:xfrm>
            <a:off x="6803136" y="1682496"/>
            <a:ext cx="4837176" cy="39319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86016" y="18105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판정 예시  ·  win=60 · KOSDAQ 전종목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86016" y="2139696"/>
            <a:ext cx="4480560" cy="40233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095744" y="21396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amihud2002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21396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비유동성 ↑ → 수익 ↑</a:t>
            </a:r>
            <a:endParaRPr lang="en-US" sz="95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2267712"/>
            <a:ext cx="155448" cy="155448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0497312" y="21396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재현됨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986016" y="2615184"/>
            <a:ext cx="4480560" cy="402336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095744" y="26151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dnr1998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8412480" y="26151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회전율 ↓ → 수익 ↑</a:t>
            </a:r>
            <a:endParaRPr lang="en-US" sz="950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2743200"/>
            <a:ext cx="155448" cy="155448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10497312" y="261518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재현됨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6986016" y="3090672"/>
            <a:ext cx="4480560" cy="40233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7095744" y="30906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jt1993</a:t>
            </a:r>
            <a:endParaRPr lang="en-US" sz="950" dirty="0"/>
          </a:p>
        </p:txBody>
      </p:sp>
      <p:sp>
        <p:nvSpPr>
          <p:cNvPr id="50" name="Text 46"/>
          <p:cNvSpPr txBox="1"/>
          <p:nvPr/>
        </p:nvSpPr>
        <p:spPr>
          <a:xfrm>
            <a:off x="8412480" y="30906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모멘텀 지속</a:t>
            </a:r>
            <a:endParaRPr lang="en-US" sz="950" dirty="0"/>
          </a:p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56" y="3218688"/>
            <a:ext cx="155448" cy="155448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10497312" y="30906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방향 반대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6986016" y="3566160"/>
            <a:ext cx="4480560" cy="402336"/>
          </a:xfrm>
          <a:prstGeom prst="rect">
            <a:avLst/>
          </a:prstGeom>
          <a:solidFill>
            <a:srgbClr val="111726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7095744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ahxz2006</a:t>
            </a:r>
            <a:endParaRPr lang="en-US" sz="950" dirty="0"/>
          </a:p>
        </p:txBody>
      </p:sp>
      <p:sp>
        <p:nvSpPr>
          <p:cNvPr id="55" name="Text 50"/>
          <p:cNvSpPr txBox="1"/>
          <p:nvPr/>
        </p:nvSpPr>
        <p:spPr>
          <a:xfrm>
            <a:off x="8412480" y="35661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특이변동성 ↑ → 수익 ↓</a:t>
            </a:r>
            <a:endParaRPr lang="en-US" sz="950" dirty="0"/>
          </a:p>
        </p:txBody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56" y="3694176"/>
            <a:ext cx="155448" cy="155448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10497312" y="3566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판정 불가</a:t>
            </a:r>
            <a:endParaRPr lang="en-US" sz="950" dirty="0"/>
          </a:p>
        </p:txBody>
      </p:sp>
      <p:sp>
        <p:nvSpPr>
          <p:cNvPr id="58" name="Shape 52"/>
          <p:cNvSpPr/>
          <p:nvPr/>
        </p:nvSpPr>
        <p:spPr>
          <a:xfrm>
            <a:off x="6986016" y="4041648"/>
            <a:ext cx="4480560" cy="402336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7095744" y="40416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roll1984</a:t>
            </a:r>
            <a:endParaRPr lang="en-US" sz="950" dirty="0"/>
          </a:p>
        </p:txBody>
      </p:sp>
      <p:sp>
        <p:nvSpPr>
          <p:cNvPr id="60" name="Text 54"/>
          <p:cNvSpPr txBox="1"/>
          <p:nvPr/>
        </p:nvSpPr>
        <p:spPr>
          <a:xfrm>
            <a:off x="8412480" y="4041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스프레드 추정</a:t>
            </a:r>
            <a:endParaRPr lang="en-US" sz="950" dirty="0"/>
          </a:p>
        </p:txBody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4169664"/>
            <a:ext cx="155448" cy="155448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10497312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재현됨</a:t>
            </a:r>
            <a:endParaRPr lang="en-US" sz="950" dirty="0"/>
          </a:p>
        </p:txBody>
      </p:sp>
      <p:sp>
        <p:nvSpPr>
          <p:cNvPr id="63" name="Text 56"/>
          <p:cNvSpPr txBox="1"/>
          <p:nvPr/>
        </p:nvSpPr>
        <p:spPr>
          <a:xfrm>
            <a:off x="6986016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jt1993 모멘텀은 코스닥에서 방향이 뒤집힌다 — 널리 알려진 사실이다.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인용은 하되 "우리 표본에서는 반대"가 값에 붙어 나간다.</a:t>
            </a:r>
            <a:endParaRPr lang="en-US" sz="950" dirty="0"/>
          </a:p>
        </p:txBody>
      </p:sp>
      <p:sp>
        <p:nvSpPr>
          <p:cNvPr id="64" name="Text 57"/>
          <p:cNvSpPr txBox="1"/>
          <p:nvPr/>
        </p:nvSpPr>
        <p:spPr>
          <a:xfrm>
            <a:off x="6986016" y="5193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매번 표본 구간과 함께 기록된다. 같은 논문이라도 구간이 바뀌면 판정이 바뀔 수 있고, 그 변화 자체가 신호다.</a:t>
            </a:r>
            <a:endParaRPr lang="en-US" sz="950" dirty="0"/>
          </a:p>
        </p:txBody>
      </p:sp>
      <p:sp>
        <p:nvSpPr>
          <p:cNvPr id="65" name="Shape 58"/>
          <p:cNvSpPr/>
          <p:nvPr/>
        </p:nvSpPr>
        <p:spPr>
          <a:xfrm>
            <a:off x="598932" y="5701284"/>
            <a:ext cx="11094415" cy="603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6" name="Shape 59"/>
          <p:cNvSpPr/>
          <p:nvPr/>
        </p:nvSpPr>
        <p:spPr>
          <a:xfrm>
            <a:off x="548640" y="5650992"/>
            <a:ext cx="11094415" cy="603504"/>
          </a:xfrm>
          <a:prstGeom prst="rect">
            <a:avLst/>
          </a:prstGeom>
          <a:solidFill>
            <a:srgbClr val="2A1520"/>
          </a:solidFill>
          <a:ln w="15875">
            <a:solidFill>
              <a:srgbClr val="5C2A3A"/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786384" y="5650992"/>
            <a:ext cx="106189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실패는 실패가 아니다.  </a:t>
            </a:r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논문은 코스닥에서 성립하지 않는다"는 것도 측정 결과다. 지우지 않고 남겨 두면, 다음 사람이 같은 논문을 다시 주워 오는 일을 막는다.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DECAY &amp; RETIRE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채택은 상태이지 영구 자격이 아니다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채택본에도 반감기를 둔다. 반감기가 지나면 재현을 다시 돌리고, 결과에 따라 유지·경고·은퇴로 나뉜다.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32788"/>
            <a:ext cx="5029200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82496"/>
            <a:ext cx="5029200" cy="76809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847088"/>
            <a:ext cx="146304" cy="43891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17922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반감기 180일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06654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후 180영업일이 지나면 재현 재검 대상이 된다. 하루 1편씩 오래된 순으로 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" y="2592324"/>
            <a:ext cx="5029200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542032"/>
            <a:ext cx="5029200" cy="76809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2706624"/>
            <a:ext cx="146304" cy="43891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7552" y="26517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실패 → 경고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292608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재현이 깨지면 은퇴시키지 않고 '경고'로 표시한다. 그 팩터를 쓰는 리포트 절 하단에 그대로 찍힌다.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" y="3451860"/>
            <a:ext cx="5029200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401568"/>
            <a:ext cx="5029200" cy="76809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3566160"/>
            <a:ext cx="146304" cy="43891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2회 실패 → 은퇴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37856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반감기에도 깨지면 은퇴한다. 인용이 끊기고, 그 팩터를 쓰던 계산은 '방법론 없음'으로 빠진다.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" y="4311396"/>
            <a:ext cx="5029200" cy="76809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61104"/>
            <a:ext cx="5029200" cy="76809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" y="4425696"/>
            <a:ext cx="146304" cy="438912"/>
          </a:xfrm>
          <a:prstGeom prst="rect">
            <a:avLst/>
          </a:prstGeom>
          <a:solidFill>
            <a:srgbClr val="5E6B8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7552" y="4370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은퇴본은 지우지 않는다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464515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retired 상태로 원장에 남는다. 같은 논문이 다시 수확되면 '이미 은퇴함'으로 걸러진다.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02452" y="1732788"/>
            <a:ext cx="5788152" cy="34381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6" name="Shape 24"/>
          <p:cNvSpPr/>
          <p:nvPr/>
        </p:nvSpPr>
        <p:spPr>
          <a:xfrm>
            <a:off x="5852160" y="1682496"/>
            <a:ext cx="5788152" cy="343814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71616" y="18105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살아있는 채택본 — 12개월 시뮬레이션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071616" y="20665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2편 채택 · 반감기 180일 · 재현 실패율 18% 가정</a:t>
            </a:r>
            <a:endParaRPr lang="en-US" sz="9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053328" y="2340864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5902452" y="5317236"/>
            <a:ext cx="5788152" cy="9692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1" name="Shape 28"/>
          <p:cNvSpPr/>
          <p:nvPr/>
        </p:nvSpPr>
        <p:spPr>
          <a:xfrm>
            <a:off x="5852160" y="5266944"/>
            <a:ext cx="5788152" cy="96926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71616" y="5266944"/>
            <a:ext cx="5349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12편에서 시작해 1년 뒤 63편 — 다만 그 63편은 전부 최근 재현 검사를 통과한 것들이다. 편수가 아니라 통과 여부가 자격이다.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시뮬레이션 가정값이며 실측이 아니다. 실제 채택률은 Phase 2 병행 운영에서 측정한다.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PAPER LEDGER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원장 — 채택도 은퇴도 이력으로 남는다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.papers.json 을 목록에서 append-only 원장으로 바꾼다. 상태가 바뀐 이유가 항상 남아 있어야 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6400800" cy="39502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6400800" cy="3950208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28800"/>
            <a:ext cx="59893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"schema": "ki.papers/2",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"papers": 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"amihud2002": {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"title":   "Illiquidity and stock returns",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"doi":     "10.1016/S1386-4181(01)00024-6",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"grade":   "저널 게재",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"question": "q2",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"state":   "adopted",        // adopted | warned | retired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"adopted_at":  "2026-02-11",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"half_life_d": 180,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"recheck_due": "2026-11-05",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"replication": [             // append-only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"at": "2026-02-11", "verdict": "재현됨",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"universe": "KOSDAQ", "n": 1418,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"window":   "2023-01-02..2026-02-07",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"claim":    "비유동성 상위분위 초과수익 &gt; 0",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"observed": { "spread_bp": 41, "t": 2.31 } }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"limits": [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"표본은 미국 상장주 — 코스닥 외삽 근거 아님",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"거래정지 구간 제외 · 생존편의 보정 안 함"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237476" y="1751076"/>
            <a:ext cx="4453128" cy="89611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7187184" y="1700784"/>
            <a:ext cx="4453128" cy="89611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70064" y="1874520"/>
            <a:ext cx="12801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07808" y="1801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가 자격이다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70064" y="2066544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adopted 만 인용할 수 있다. warned 는 인용은 되지만 경고가 함께 나가고, retired 는 인용 자체가 막힌다.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237476" y="2756916"/>
            <a:ext cx="4453128" cy="89611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4" name="Shape 12"/>
          <p:cNvSpPr/>
          <p:nvPr/>
        </p:nvSpPr>
        <p:spPr>
          <a:xfrm>
            <a:off x="7187184" y="2706624"/>
            <a:ext cx="4453128" cy="89611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2880360"/>
            <a:ext cx="128016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07808" y="2807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replication 은 배열이다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70064" y="3072384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덮어쓰지 않고 쌓는다. 언제 재현했고 그때 무엇을 봤는지가 전부 남아, 판정이 바뀐 이유를 되짚을 수 있다.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37476" y="3762756"/>
            <a:ext cx="4453128" cy="89611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9" name="Shape 17"/>
          <p:cNvSpPr/>
          <p:nvPr/>
        </p:nvSpPr>
        <p:spPr>
          <a:xfrm>
            <a:off x="7187184" y="3712464"/>
            <a:ext cx="4453128" cy="89611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0064" y="3886200"/>
            <a:ext cx="12801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07808" y="3813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observed 는 측정값이다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70064" y="4078224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논문이 뭐라 했는지가 아니라 우리 원장에서 무엇이 나왔는지다. 이 값이 없으면 채택되지 않는다.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37476" y="4768596"/>
            <a:ext cx="4453128" cy="89611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7187184" y="4718304"/>
            <a:ext cx="4453128" cy="896112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70064" y="4892040"/>
            <a:ext cx="128016" cy="128016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07808" y="4818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limits 는 여전히 필수다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70064" y="5084064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논문이 주장하지 않는 것을 함께 낸다. 비어 있으면 게이트가 막는다 — 기존 규칙 그대로.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selftest 확장: 모든 팩터가 state=adopted 인 논문을 인용하는가 · replication 이 비어 있는 채택본이 없는가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DYNAMIC AGENTS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상설은 셋뿐이다. 나머지는 불릴 때만 온다.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조직도를 고정하지 않는다. 매일 여덟 데스크를 전부 돌리는 대신, 그날 실제로 무언가 일어난 곳에만 에이전트를 띄운다.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14500"/>
            <a:ext cx="4023360" cy="39319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64208"/>
            <a:ext cx="4023360" cy="3931920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10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STANDING  ·  상설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0665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떠 있다. 하루의 리듬을 만든다.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2395728"/>
            <a:ext cx="3621024" cy="93268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60320"/>
            <a:ext cx="603504" cy="60350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91056" y="25237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data-ops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591056" y="27614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적재 · 품질 감시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591056" y="29992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원장 쓰기 단독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9808" y="3438144"/>
            <a:ext cx="3621024" cy="93268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602736"/>
            <a:ext cx="603504" cy="60350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591056" y="3566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compliance-officer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591056" y="38039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판정 · 발행 승인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591056" y="40416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8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거부권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49808" y="4480560"/>
            <a:ext cx="3621024" cy="932688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645152"/>
            <a:ext cx="603504" cy="60350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91056" y="46085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ic-chair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1591056" y="48463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 수집 · 쟁점 정렬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591056" y="50840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조립만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914900" y="1714500"/>
            <a:ext cx="6775704" cy="39319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5" name="Shape 20"/>
          <p:cNvSpPr/>
          <p:nvPr/>
        </p:nvSpPr>
        <p:spPr>
          <a:xfrm>
            <a:off x="4864608" y="1664208"/>
            <a:ext cx="6775704" cy="3931920"/>
          </a:xfrm>
          <a:prstGeom prst="rect">
            <a:avLst/>
          </a:prstGeom>
          <a:solidFill>
            <a:srgbClr val="171E30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084064" y="1810512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SPAWNED  ·  이벤트 소집 N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5084064" y="2066544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트리거가 뜰 때만 인스턴스가 생기고, 봉투를 내면 사라진다. 상태를 들고 있지 않으므로 같은 입력이면 같은 결과가 나온다.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084064" y="2395728"/>
            <a:ext cx="1993392" cy="1097280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523744"/>
            <a:ext cx="493776" cy="49377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779008" y="25786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212080" y="30723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equity-analyst</a:t>
            </a:r>
            <a:endParaRPr lang="en-US" sz="880" dirty="0"/>
          </a:p>
        </p:txBody>
      </p:sp>
      <p:sp>
        <p:nvSpPr>
          <p:cNvPr id="32" name="Text 26"/>
          <p:cNvSpPr txBox="1"/>
          <p:nvPr/>
        </p:nvSpPr>
        <p:spPr>
          <a:xfrm>
            <a:off x="5212080" y="325526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1건 = 인스턴스 1개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7205472" y="2395728"/>
            <a:ext cx="1993392" cy="1097280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2523744"/>
            <a:ext cx="493776" cy="49377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900416" y="25786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7333488" y="30723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quant-researcher</a:t>
            </a:r>
            <a:endParaRPr lang="en-US" sz="880" dirty="0"/>
          </a:p>
        </p:txBody>
      </p:sp>
      <p:sp>
        <p:nvSpPr>
          <p:cNvPr id="37" name="Text 30"/>
          <p:cNvSpPr txBox="1"/>
          <p:nvPr/>
        </p:nvSpPr>
        <p:spPr>
          <a:xfrm>
            <a:off x="7333488" y="325526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대상 논문 1편 = 1개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9326880" y="2395728"/>
            <a:ext cx="1993392" cy="1097280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896" y="2523744"/>
            <a:ext cx="493776" cy="493776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0021824" y="25786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9454896" y="30723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macro-strategist</a:t>
            </a:r>
            <a:endParaRPr lang="en-US" sz="880" dirty="0"/>
          </a:p>
        </p:txBody>
      </p:sp>
      <p:sp>
        <p:nvSpPr>
          <p:cNvPr id="42" name="Text 34"/>
          <p:cNvSpPr txBox="1"/>
          <p:nvPr/>
        </p:nvSpPr>
        <p:spPr>
          <a:xfrm>
            <a:off x="9454896" y="325526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일정·지표 갱신 시 1개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5084064" y="3602736"/>
            <a:ext cx="1993392" cy="1097280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3730752"/>
            <a:ext cx="493776" cy="493776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5779008" y="37856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5212080" y="4279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execution-trader</a:t>
            </a:r>
            <a:endParaRPr lang="en-US" sz="880" dirty="0"/>
          </a:p>
        </p:txBody>
      </p:sp>
      <p:sp>
        <p:nvSpPr>
          <p:cNvPr id="47" name="Text 38"/>
          <p:cNvSpPr txBox="1"/>
          <p:nvPr/>
        </p:nvSpPr>
        <p:spPr>
          <a:xfrm>
            <a:off x="5212080" y="44622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회수계획 변동 종목당 1개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7205472" y="3602736"/>
            <a:ext cx="1993392" cy="1097280"/>
          </a:xfrm>
          <a:prstGeom prst="rect">
            <a:avLst/>
          </a:prstGeom>
          <a:solidFill>
            <a:srgbClr val="1F274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3488" y="3730752"/>
            <a:ext cx="493776" cy="493776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7900416" y="37856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×N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7333488" y="4279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risk-officer</a:t>
            </a:r>
            <a:endParaRPr lang="en-US" sz="880" dirty="0"/>
          </a:p>
        </p:txBody>
      </p:sp>
      <p:sp>
        <p:nvSpPr>
          <p:cNvPr id="52" name="Text 42"/>
          <p:cNvSpPr txBox="1"/>
          <p:nvPr/>
        </p:nvSpPr>
        <p:spPr>
          <a:xfrm>
            <a:off x="7333488" y="44622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 묶음당 1개 (검산)</a:t>
            </a:r>
            <a:endParaRPr lang="en-US" sz="850" dirty="0"/>
          </a:p>
        </p:txBody>
      </p:sp>
      <p:sp>
        <p:nvSpPr>
          <p:cNvPr id="53" name="Shape 43"/>
          <p:cNvSpPr/>
          <p:nvPr/>
        </p:nvSpPr>
        <p:spPr>
          <a:xfrm>
            <a:off x="598932" y="5792724"/>
            <a:ext cx="11094415" cy="5486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4" name="Shape 44"/>
          <p:cNvSpPr/>
          <p:nvPr/>
        </p:nvSpPr>
        <p:spPr>
          <a:xfrm>
            <a:off x="548640" y="5742432"/>
            <a:ext cx="11094415" cy="54864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786384" y="5742432"/>
            <a:ext cx="10618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소집인가 —  </a:t>
            </a:r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85종목 × 4데스크를 매일 돌리면 340회다. 그런데 어제와 달라진 것이 없는 종목을 다시 읽는 것은 같은 답을 다시 사는 일이다. 변동이 있는 곳에만 예산을 쓴다.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소집 → 작업 → 봉투 → 소멸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세션을 갖지 않는다. 기억을 들고 있지 않으므로, 어제의 오해가 오늘로 넘어오지 않는다.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2615184" cy="32004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2615184" cy="32004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1901952"/>
            <a:ext cx="731520" cy="731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" y="276148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301752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소집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474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트리거가 입력을 확정해서 넘긴다.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 · 공시 접수번호 · 기준일.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밖의 것은 볼 수 없다.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33933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2" name="Shape 9"/>
          <p:cNvSpPr/>
          <p:nvPr/>
        </p:nvSpPr>
        <p:spPr>
          <a:xfrm>
            <a:off x="937260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3" name="Shape 10"/>
          <p:cNvSpPr/>
          <p:nvPr/>
        </p:nvSpPr>
        <p:spPr>
          <a:xfrm>
            <a:off x="1040587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4" name="Shape 11"/>
          <p:cNvSpPr/>
          <p:nvPr/>
        </p:nvSpPr>
        <p:spPr>
          <a:xfrm>
            <a:off x="1143914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5" name="Shape 12"/>
          <p:cNvSpPr/>
          <p:nvPr/>
        </p:nvSpPr>
        <p:spPr>
          <a:xfrm>
            <a:off x="1247242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6" name="Shape 13"/>
          <p:cNvSpPr/>
          <p:nvPr/>
        </p:nvSpPr>
        <p:spPr>
          <a:xfrm>
            <a:off x="1350569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7" name="Shape 14"/>
          <p:cNvSpPr/>
          <p:nvPr/>
        </p:nvSpPr>
        <p:spPr>
          <a:xfrm>
            <a:off x="1453896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8" name="Shape 15"/>
          <p:cNvSpPr/>
          <p:nvPr/>
        </p:nvSpPr>
        <p:spPr>
          <a:xfrm>
            <a:off x="1557223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9" name="Shape 16"/>
          <p:cNvSpPr/>
          <p:nvPr/>
        </p:nvSpPr>
        <p:spPr>
          <a:xfrm>
            <a:off x="1660550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0" name="Shape 17"/>
          <p:cNvSpPr/>
          <p:nvPr/>
        </p:nvSpPr>
        <p:spPr>
          <a:xfrm>
            <a:off x="1763878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1" name="Shape 18"/>
          <p:cNvSpPr/>
          <p:nvPr/>
        </p:nvSpPr>
        <p:spPr>
          <a:xfrm>
            <a:off x="1867205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2" name="Shape 19"/>
          <p:cNvSpPr/>
          <p:nvPr/>
        </p:nvSpPr>
        <p:spPr>
          <a:xfrm>
            <a:off x="1970532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3" name="Shape 20"/>
          <p:cNvSpPr/>
          <p:nvPr/>
        </p:nvSpPr>
        <p:spPr>
          <a:xfrm>
            <a:off x="2073859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4" name="Shape 21"/>
          <p:cNvSpPr/>
          <p:nvPr/>
        </p:nvSpPr>
        <p:spPr>
          <a:xfrm>
            <a:off x="2177186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5" name="Shape 22"/>
          <p:cNvSpPr/>
          <p:nvPr/>
        </p:nvSpPr>
        <p:spPr>
          <a:xfrm>
            <a:off x="2280514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6" name="Shape 23"/>
          <p:cNvSpPr/>
          <p:nvPr/>
        </p:nvSpPr>
        <p:spPr>
          <a:xfrm>
            <a:off x="2383841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7" name="Shape 24"/>
          <p:cNvSpPr/>
          <p:nvPr/>
        </p:nvSpPr>
        <p:spPr>
          <a:xfrm>
            <a:off x="2487168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8" name="Shape 25"/>
          <p:cNvSpPr/>
          <p:nvPr/>
        </p:nvSpPr>
        <p:spPr>
          <a:xfrm>
            <a:off x="2590495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29" name="Shape 26"/>
          <p:cNvSpPr/>
          <p:nvPr/>
        </p:nvSpPr>
        <p:spPr>
          <a:xfrm>
            <a:off x="2693822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30" name="Shape 27"/>
          <p:cNvSpPr/>
          <p:nvPr/>
        </p:nvSpPr>
        <p:spPr>
          <a:xfrm>
            <a:off x="2797150" y="4590288"/>
            <a:ext cx="81382" cy="109728"/>
          </a:xfrm>
          <a:prstGeom prst="rect">
            <a:avLst/>
          </a:prstGeom>
          <a:solidFill>
            <a:srgbClr val="35D6ED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139696"/>
            <a:ext cx="274320" cy="173736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451860" y="1769364"/>
            <a:ext cx="2615184" cy="32004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3" name="Shape 29"/>
          <p:cNvSpPr/>
          <p:nvPr/>
        </p:nvSpPr>
        <p:spPr>
          <a:xfrm>
            <a:off x="3401568" y="1719072"/>
            <a:ext cx="2615184" cy="32004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343400" y="1901952"/>
            <a:ext cx="731520" cy="73152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547872" y="276148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endParaRPr lang="en-US" sz="1050" dirty="0"/>
          </a:p>
        </p:txBody>
      </p:sp>
      <p:sp>
        <p:nvSpPr>
          <p:cNvPr id="36" name="Text 31"/>
          <p:cNvSpPr txBox="1"/>
          <p:nvPr/>
        </p:nvSpPr>
        <p:spPr>
          <a:xfrm>
            <a:off x="3547872" y="301752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3566160" y="3474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허용된 MCP 읽기 도구만 부른다.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예산(토큰·호출수)이 정해져 있고,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넘으면 그대로 중단된다.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686861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9" name="Shape 34"/>
          <p:cNvSpPr/>
          <p:nvPr/>
        </p:nvSpPr>
        <p:spPr>
          <a:xfrm>
            <a:off x="3790188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0" name="Shape 35"/>
          <p:cNvSpPr/>
          <p:nvPr/>
        </p:nvSpPr>
        <p:spPr>
          <a:xfrm>
            <a:off x="3893515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1" name="Shape 36"/>
          <p:cNvSpPr/>
          <p:nvPr/>
        </p:nvSpPr>
        <p:spPr>
          <a:xfrm>
            <a:off x="3996842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2" name="Shape 37"/>
          <p:cNvSpPr/>
          <p:nvPr/>
        </p:nvSpPr>
        <p:spPr>
          <a:xfrm>
            <a:off x="4100170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3" name="Shape 38"/>
          <p:cNvSpPr/>
          <p:nvPr/>
        </p:nvSpPr>
        <p:spPr>
          <a:xfrm>
            <a:off x="4203497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4" name="Shape 39"/>
          <p:cNvSpPr/>
          <p:nvPr/>
        </p:nvSpPr>
        <p:spPr>
          <a:xfrm>
            <a:off x="4306824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5" name="Shape 40"/>
          <p:cNvSpPr/>
          <p:nvPr/>
        </p:nvSpPr>
        <p:spPr>
          <a:xfrm>
            <a:off x="4410151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6" name="Shape 41"/>
          <p:cNvSpPr/>
          <p:nvPr/>
        </p:nvSpPr>
        <p:spPr>
          <a:xfrm>
            <a:off x="4513478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7" name="Shape 42"/>
          <p:cNvSpPr/>
          <p:nvPr/>
        </p:nvSpPr>
        <p:spPr>
          <a:xfrm>
            <a:off x="4616806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8" name="Shape 43"/>
          <p:cNvSpPr/>
          <p:nvPr/>
        </p:nvSpPr>
        <p:spPr>
          <a:xfrm>
            <a:off x="4720133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9" name="Shape 44"/>
          <p:cNvSpPr/>
          <p:nvPr/>
        </p:nvSpPr>
        <p:spPr>
          <a:xfrm>
            <a:off x="4823460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0" name="Shape 45"/>
          <p:cNvSpPr/>
          <p:nvPr/>
        </p:nvSpPr>
        <p:spPr>
          <a:xfrm>
            <a:off x="4926787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1" name="Shape 46"/>
          <p:cNvSpPr/>
          <p:nvPr/>
        </p:nvSpPr>
        <p:spPr>
          <a:xfrm>
            <a:off x="5030114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2" name="Shape 47"/>
          <p:cNvSpPr/>
          <p:nvPr/>
        </p:nvSpPr>
        <p:spPr>
          <a:xfrm>
            <a:off x="5133442" y="4590288"/>
            <a:ext cx="81382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3" name="Shape 48"/>
          <p:cNvSpPr/>
          <p:nvPr/>
        </p:nvSpPr>
        <p:spPr>
          <a:xfrm>
            <a:off x="5236769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4" name="Shape 49"/>
          <p:cNvSpPr/>
          <p:nvPr/>
        </p:nvSpPr>
        <p:spPr>
          <a:xfrm>
            <a:off x="5340096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5" name="Shape 50"/>
          <p:cNvSpPr/>
          <p:nvPr/>
        </p:nvSpPr>
        <p:spPr>
          <a:xfrm>
            <a:off x="5443423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6" name="Shape 51"/>
          <p:cNvSpPr/>
          <p:nvPr/>
        </p:nvSpPr>
        <p:spPr>
          <a:xfrm>
            <a:off x="5546750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7" name="Shape 52"/>
          <p:cNvSpPr/>
          <p:nvPr/>
        </p:nvSpPr>
        <p:spPr>
          <a:xfrm>
            <a:off x="5650078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139696"/>
            <a:ext cx="274320" cy="173736"/>
          </a:xfrm>
          <a:prstGeom prst="rect">
            <a:avLst/>
          </a:prstGeom>
        </p:spPr>
      </p:pic>
      <p:sp>
        <p:nvSpPr>
          <p:cNvPr id="59" name="Shape 53"/>
          <p:cNvSpPr/>
          <p:nvPr/>
        </p:nvSpPr>
        <p:spPr>
          <a:xfrm>
            <a:off x="6304788" y="1769364"/>
            <a:ext cx="2615184" cy="32004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0" name="Shape 54"/>
          <p:cNvSpPr/>
          <p:nvPr/>
        </p:nvSpPr>
        <p:spPr>
          <a:xfrm>
            <a:off x="6254496" y="1719072"/>
            <a:ext cx="2615184" cy="32004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196328" y="1901952"/>
            <a:ext cx="731520" cy="731520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6400800" y="276148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ENVELOPE</a:t>
            </a:r>
            <a:endParaRPr lang="en-US" sz="1050" dirty="0"/>
          </a:p>
        </p:txBody>
      </p:sp>
      <p:sp>
        <p:nvSpPr>
          <p:cNvPr id="63" name="Text 56"/>
          <p:cNvSpPr txBox="1"/>
          <p:nvPr/>
        </p:nvSpPr>
        <p:spPr>
          <a:xfrm>
            <a:off x="6400800" y="301752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</a:t>
            </a:r>
            <a:endParaRPr lang="en-US" sz="1800" dirty="0"/>
          </a:p>
        </p:txBody>
      </p:sp>
      <p:sp>
        <p:nvSpPr>
          <p:cNvPr id="64" name="Text 57"/>
          <p:cNvSpPr txBox="1"/>
          <p:nvPr/>
        </p:nvSpPr>
        <p:spPr>
          <a:xfrm>
            <a:off x="6419088" y="3474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 + 등급 + 가정 + 한계.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스키마를 못 맞추면 산출이 아니라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실패로 기록된다.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6539789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6" name="Shape 59"/>
          <p:cNvSpPr/>
          <p:nvPr/>
        </p:nvSpPr>
        <p:spPr>
          <a:xfrm>
            <a:off x="6643116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7" name="Shape 60"/>
          <p:cNvSpPr/>
          <p:nvPr/>
        </p:nvSpPr>
        <p:spPr>
          <a:xfrm>
            <a:off x="6746443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8" name="Shape 61"/>
          <p:cNvSpPr/>
          <p:nvPr/>
        </p:nvSpPr>
        <p:spPr>
          <a:xfrm>
            <a:off x="6849770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9" name="Shape 62"/>
          <p:cNvSpPr/>
          <p:nvPr/>
        </p:nvSpPr>
        <p:spPr>
          <a:xfrm>
            <a:off x="6953098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0" name="Shape 63"/>
          <p:cNvSpPr/>
          <p:nvPr/>
        </p:nvSpPr>
        <p:spPr>
          <a:xfrm>
            <a:off x="7056425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1" name="Shape 64"/>
          <p:cNvSpPr/>
          <p:nvPr/>
        </p:nvSpPr>
        <p:spPr>
          <a:xfrm>
            <a:off x="7159752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2" name="Shape 65"/>
          <p:cNvSpPr/>
          <p:nvPr/>
        </p:nvSpPr>
        <p:spPr>
          <a:xfrm>
            <a:off x="7263079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3" name="Shape 66"/>
          <p:cNvSpPr/>
          <p:nvPr/>
        </p:nvSpPr>
        <p:spPr>
          <a:xfrm>
            <a:off x="7366406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4" name="Shape 67"/>
          <p:cNvSpPr/>
          <p:nvPr/>
        </p:nvSpPr>
        <p:spPr>
          <a:xfrm>
            <a:off x="7469734" y="4590288"/>
            <a:ext cx="81382" cy="1097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5" name="Shape 68"/>
          <p:cNvSpPr/>
          <p:nvPr/>
        </p:nvSpPr>
        <p:spPr>
          <a:xfrm>
            <a:off x="7573061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76" name="Shape 69"/>
          <p:cNvSpPr/>
          <p:nvPr/>
        </p:nvSpPr>
        <p:spPr>
          <a:xfrm>
            <a:off x="7676388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77" name="Shape 70"/>
          <p:cNvSpPr/>
          <p:nvPr/>
        </p:nvSpPr>
        <p:spPr>
          <a:xfrm>
            <a:off x="7779715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78" name="Shape 71"/>
          <p:cNvSpPr/>
          <p:nvPr/>
        </p:nvSpPr>
        <p:spPr>
          <a:xfrm>
            <a:off x="7883042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79" name="Shape 72"/>
          <p:cNvSpPr/>
          <p:nvPr/>
        </p:nvSpPr>
        <p:spPr>
          <a:xfrm>
            <a:off x="7986370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80" name="Shape 73"/>
          <p:cNvSpPr/>
          <p:nvPr/>
        </p:nvSpPr>
        <p:spPr>
          <a:xfrm>
            <a:off x="8089697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81" name="Shape 74"/>
          <p:cNvSpPr/>
          <p:nvPr/>
        </p:nvSpPr>
        <p:spPr>
          <a:xfrm>
            <a:off x="8193024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82" name="Shape 75"/>
          <p:cNvSpPr/>
          <p:nvPr/>
        </p:nvSpPr>
        <p:spPr>
          <a:xfrm>
            <a:off x="8296351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83" name="Shape 76"/>
          <p:cNvSpPr/>
          <p:nvPr/>
        </p:nvSpPr>
        <p:spPr>
          <a:xfrm>
            <a:off x="8399678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84" name="Shape 77"/>
          <p:cNvSpPr/>
          <p:nvPr/>
        </p:nvSpPr>
        <p:spPr>
          <a:xfrm>
            <a:off x="8503006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pic>
        <p:nvPicPr>
          <p:cNvPr id="8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2139696"/>
            <a:ext cx="274320" cy="173736"/>
          </a:xfrm>
          <a:prstGeom prst="rect">
            <a:avLst/>
          </a:prstGeom>
        </p:spPr>
      </p:pic>
      <p:sp>
        <p:nvSpPr>
          <p:cNvPr id="86" name="Shape 78"/>
          <p:cNvSpPr/>
          <p:nvPr/>
        </p:nvSpPr>
        <p:spPr>
          <a:xfrm>
            <a:off x="9157716" y="1769364"/>
            <a:ext cx="2615184" cy="32004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87" name="Shape 79"/>
          <p:cNvSpPr/>
          <p:nvPr/>
        </p:nvSpPr>
        <p:spPr>
          <a:xfrm>
            <a:off x="9107424" y="1719072"/>
            <a:ext cx="2615184" cy="32004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88" name="Image 6" descr="preencoded.png">    </p:cNvPr>
          <p:cNvPicPr>
            <a:picLocks noChangeAspect="1"/>
          </p:cNvPicPr>
          <p:nvPr/>
        </p:nvPicPr>
        <p:blipFill>
          <a:blip r:embed="rId7">
            <a:alphaModFix amt="15000"/>
          </a:blip>
          <a:stretch>
            <a:fillRect/>
          </a:stretch>
        </p:blipFill>
        <p:spPr>
          <a:xfrm>
            <a:off x="10049256" y="1901952"/>
            <a:ext cx="731520" cy="731520"/>
          </a:xfrm>
          <a:prstGeom prst="rect">
            <a:avLst/>
          </a:prstGeom>
        </p:spPr>
      </p:pic>
      <p:sp>
        <p:nvSpPr>
          <p:cNvPr id="89" name="Text 80"/>
          <p:cNvSpPr txBox="1"/>
          <p:nvPr/>
        </p:nvSpPr>
        <p:spPr>
          <a:xfrm>
            <a:off x="9253728" y="276148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DISSOLVE</a:t>
            </a:r>
            <a:endParaRPr lang="en-US" sz="1050" dirty="0"/>
          </a:p>
        </p:txBody>
      </p:sp>
      <p:sp>
        <p:nvSpPr>
          <p:cNvPr id="90" name="Text 81"/>
          <p:cNvSpPr txBox="1"/>
          <p:nvPr/>
        </p:nvSpPr>
        <p:spPr>
          <a:xfrm>
            <a:off x="9253728" y="301752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소멸</a:t>
            </a:r>
            <a:endParaRPr lang="en-US" sz="1800" dirty="0"/>
          </a:p>
        </p:txBody>
      </p:sp>
      <p:sp>
        <p:nvSpPr>
          <p:cNvPr id="91" name="Text 82"/>
          <p:cNvSpPr txBox="1"/>
          <p:nvPr/>
        </p:nvSpPr>
        <p:spPr>
          <a:xfrm>
            <a:off x="9272016" y="3474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인스턴스가 사라진다.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것은 봉투와 실행 로그뿐 —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재생 가능하다.</a:t>
            </a:r>
            <a:endParaRPr lang="en-US" sz="1000" dirty="0"/>
          </a:p>
        </p:txBody>
      </p:sp>
      <p:sp>
        <p:nvSpPr>
          <p:cNvPr id="92" name="Shape 83"/>
          <p:cNvSpPr/>
          <p:nvPr/>
        </p:nvSpPr>
        <p:spPr>
          <a:xfrm>
            <a:off x="9392717" y="4590288"/>
            <a:ext cx="81382" cy="109728"/>
          </a:xfrm>
          <a:prstGeom prst="rect">
            <a:avLst/>
          </a:prstGeom>
          <a:solidFill>
            <a:srgbClr val="5E6B87"/>
          </a:solidFill>
          <a:ln/>
        </p:spPr>
      </p:sp>
      <p:sp>
        <p:nvSpPr>
          <p:cNvPr id="93" name="Shape 84"/>
          <p:cNvSpPr/>
          <p:nvPr/>
        </p:nvSpPr>
        <p:spPr>
          <a:xfrm>
            <a:off x="9496044" y="4590288"/>
            <a:ext cx="81382" cy="109728"/>
          </a:xfrm>
          <a:prstGeom prst="rect">
            <a:avLst/>
          </a:prstGeom>
          <a:solidFill>
            <a:srgbClr val="5E6B87"/>
          </a:solidFill>
          <a:ln/>
        </p:spPr>
      </p:sp>
      <p:sp>
        <p:nvSpPr>
          <p:cNvPr id="94" name="Shape 85"/>
          <p:cNvSpPr/>
          <p:nvPr/>
        </p:nvSpPr>
        <p:spPr>
          <a:xfrm>
            <a:off x="9599371" y="4590288"/>
            <a:ext cx="81382" cy="109728"/>
          </a:xfrm>
          <a:prstGeom prst="rect">
            <a:avLst/>
          </a:prstGeom>
          <a:solidFill>
            <a:srgbClr val="5E6B87"/>
          </a:solidFill>
          <a:ln/>
        </p:spPr>
      </p:sp>
      <p:sp>
        <p:nvSpPr>
          <p:cNvPr id="95" name="Shape 86"/>
          <p:cNvSpPr/>
          <p:nvPr/>
        </p:nvSpPr>
        <p:spPr>
          <a:xfrm>
            <a:off x="9702698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96" name="Shape 87"/>
          <p:cNvSpPr/>
          <p:nvPr/>
        </p:nvSpPr>
        <p:spPr>
          <a:xfrm>
            <a:off x="9806026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97" name="Shape 88"/>
          <p:cNvSpPr/>
          <p:nvPr/>
        </p:nvSpPr>
        <p:spPr>
          <a:xfrm>
            <a:off x="9909353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98" name="Shape 89"/>
          <p:cNvSpPr/>
          <p:nvPr/>
        </p:nvSpPr>
        <p:spPr>
          <a:xfrm>
            <a:off x="10012680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99" name="Shape 90"/>
          <p:cNvSpPr/>
          <p:nvPr/>
        </p:nvSpPr>
        <p:spPr>
          <a:xfrm>
            <a:off x="10116007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0" name="Shape 91"/>
          <p:cNvSpPr/>
          <p:nvPr/>
        </p:nvSpPr>
        <p:spPr>
          <a:xfrm>
            <a:off x="10219334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1" name="Shape 92"/>
          <p:cNvSpPr/>
          <p:nvPr/>
        </p:nvSpPr>
        <p:spPr>
          <a:xfrm>
            <a:off x="10322662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2" name="Shape 93"/>
          <p:cNvSpPr/>
          <p:nvPr/>
        </p:nvSpPr>
        <p:spPr>
          <a:xfrm>
            <a:off x="10425989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3" name="Shape 94"/>
          <p:cNvSpPr/>
          <p:nvPr/>
        </p:nvSpPr>
        <p:spPr>
          <a:xfrm>
            <a:off x="10529316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4" name="Shape 95"/>
          <p:cNvSpPr/>
          <p:nvPr/>
        </p:nvSpPr>
        <p:spPr>
          <a:xfrm>
            <a:off x="10632643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5" name="Shape 96"/>
          <p:cNvSpPr/>
          <p:nvPr/>
        </p:nvSpPr>
        <p:spPr>
          <a:xfrm>
            <a:off x="10735970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6" name="Shape 97"/>
          <p:cNvSpPr/>
          <p:nvPr/>
        </p:nvSpPr>
        <p:spPr>
          <a:xfrm>
            <a:off x="10839298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7" name="Shape 98"/>
          <p:cNvSpPr/>
          <p:nvPr/>
        </p:nvSpPr>
        <p:spPr>
          <a:xfrm>
            <a:off x="10942625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8" name="Shape 99"/>
          <p:cNvSpPr/>
          <p:nvPr/>
        </p:nvSpPr>
        <p:spPr>
          <a:xfrm>
            <a:off x="11045952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09" name="Shape 100"/>
          <p:cNvSpPr/>
          <p:nvPr/>
        </p:nvSpPr>
        <p:spPr>
          <a:xfrm>
            <a:off x="11149279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10" name="Shape 101"/>
          <p:cNvSpPr/>
          <p:nvPr/>
        </p:nvSpPr>
        <p:spPr>
          <a:xfrm>
            <a:off x="11252606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11" name="Shape 102"/>
          <p:cNvSpPr/>
          <p:nvPr/>
        </p:nvSpPr>
        <p:spPr>
          <a:xfrm>
            <a:off x="11355934" y="4590288"/>
            <a:ext cx="81382" cy="109728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12" name="Shape 103"/>
          <p:cNvSpPr/>
          <p:nvPr/>
        </p:nvSpPr>
        <p:spPr>
          <a:xfrm>
            <a:off x="598932" y="5134356"/>
            <a:ext cx="2615184" cy="117043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3" name="Shape 104"/>
          <p:cNvSpPr/>
          <p:nvPr/>
        </p:nvSpPr>
        <p:spPr>
          <a:xfrm>
            <a:off x="548640" y="5084064"/>
            <a:ext cx="2615184" cy="117043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4" name="Text 105"/>
          <p:cNvSpPr txBox="1"/>
          <p:nvPr/>
        </p:nvSpPr>
        <p:spPr>
          <a:xfrm>
            <a:off x="713232" y="5212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무상태 (stateless)</a:t>
            </a:r>
            <a:endParaRPr lang="en-US" sz="1150" dirty="0"/>
          </a:p>
        </p:txBody>
      </p:sp>
      <p:sp>
        <p:nvSpPr>
          <p:cNvPr id="115" name="Text 106"/>
          <p:cNvSpPr txBox="1"/>
          <p:nvPr/>
        </p:nvSpPr>
        <p:spPr>
          <a:xfrm>
            <a:off x="713232" y="5468112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 → 같은 봉투. 어제 무엇을 봤는지 기억하지 않는다.</a:t>
            </a:r>
            <a:endParaRPr lang="en-US" sz="950" dirty="0"/>
          </a:p>
        </p:txBody>
      </p:sp>
      <p:sp>
        <p:nvSpPr>
          <p:cNvPr id="116" name="Shape 107"/>
          <p:cNvSpPr/>
          <p:nvPr/>
        </p:nvSpPr>
        <p:spPr>
          <a:xfrm>
            <a:off x="3451860" y="5134356"/>
            <a:ext cx="2615184" cy="117043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7" name="Shape 108"/>
          <p:cNvSpPr/>
          <p:nvPr/>
        </p:nvSpPr>
        <p:spPr>
          <a:xfrm>
            <a:off x="3401568" y="5084064"/>
            <a:ext cx="2615184" cy="117043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18" name="Text 109"/>
          <p:cNvSpPr txBox="1"/>
          <p:nvPr/>
        </p:nvSpPr>
        <p:spPr>
          <a:xfrm>
            <a:off x="3566160" y="5212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제한</a:t>
            </a:r>
            <a:endParaRPr lang="en-US" sz="1150" dirty="0"/>
          </a:p>
        </p:txBody>
      </p:sp>
      <p:sp>
        <p:nvSpPr>
          <p:cNvPr id="119" name="Text 110"/>
          <p:cNvSpPr txBox="1"/>
          <p:nvPr/>
        </p:nvSpPr>
        <p:spPr>
          <a:xfrm>
            <a:off x="3566160" y="5468112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인스턴스마다 호출·토큰 상한. 초과하면 '미완'으로 끝나지 조용히 넘어가지 않는다.</a:t>
            </a:r>
            <a:endParaRPr lang="en-US" sz="950" dirty="0"/>
          </a:p>
        </p:txBody>
      </p:sp>
      <p:sp>
        <p:nvSpPr>
          <p:cNvPr id="120" name="Shape 111"/>
          <p:cNvSpPr/>
          <p:nvPr/>
        </p:nvSpPr>
        <p:spPr>
          <a:xfrm>
            <a:off x="6304788" y="5134356"/>
            <a:ext cx="2615184" cy="117043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1" name="Shape 112"/>
          <p:cNvSpPr/>
          <p:nvPr/>
        </p:nvSpPr>
        <p:spPr>
          <a:xfrm>
            <a:off x="6254496" y="5084064"/>
            <a:ext cx="2615184" cy="117043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2" name="Text 113"/>
          <p:cNvSpPr txBox="1"/>
          <p:nvPr/>
        </p:nvSpPr>
        <p:spPr>
          <a:xfrm>
            <a:off x="6419088" y="5212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</a:t>
            </a:r>
            <a:endParaRPr lang="en-US" sz="1150" dirty="0"/>
          </a:p>
        </p:txBody>
      </p:sp>
      <p:sp>
        <p:nvSpPr>
          <p:cNvPr id="123" name="Text 114"/>
          <p:cNvSpPr txBox="1"/>
          <p:nvPr/>
        </p:nvSpPr>
        <p:spPr>
          <a:xfrm>
            <a:off x="6419088" y="5468112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인스턴스의 산출을 보지 않는다. 수렴하면 교차검증의 의미가 사라진다.</a:t>
            </a:r>
            <a:endParaRPr lang="en-US" sz="950" dirty="0"/>
          </a:p>
        </p:txBody>
      </p:sp>
      <p:sp>
        <p:nvSpPr>
          <p:cNvPr id="124" name="Shape 115"/>
          <p:cNvSpPr/>
          <p:nvPr/>
        </p:nvSpPr>
        <p:spPr>
          <a:xfrm>
            <a:off x="9157716" y="5134356"/>
            <a:ext cx="2615184" cy="117043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5" name="Shape 116"/>
          <p:cNvSpPr/>
          <p:nvPr/>
        </p:nvSpPr>
        <p:spPr>
          <a:xfrm>
            <a:off x="9107424" y="5084064"/>
            <a:ext cx="2615184" cy="117043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6" name="Text 117"/>
          <p:cNvSpPr txBox="1"/>
          <p:nvPr/>
        </p:nvSpPr>
        <p:spPr>
          <a:xfrm>
            <a:off x="9272016" y="5212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 가능</a:t>
            </a:r>
            <a:endParaRPr lang="en-US" sz="1150" dirty="0"/>
          </a:p>
        </p:txBody>
      </p:sp>
      <p:sp>
        <p:nvSpPr>
          <p:cNvPr id="127" name="Text 118"/>
          <p:cNvSpPr txBox="1"/>
          <p:nvPr/>
        </p:nvSpPr>
        <p:spPr>
          <a:xfrm>
            <a:off x="9272016" y="5468112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로그로 같은 인스턴스를 다시 띄워 결과를 대조할 수 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TRIGGERS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누구를 부르는가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트리거는 원장의 변화에서 나온다. 사람이 부르는 것이 아니라 데이터가 부른다.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2496"/>
          <a:ext cx="11094415" cy="914400"/>
        </p:xfrm>
        <a:graphic>
          <a:graphicData uri="http://schemas.openxmlformats.org/drawingml/2006/table">
            <a:tbl>
              <a:tblPr/>
              <a:tblGrid>
                <a:gridCol w="2432304"/>
                <a:gridCol w="2487168"/>
                <a:gridCol w="1773936"/>
                <a:gridCol w="960120"/>
                <a:gridCol w="343814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트리거 (원장의 변화)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소집되는 에이전트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넘겨받는 입력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인스턴스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6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산출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7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 신규 공시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equity-analyst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접수번호 1건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공시당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링크 + 사실관계 정리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종가 ±8% 이상 변동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equity · execution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종목코드 · 기준일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종목당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달라졌나 · 처분여건 재계산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회수계획 진척 변동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execution-trader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exit_plan 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종목당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§3 집행 시뮬 재실행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재검 기한 도래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quant-researcher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키 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1편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판정 + 원장 append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ECOS·캘린더 갱신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macro-strategist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 · 일정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§4·§7 국면 서술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락업 만료 D-30 진입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execution · macro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종목코드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종목당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물량 압력 · 시점 코멘트 (등급 '추정')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봉투 묶음 완성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risk-officer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그날 봉투 전량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재검산 · 반려 또는 통과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 통과분 확정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5D6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ic-chair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봉투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DFA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2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회의자료 조립 · 쟁점 정렬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8932" y="5664708"/>
            <a:ext cx="11094415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614416"/>
            <a:ext cx="11094415" cy="566928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5614416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트리거가 없으면 아무도 소집되지 않는다. </a:t>
            </a:r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조용한 날은 조용한 것이 정상이다 — 할 말이 없는데 데스크를 돌려 말을 만들게 하는 것이 이 구조가 막으려는 실패다.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LOAD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실행 대비 실제 부하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20영업일 시뮬레이션. 전수 방식은 종목수에 고정으로 묶이고, 이벤트 방식은 그날 일어난 일의 수만큼만 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32788"/>
            <a:ext cx="7589520" cy="39319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82496"/>
            <a:ext cx="7589520" cy="39319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에이전트 인스턴스 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0848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— 감시 85종목 · 데스크 4 · 공시 발생률 6% · ±8% 변동 발생률 4%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377440"/>
          <a:ext cx="7223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389620" y="1732788"/>
            <a:ext cx="3300984" cy="9052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1" name="Shape 8"/>
          <p:cNvSpPr/>
          <p:nvPr/>
        </p:nvSpPr>
        <p:spPr>
          <a:xfrm>
            <a:off x="8339328" y="1682496"/>
            <a:ext cx="3300984" cy="9052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40496" y="17922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3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6,800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540496" y="2176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· 20일 누계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40496" y="23591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389620" y="2747772"/>
            <a:ext cx="3300984" cy="9052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6" name="Shape 13"/>
          <p:cNvSpPr/>
          <p:nvPr/>
        </p:nvSpPr>
        <p:spPr>
          <a:xfrm>
            <a:off x="8339328" y="2697480"/>
            <a:ext cx="3300984" cy="9052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40496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A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1,079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540496" y="31912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· 20일 누계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40496" y="337413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389620" y="3762756"/>
            <a:ext cx="3300984" cy="9052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1" name="Shape 18"/>
          <p:cNvSpPr/>
          <p:nvPr/>
        </p:nvSpPr>
        <p:spPr>
          <a:xfrm>
            <a:off x="8339328" y="3712464"/>
            <a:ext cx="3300984" cy="9052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40496" y="3822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-84%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4206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감소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40496" y="4389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커버리지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89620" y="4777740"/>
            <a:ext cx="3300984" cy="9052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6" name="Shape 23"/>
          <p:cNvSpPr/>
          <p:nvPr/>
        </p:nvSpPr>
        <p:spPr>
          <a:xfrm>
            <a:off x="8339328" y="4727448"/>
            <a:ext cx="3300984" cy="905256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40496" y="48371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8540496" y="52212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피크일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40496" y="54041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D18 · 공시 집중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98932" y="5811012"/>
            <a:ext cx="11094415" cy="5303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1" name="Shape 28"/>
          <p:cNvSpPr/>
          <p:nvPr/>
        </p:nvSpPr>
        <p:spPr>
          <a:xfrm>
            <a:off x="548640" y="5760720"/>
            <a:ext cx="11094415" cy="53035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86384" y="5760720"/>
            <a:ext cx="106189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절감이 아니라 피크다. </a:t>
            </a:r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방식은 조용한 날에도 340을 쓰느라, 정작 공시가 몰린 날(D18)에 더 깊이 볼 여력이 없다. 이벤트 방식은 그날 예산을 그날 일에 쓴다.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발생률은 가정값이다. 실측은 Phase 1 에서 원장의 공시·변동 이력으로 역산한다.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ESCALATION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일에 비싼 모델을 쓰지 않는다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인스턴스가 같은 급일 필요는 없다. 아래에서 시작해, 걸리는 것만 위로 올린다.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7498080" cy="11887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7498080" cy="11887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83664"/>
            <a:ext cx="822960" cy="822960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8836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700784" y="1865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  ·  정형 추출 · 분류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00784" y="217627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제목에서 종류 판별, 값 파싱, 스키마 채우기처럼 답이 하나로 정해지는 일.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11757" y="2615184"/>
            <a:ext cx="215798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9501" y="2615184"/>
            <a:ext cx="215798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3" name="Shape 11"/>
          <p:cNvSpPr/>
          <p:nvPr/>
        </p:nvSpPr>
        <p:spPr>
          <a:xfrm>
            <a:off x="2187245" y="2615184"/>
            <a:ext cx="215798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4" name="Shape 12"/>
          <p:cNvSpPr/>
          <p:nvPr/>
        </p:nvSpPr>
        <p:spPr>
          <a:xfrm>
            <a:off x="2424989" y="2615184"/>
            <a:ext cx="215798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5" name="Shape 13"/>
          <p:cNvSpPr/>
          <p:nvPr/>
        </p:nvSpPr>
        <p:spPr>
          <a:xfrm>
            <a:off x="2662733" y="2615184"/>
            <a:ext cx="215798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6" name="Shape 14"/>
          <p:cNvSpPr/>
          <p:nvPr/>
        </p:nvSpPr>
        <p:spPr>
          <a:xfrm>
            <a:off x="2900477" y="2615184"/>
            <a:ext cx="215798" cy="12801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7" name="Shape 15"/>
          <p:cNvSpPr/>
          <p:nvPr/>
        </p:nvSpPr>
        <p:spPr>
          <a:xfrm>
            <a:off x="3138221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375965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613709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851453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089197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326941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564685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2429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5" name="Shape 23"/>
          <p:cNvSpPr/>
          <p:nvPr/>
        </p:nvSpPr>
        <p:spPr>
          <a:xfrm>
            <a:off x="5040173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6" name="Shape 24"/>
          <p:cNvSpPr/>
          <p:nvPr/>
        </p:nvSpPr>
        <p:spPr>
          <a:xfrm>
            <a:off x="5277917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7" name="Shape 25"/>
          <p:cNvSpPr/>
          <p:nvPr/>
        </p:nvSpPr>
        <p:spPr>
          <a:xfrm>
            <a:off x="5515661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8" name="Shape 26"/>
          <p:cNvSpPr/>
          <p:nvPr/>
        </p:nvSpPr>
        <p:spPr>
          <a:xfrm>
            <a:off x="5753405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29" name="Shape 27"/>
          <p:cNvSpPr/>
          <p:nvPr/>
        </p:nvSpPr>
        <p:spPr>
          <a:xfrm>
            <a:off x="5991149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228893" y="2615184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0" y="2560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전체의 ~70%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8932" y="3049524"/>
            <a:ext cx="7498080" cy="11887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2999232"/>
            <a:ext cx="7498080" cy="11887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3182112"/>
            <a:ext cx="822960" cy="822960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3232" y="31821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700784" y="3163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 ·  해석 · 서술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700784" y="3474720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측정값을 읽고 §5·§6 초안을 쓰는 일. 대부분의 데스크 산출이 여기서 나온다.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711757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9" name="Shape 37"/>
          <p:cNvSpPr/>
          <p:nvPr/>
        </p:nvSpPr>
        <p:spPr>
          <a:xfrm>
            <a:off x="1949501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0" name="Shape 38"/>
          <p:cNvSpPr/>
          <p:nvPr/>
        </p:nvSpPr>
        <p:spPr>
          <a:xfrm>
            <a:off x="2187245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1" name="Shape 39"/>
          <p:cNvSpPr/>
          <p:nvPr/>
        </p:nvSpPr>
        <p:spPr>
          <a:xfrm>
            <a:off x="2424989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2" name="Shape 40"/>
          <p:cNvSpPr/>
          <p:nvPr/>
        </p:nvSpPr>
        <p:spPr>
          <a:xfrm>
            <a:off x="2662733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3" name="Shape 41"/>
          <p:cNvSpPr/>
          <p:nvPr/>
        </p:nvSpPr>
        <p:spPr>
          <a:xfrm>
            <a:off x="2900477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4" name="Shape 42"/>
          <p:cNvSpPr/>
          <p:nvPr/>
        </p:nvSpPr>
        <p:spPr>
          <a:xfrm>
            <a:off x="3138221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5" name="Shape 43"/>
          <p:cNvSpPr/>
          <p:nvPr/>
        </p:nvSpPr>
        <p:spPr>
          <a:xfrm>
            <a:off x="3375965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6" name="Shape 44"/>
          <p:cNvSpPr/>
          <p:nvPr/>
        </p:nvSpPr>
        <p:spPr>
          <a:xfrm>
            <a:off x="3613709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7" name="Shape 45"/>
          <p:cNvSpPr/>
          <p:nvPr/>
        </p:nvSpPr>
        <p:spPr>
          <a:xfrm>
            <a:off x="3851453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8" name="Shape 46"/>
          <p:cNvSpPr/>
          <p:nvPr/>
        </p:nvSpPr>
        <p:spPr>
          <a:xfrm>
            <a:off x="4089197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9" name="Shape 47"/>
          <p:cNvSpPr/>
          <p:nvPr/>
        </p:nvSpPr>
        <p:spPr>
          <a:xfrm>
            <a:off x="4326941" y="3913632"/>
            <a:ext cx="215798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50" name="Shape 48"/>
          <p:cNvSpPr/>
          <p:nvPr/>
        </p:nvSpPr>
        <p:spPr>
          <a:xfrm>
            <a:off x="4564685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1" name="Shape 49"/>
          <p:cNvSpPr/>
          <p:nvPr/>
        </p:nvSpPr>
        <p:spPr>
          <a:xfrm>
            <a:off x="4802429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2" name="Shape 50"/>
          <p:cNvSpPr/>
          <p:nvPr/>
        </p:nvSpPr>
        <p:spPr>
          <a:xfrm>
            <a:off x="5040173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3" name="Shape 51"/>
          <p:cNvSpPr/>
          <p:nvPr/>
        </p:nvSpPr>
        <p:spPr>
          <a:xfrm>
            <a:off x="5277917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4" name="Shape 52"/>
          <p:cNvSpPr/>
          <p:nvPr/>
        </p:nvSpPr>
        <p:spPr>
          <a:xfrm>
            <a:off x="5515661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5" name="Shape 53"/>
          <p:cNvSpPr/>
          <p:nvPr/>
        </p:nvSpPr>
        <p:spPr>
          <a:xfrm>
            <a:off x="5753405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6" name="Shape 54"/>
          <p:cNvSpPr/>
          <p:nvPr/>
        </p:nvSpPr>
        <p:spPr>
          <a:xfrm>
            <a:off x="5991149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7" name="Shape 55"/>
          <p:cNvSpPr/>
          <p:nvPr/>
        </p:nvSpPr>
        <p:spPr>
          <a:xfrm>
            <a:off x="6228893" y="3913632"/>
            <a:ext cx="215798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583680" y="38587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전체의 ~25%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98932" y="4347972"/>
            <a:ext cx="7498080" cy="11887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0" name="Shape 58"/>
          <p:cNvSpPr/>
          <p:nvPr/>
        </p:nvSpPr>
        <p:spPr>
          <a:xfrm>
            <a:off x="548640" y="4297680"/>
            <a:ext cx="7498080" cy="11887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3232" y="4480560"/>
            <a:ext cx="822960" cy="82296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13232" y="4480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2200" dirty="0"/>
          </a:p>
        </p:txBody>
      </p:sp>
      <p:sp>
        <p:nvSpPr>
          <p:cNvPr id="63" name="Text 61"/>
          <p:cNvSpPr txBox="1"/>
          <p:nvPr/>
        </p:nvSpPr>
        <p:spPr>
          <a:xfrm>
            <a:off x="1700784" y="4462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 ·  이견 · 이상치 · 재현 설계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1700784" y="4773168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간 판정이 갈리거나, 재현 관문 설계처럼 틀리면 비싼 일.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711757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6" name="Shape 64"/>
          <p:cNvSpPr/>
          <p:nvPr/>
        </p:nvSpPr>
        <p:spPr>
          <a:xfrm>
            <a:off x="1949501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7" name="Shape 65"/>
          <p:cNvSpPr/>
          <p:nvPr/>
        </p:nvSpPr>
        <p:spPr>
          <a:xfrm>
            <a:off x="2187245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8" name="Shape 66"/>
          <p:cNvSpPr/>
          <p:nvPr/>
        </p:nvSpPr>
        <p:spPr>
          <a:xfrm>
            <a:off x="2424989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9" name="Shape 67"/>
          <p:cNvSpPr/>
          <p:nvPr/>
        </p:nvSpPr>
        <p:spPr>
          <a:xfrm>
            <a:off x="2662733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0" name="Shape 68"/>
          <p:cNvSpPr/>
          <p:nvPr/>
        </p:nvSpPr>
        <p:spPr>
          <a:xfrm>
            <a:off x="2900477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1" name="Shape 69"/>
          <p:cNvSpPr/>
          <p:nvPr/>
        </p:nvSpPr>
        <p:spPr>
          <a:xfrm>
            <a:off x="3138221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2" name="Shape 70"/>
          <p:cNvSpPr/>
          <p:nvPr/>
        </p:nvSpPr>
        <p:spPr>
          <a:xfrm>
            <a:off x="3375965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3" name="Shape 71"/>
          <p:cNvSpPr/>
          <p:nvPr/>
        </p:nvSpPr>
        <p:spPr>
          <a:xfrm>
            <a:off x="3613709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4" name="Shape 72"/>
          <p:cNvSpPr/>
          <p:nvPr/>
        </p:nvSpPr>
        <p:spPr>
          <a:xfrm>
            <a:off x="3851453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5" name="Shape 73"/>
          <p:cNvSpPr/>
          <p:nvPr/>
        </p:nvSpPr>
        <p:spPr>
          <a:xfrm>
            <a:off x="4089197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6" name="Shape 74"/>
          <p:cNvSpPr/>
          <p:nvPr/>
        </p:nvSpPr>
        <p:spPr>
          <a:xfrm>
            <a:off x="4326941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7" name="Shape 75"/>
          <p:cNvSpPr/>
          <p:nvPr/>
        </p:nvSpPr>
        <p:spPr>
          <a:xfrm>
            <a:off x="4564685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8" name="Shape 76"/>
          <p:cNvSpPr/>
          <p:nvPr/>
        </p:nvSpPr>
        <p:spPr>
          <a:xfrm>
            <a:off x="4802429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9" name="Shape 77"/>
          <p:cNvSpPr/>
          <p:nvPr/>
        </p:nvSpPr>
        <p:spPr>
          <a:xfrm>
            <a:off x="5040173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0" name="Shape 78"/>
          <p:cNvSpPr/>
          <p:nvPr/>
        </p:nvSpPr>
        <p:spPr>
          <a:xfrm>
            <a:off x="5277917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1" name="Shape 79"/>
          <p:cNvSpPr/>
          <p:nvPr/>
        </p:nvSpPr>
        <p:spPr>
          <a:xfrm>
            <a:off x="5515661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2" name="Shape 80"/>
          <p:cNvSpPr/>
          <p:nvPr/>
        </p:nvSpPr>
        <p:spPr>
          <a:xfrm>
            <a:off x="5753405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3" name="Shape 81"/>
          <p:cNvSpPr/>
          <p:nvPr/>
        </p:nvSpPr>
        <p:spPr>
          <a:xfrm>
            <a:off x="5991149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4" name="Shape 82"/>
          <p:cNvSpPr/>
          <p:nvPr/>
        </p:nvSpPr>
        <p:spPr>
          <a:xfrm>
            <a:off x="6228893" y="5212080"/>
            <a:ext cx="215798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6583680" y="51572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전체의 ~5%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298180" y="1751076"/>
            <a:ext cx="3392424" cy="248716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87" name="Shape 85"/>
          <p:cNvSpPr/>
          <p:nvPr/>
        </p:nvSpPr>
        <p:spPr>
          <a:xfrm>
            <a:off x="8247888" y="1700784"/>
            <a:ext cx="3392424" cy="2487168"/>
          </a:xfrm>
          <a:prstGeom prst="rect">
            <a:avLst/>
          </a:prstGeom>
          <a:solidFill>
            <a:srgbClr val="171E30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449056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승격 조건</a:t>
            </a:r>
            <a:endParaRPr lang="en-US" sz="1100" dirty="0"/>
          </a:p>
        </p:txBody>
      </p:sp>
      <p:pic>
        <p:nvPicPr>
          <p:cNvPr id="8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56" y="2212848"/>
            <a:ext cx="219456" cy="137160"/>
          </a:xfrm>
          <a:prstGeom prst="rect">
            <a:avLst/>
          </a:prstGeom>
        </p:spPr>
      </p:pic>
      <p:sp>
        <p:nvSpPr>
          <p:cNvPr id="90" name="Text 87"/>
          <p:cNvSpPr txBox="1"/>
          <p:nvPr/>
        </p:nvSpPr>
        <p:spPr>
          <a:xfrm>
            <a:off x="8741664" y="2139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데스크의 판정이 갈릴 때</a:t>
            </a:r>
            <a:endParaRPr lang="en-US" sz="1000" dirty="0"/>
          </a:p>
        </p:txBody>
      </p:sp>
      <p:pic>
        <p:nvPicPr>
          <p:cNvPr id="9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56" y="2596896"/>
            <a:ext cx="219456" cy="137160"/>
          </a:xfrm>
          <a:prstGeom prst="rect">
            <a:avLst/>
          </a:prstGeom>
        </p:spPr>
      </p:pic>
      <p:sp>
        <p:nvSpPr>
          <p:cNvPr id="92" name="Text 88"/>
          <p:cNvSpPr txBox="1"/>
          <p:nvPr/>
        </p:nvSpPr>
        <p:spPr>
          <a:xfrm>
            <a:off x="8741664" y="2523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검산이 원장 값과 불일치할 때</a:t>
            </a:r>
            <a:endParaRPr lang="en-US" sz="1000" dirty="0"/>
          </a:p>
        </p:txBody>
      </p:sp>
      <p:pic>
        <p:nvPicPr>
          <p:cNvPr id="9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980944"/>
            <a:ext cx="219456" cy="137160"/>
          </a:xfrm>
          <a:prstGeom prst="rect">
            <a:avLst/>
          </a:prstGeom>
        </p:spPr>
      </p:pic>
      <p:sp>
        <p:nvSpPr>
          <p:cNvPr id="94" name="Text 89"/>
          <p:cNvSpPr txBox="1"/>
          <p:nvPr/>
        </p:nvSpPr>
        <p:spPr>
          <a:xfrm>
            <a:off x="8741664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게이트에 두 번 연속 반려될 때</a:t>
            </a:r>
            <a:endParaRPr lang="en-US" sz="1000" dirty="0"/>
          </a:p>
        </p:txBody>
      </p:sp>
      <p:pic>
        <p:nvPicPr>
          <p:cNvPr id="9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3364992"/>
            <a:ext cx="219456" cy="137160"/>
          </a:xfrm>
          <a:prstGeom prst="rect">
            <a:avLst/>
          </a:prstGeom>
        </p:spPr>
      </p:pic>
      <p:sp>
        <p:nvSpPr>
          <p:cNvPr id="96" name="Text 90"/>
          <p:cNvSpPr txBox="1"/>
          <p:nvPr/>
        </p:nvSpPr>
        <p:spPr>
          <a:xfrm>
            <a:off x="8741664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판정이 '판정 불가' 로 나올 때</a:t>
            </a:r>
            <a:endParaRPr lang="en-US" sz="1000" dirty="0"/>
          </a:p>
        </p:txBody>
      </p:sp>
      <p:pic>
        <p:nvPicPr>
          <p:cNvPr id="9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3749040"/>
            <a:ext cx="219456" cy="137160"/>
          </a:xfrm>
          <a:prstGeom prst="rect">
            <a:avLst/>
          </a:prstGeom>
        </p:spPr>
      </p:pic>
      <p:sp>
        <p:nvSpPr>
          <p:cNvPr id="98" name="Text 91"/>
          <p:cNvSpPr txBox="1"/>
          <p:nvPr/>
        </p:nvSpPr>
        <p:spPr>
          <a:xfrm>
            <a:off x="8741664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초과로 T1·T2 가 미완일 때</a:t>
            </a:r>
            <a:endParaRPr lang="en-US" sz="1000" dirty="0"/>
          </a:p>
        </p:txBody>
      </p:sp>
      <p:sp>
        <p:nvSpPr>
          <p:cNvPr id="99" name="Shape 92"/>
          <p:cNvSpPr/>
          <p:nvPr/>
        </p:nvSpPr>
        <p:spPr>
          <a:xfrm>
            <a:off x="8298180" y="4402836"/>
            <a:ext cx="3392424" cy="190195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00" name="Shape 93"/>
          <p:cNvSpPr/>
          <p:nvPr/>
        </p:nvSpPr>
        <p:spPr>
          <a:xfrm>
            <a:off x="8247888" y="4352544"/>
            <a:ext cx="3392424" cy="190195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1" name="Text 94"/>
          <p:cNvSpPr txBox="1"/>
          <p:nvPr/>
        </p:nvSpPr>
        <p:spPr>
          <a:xfrm>
            <a:off x="8449056" y="44805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승격은 기록된다</a:t>
            </a:r>
            <a:endParaRPr lang="en-US" sz="1100" dirty="0"/>
          </a:p>
        </p:txBody>
      </p:sp>
      <p:sp>
        <p:nvSpPr>
          <p:cNvPr id="102" name="Text 95"/>
          <p:cNvSpPr txBox="1"/>
          <p:nvPr/>
        </p:nvSpPr>
        <p:spPr>
          <a:xfrm>
            <a:off x="8449056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인스턴스가 왜 올라갔는지가 봉투에 남는다. 승격이 잦은 지점이 곧 이 시스템이 아직 약한 곳이므로, 그 분포를 스코어카드에서 본다.</a:t>
            </a:r>
            <a:endParaRPr lang="en-US" sz="1000" dirty="0"/>
          </a:p>
        </p:txBody>
      </p:sp>
      <p:sp>
        <p:nvSpPr>
          <p:cNvPr id="103" name="Text 96"/>
          <p:cNvSpPr txBox="1"/>
          <p:nvPr/>
        </p:nvSpPr>
        <p:spPr>
          <a:xfrm>
            <a:off x="8449056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escalated_from: "T2"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escalation_reason: "desk_conflict"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THE WALL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동적으로 바뀌어도 벽은 그대로다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매번 새로 생기더라도, 원장에 쓸 수 있는 도구를 받는 인스턴스는 없다.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4114800" cy="32004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4114800" cy="3200400"/>
          </a:xfrm>
          <a:prstGeom prst="rect">
            <a:avLst/>
          </a:prstGeom>
          <a:solidFill>
            <a:srgbClr val="171E30"/>
          </a:solidFill>
          <a:ln w="15875">
            <a:solidFill>
              <a:srgbClr val="3DFA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MEASUREMENT  ·  측정층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31136"/>
            <a:ext cx="786384" cy="7863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82496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ki.sqlite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682496" y="2688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tables · 사실만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86384" y="320040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API 5종의 값만 들어간다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" y="3584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24128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주체는 data-ops 단독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" y="396849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장중 스냅샷은 persist=False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" y="4352544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24128" y="4334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오염되면 되돌릴 수 없다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737360"/>
            <a:ext cx="548640" cy="54864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272284"/>
            <a:ext cx="548640" cy="54864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807208"/>
            <a:ext cx="548640" cy="548640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3342132"/>
            <a:ext cx="548640" cy="548640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877056"/>
            <a:ext cx="548640" cy="548640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896" y="4411980"/>
            <a:ext cx="548640" cy="54864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4718304" y="2944368"/>
            <a:ext cx="877824" cy="603504"/>
          </a:xfrm>
          <a:prstGeom prst="rect">
            <a:avLst/>
          </a:prstGeom>
          <a:solidFill>
            <a:srgbClr val="0D1018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4718304" y="2944368"/>
            <a:ext cx="877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5847588" y="1787652"/>
            <a:ext cx="5843016" cy="32004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8" name="Shape 19"/>
          <p:cNvSpPr/>
          <p:nvPr/>
        </p:nvSpPr>
        <p:spPr>
          <a:xfrm>
            <a:off x="5797296" y="1737360"/>
            <a:ext cx="5843016" cy="3200400"/>
          </a:xfrm>
          <a:prstGeom prst="rect">
            <a:avLst/>
          </a:prstGeom>
          <a:solidFill>
            <a:srgbClr val="171E30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6016752" y="188366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INTERPRETATION  ·  판단층 (동적)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016752" y="2231136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2322576"/>
            <a:ext cx="128016" cy="12801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309360" y="22311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ledger.facts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8759952" y="2231136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1392" y="2322576"/>
            <a:ext cx="128016" cy="12801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052560" y="22311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ledger.candles</a:t>
            </a:r>
            <a:endParaRPr lang="en-US" sz="950" dirty="0"/>
          </a:p>
        </p:txBody>
      </p:sp>
      <p:sp>
        <p:nvSpPr>
          <p:cNvPr id="36" name="Shape 25"/>
          <p:cNvSpPr/>
          <p:nvPr/>
        </p:nvSpPr>
        <p:spPr>
          <a:xfrm>
            <a:off x="6016752" y="2615184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192" y="2706624"/>
            <a:ext cx="128016" cy="12801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309360" y="2615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ledger.factors</a:t>
            </a:r>
            <a:endParaRPr lang="en-US" sz="950" dirty="0"/>
          </a:p>
        </p:txBody>
      </p:sp>
      <p:sp>
        <p:nvSpPr>
          <p:cNvPr id="39" name="Shape 27"/>
          <p:cNvSpPr/>
          <p:nvPr/>
        </p:nvSpPr>
        <p:spPr>
          <a:xfrm>
            <a:off x="8759952" y="2615184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1392" y="2706624"/>
            <a:ext cx="128016" cy="128016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9052560" y="2615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ledger.calendar</a:t>
            </a:r>
            <a:endParaRPr lang="en-US" sz="950" dirty="0"/>
          </a:p>
        </p:txBody>
      </p:sp>
      <p:sp>
        <p:nvSpPr>
          <p:cNvPr id="42" name="Shape 29"/>
          <p:cNvSpPr/>
          <p:nvPr/>
        </p:nvSpPr>
        <p:spPr>
          <a:xfrm>
            <a:off x="6016752" y="2999232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8192" y="3090672"/>
            <a:ext cx="128016" cy="128016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6309360" y="29992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ledger.macro</a:t>
            </a:r>
            <a:endParaRPr lang="en-US" sz="950" dirty="0"/>
          </a:p>
        </p:txBody>
      </p:sp>
      <p:sp>
        <p:nvSpPr>
          <p:cNvPr id="45" name="Shape 31"/>
          <p:cNvSpPr/>
          <p:nvPr/>
        </p:nvSpPr>
        <p:spPr>
          <a:xfrm>
            <a:off x="8759952" y="2999232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1392" y="3090672"/>
            <a:ext cx="128016" cy="128016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9052560" y="29992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ledger.disclosure</a:t>
            </a:r>
            <a:endParaRPr lang="en-US" sz="950" dirty="0"/>
          </a:p>
        </p:txBody>
      </p:sp>
      <p:sp>
        <p:nvSpPr>
          <p:cNvPr id="48" name="Shape 33"/>
          <p:cNvSpPr/>
          <p:nvPr/>
        </p:nvSpPr>
        <p:spPr>
          <a:xfrm>
            <a:off x="6016752" y="3383280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08192" y="3474720"/>
            <a:ext cx="128016" cy="128016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6309360" y="3383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ledger.quality</a:t>
            </a:r>
            <a:endParaRPr lang="en-US" sz="950" dirty="0"/>
          </a:p>
        </p:txBody>
      </p:sp>
      <p:sp>
        <p:nvSpPr>
          <p:cNvPr id="51" name="Shape 35"/>
          <p:cNvSpPr/>
          <p:nvPr/>
        </p:nvSpPr>
        <p:spPr>
          <a:xfrm>
            <a:off x="8759952" y="3383280"/>
            <a:ext cx="2578608" cy="310896"/>
          </a:xfrm>
          <a:prstGeom prst="rect">
            <a:avLst/>
          </a:prstGeom>
          <a:solidFill>
            <a:srgbClr val="1F2740"/>
          </a:solidFill>
          <a:ln/>
        </p:spPr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1392" y="3474720"/>
            <a:ext cx="128016" cy="128016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9052560" y="3383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ledger.papers</a:t>
            </a:r>
            <a:endParaRPr lang="en-US" sz="950" dirty="0"/>
          </a:p>
        </p:txBody>
      </p:sp>
      <p:sp>
        <p:nvSpPr>
          <p:cNvPr id="54" name="Text 37"/>
          <p:cNvSpPr txBox="1"/>
          <p:nvPr/>
        </p:nvSpPr>
        <p:spPr>
          <a:xfrm>
            <a:off x="6016752" y="395020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· catchup · fundamentals · KIS 주문  →  도구가 존재하지 않는다</a:t>
            </a:r>
            <a:endParaRPr lang="en-US" sz="950" dirty="0"/>
          </a:p>
        </p:txBody>
      </p:sp>
      <p:sp>
        <p:nvSpPr>
          <p:cNvPr id="55" name="Text 38"/>
          <p:cNvSpPr txBox="1"/>
          <p:nvPr/>
        </p:nvSpPr>
        <p:spPr>
          <a:xfrm>
            <a:off x="6016752" y="424281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도구 ledger.papers 가 추가된다 — 논문 원장을 읽기만 한다. 채택·은퇴를 쓰는 것은 재현 파이프라인(배치)이지 에이전트가 아니다.</a:t>
            </a:r>
            <a:endParaRPr lang="en-US" sz="1000" dirty="0"/>
          </a:p>
        </p:txBody>
      </p:sp>
      <p:sp>
        <p:nvSpPr>
          <p:cNvPr id="56" name="Shape 39"/>
          <p:cNvSpPr/>
          <p:nvPr/>
        </p:nvSpPr>
        <p:spPr>
          <a:xfrm>
            <a:off x="598932" y="5189220"/>
            <a:ext cx="3602736" cy="107899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7" name="Shape 40"/>
          <p:cNvSpPr/>
          <p:nvPr/>
        </p:nvSpPr>
        <p:spPr>
          <a:xfrm>
            <a:off x="548640" y="5138928"/>
            <a:ext cx="3602736" cy="107899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8" name="Text 41"/>
          <p:cNvSpPr txBox="1"/>
          <p:nvPr/>
        </p:nvSpPr>
        <p:spPr>
          <a:xfrm>
            <a:off x="731520" y="5266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벽은 구조다</a:t>
            </a:r>
            <a:endParaRPr lang="en-US" sz="1200" dirty="0"/>
          </a:p>
        </p:txBody>
      </p:sp>
      <p:sp>
        <p:nvSpPr>
          <p:cNvPr id="59" name="Text 42"/>
          <p:cNvSpPr txBox="1"/>
          <p:nvPr/>
        </p:nvSpPr>
        <p:spPr>
          <a:xfrm>
            <a:off x="731520" y="5541264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"쓰지 마라"라고 적는 대신, 쓸 수 있는 도구를 만들지 않는다.</a:t>
            </a:r>
            <a:endParaRPr lang="en-US" sz="1000" dirty="0"/>
          </a:p>
        </p:txBody>
      </p:sp>
      <p:sp>
        <p:nvSpPr>
          <p:cNvPr id="60" name="Shape 43"/>
          <p:cNvSpPr/>
          <p:nvPr/>
        </p:nvSpPr>
        <p:spPr>
          <a:xfrm>
            <a:off x="4357116" y="5189220"/>
            <a:ext cx="3602736" cy="107899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1" name="Shape 44"/>
          <p:cNvSpPr/>
          <p:nvPr/>
        </p:nvSpPr>
        <p:spPr>
          <a:xfrm>
            <a:off x="4306824" y="5138928"/>
            <a:ext cx="3602736" cy="107899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2" name="Text 45"/>
          <p:cNvSpPr txBox="1"/>
          <p:nvPr/>
        </p:nvSpPr>
        <p:spPr>
          <a:xfrm>
            <a:off x="4489704" y="5266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역류가 없다</a:t>
            </a:r>
            <a:endParaRPr lang="en-US" sz="1200" dirty="0"/>
          </a:p>
        </p:txBody>
      </p:sp>
      <p:sp>
        <p:nvSpPr>
          <p:cNvPr id="63" name="Text 46"/>
          <p:cNvSpPr txBox="1"/>
          <p:nvPr/>
        </p:nvSpPr>
        <p:spPr>
          <a:xfrm>
            <a:off x="4489704" y="5541264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해석이 원장으로 되돌아가는 경로가 스키마에도 도구에도 없다.</a:t>
            </a:r>
            <a:endParaRPr lang="en-US" sz="1000" dirty="0"/>
          </a:p>
        </p:txBody>
      </p:sp>
      <p:sp>
        <p:nvSpPr>
          <p:cNvPr id="64" name="Shape 47"/>
          <p:cNvSpPr/>
          <p:nvPr/>
        </p:nvSpPr>
        <p:spPr>
          <a:xfrm>
            <a:off x="8115300" y="5189220"/>
            <a:ext cx="3602736" cy="1078992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5" name="Shape 48"/>
          <p:cNvSpPr/>
          <p:nvPr/>
        </p:nvSpPr>
        <p:spPr>
          <a:xfrm>
            <a:off x="8065008" y="5138928"/>
            <a:ext cx="3602736" cy="1078992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6" name="Text 49"/>
          <p:cNvSpPr txBox="1"/>
          <p:nvPr/>
        </p:nvSpPr>
        <p:spPr>
          <a:xfrm>
            <a:off x="8247888" y="5266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인스턴스가 늘어도 같다</a:t>
            </a:r>
            <a:endParaRPr lang="en-US" sz="1200" dirty="0"/>
          </a:p>
        </p:txBody>
      </p:sp>
      <p:sp>
        <p:nvSpPr>
          <p:cNvPr id="67" name="Text 50"/>
          <p:cNvSpPr txBox="1"/>
          <p:nvPr/>
        </p:nvSpPr>
        <p:spPr>
          <a:xfrm>
            <a:off x="8247888" y="5541264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1개든 400개든 전부 같은 읽기 도구 집합만 받는다.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ENVELOPE v2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봉투에 재현 결과가 함께 실린다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키만 다는 것으로는 부족하다. 그 논문이 우리 표본에서 어떻게 나왔는지가 같이 가야 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6126480" cy="3877056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6126480" cy="3877056"/>
          </a:xfrm>
          <a:prstGeom prst="rect">
            <a:avLst/>
          </a:prstGeom>
          <a:solidFill>
            <a:srgbClr val="0A102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47088"/>
            <a:ext cx="5715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"claim":        "처분 소요일수 12.4 영업일",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"value":        12.4,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"unit":         "business_days",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"asof":         "2026-09-11",  "stale_days": 2,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"source_grade": "해석",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"sources":      ["KRX/일별매매정보"],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"method": {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"paper":       "amihud2002",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"paper_state": "adopted",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"replication": {                    // ← v2 신설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"verdict":  "재현됨",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"at":       "2026-02-11",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"universe": "KOSDAQ", "n": 1418,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"observed": { "spread_bp": 41, "t": 2.31 }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"assumes": { "participation": 0.15 }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"limits": ["논문 표본은 미국 상장주 — 코스닥 외삽 근거 아님"],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"desk": "execution-trader",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"instance": "exec-20260911-000660-a91f",   // ← v2 신설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"tier": "T2",  "escalated_from": null,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"reviewed_by": ["risk", "compliance"]</a:t>
            </a:r>
            <a:endParaRPr lang="en-US" sz="800" dirty="0"/>
          </a:p>
          <a:p>
            <a:pPr indent="0" marL="0">
              <a:lnSpc>
                <a:spcPts val="1030"/>
              </a:lnSpc>
              <a:buNone/>
            </a:pPr>
            <a:r>
              <a:rPr lang="en-US" sz="800" dirty="0">
                <a:solidFill>
                  <a:srgbClr val="A9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926580" y="1769364"/>
            <a:ext cx="4764024" cy="8778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6876288" y="1719072"/>
            <a:ext cx="4764024" cy="87782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77456" y="1810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181965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논문이 우리 표본에서 어떻게 나왔는가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20665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verdict 가 '재현됨'이 아니면 그 팩터는 리포트에서 경고와 함께 나가거나 아예 빠진다.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26580" y="2756916"/>
            <a:ext cx="4764024" cy="8778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4" name="Shape 12"/>
          <p:cNvSpPr/>
          <p:nvPr/>
        </p:nvSpPr>
        <p:spPr>
          <a:xfrm>
            <a:off x="6876288" y="2706624"/>
            <a:ext cx="4764024" cy="87782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77456" y="27980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paper_state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280720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논문이 아직 살아있는가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7077456" y="30540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retired 논문을 인용한 봉투는 게이트에서 즉시 반려된다.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26580" y="3744468"/>
            <a:ext cx="4764024" cy="8778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9" name="Shape 17"/>
          <p:cNvSpPr/>
          <p:nvPr/>
        </p:nvSpPr>
        <p:spPr>
          <a:xfrm>
            <a:off x="6876288" y="3694176"/>
            <a:ext cx="4764024" cy="87782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77456" y="37856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7947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인스턴스가 만들었는가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7077456" y="40416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ID 로 같은 실행을 다시 띄워 결과를 대조할 수 있다 — 재생 가능성의 열쇠.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26580" y="4732020"/>
            <a:ext cx="4764024" cy="8778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6876288" y="4681728"/>
            <a:ext cx="4764024" cy="87782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77456" y="4773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· escalated_from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478231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급이 처리했고 왜 올라왔는가</a:t>
            </a:r>
            <a:endParaRPr lang="en-US" sz="880" dirty="0"/>
          </a:p>
        </p:txBody>
      </p:sp>
      <p:sp>
        <p:nvSpPr>
          <p:cNvPr id="27" name="Text 25"/>
          <p:cNvSpPr txBox="1"/>
          <p:nvPr/>
        </p:nvSpPr>
        <p:spPr>
          <a:xfrm>
            <a:off x="7077456" y="5029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승격이 잦은 지점이 이 시스템이 약한 곳이다. 스코어카드가 이 분포를 본다.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26580" y="5737860"/>
            <a:ext cx="4764024" cy="54864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9" name="Shape 27"/>
          <p:cNvSpPr/>
          <p:nvPr/>
        </p:nvSpPr>
        <p:spPr>
          <a:xfrm>
            <a:off x="6876288" y="5687568"/>
            <a:ext cx="4764024" cy="54864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77456" y="56875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'해석' 은 그대로다 — 재현까지 통과해도 에이전트 문장은 1차 자료가 되지 않는다.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GATES ×7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전 일곱 관문 — 하나라도 걸리면 멈춘다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개는 지난 방안 그대로이고, ③ 재현 관문이 새로 들어간다.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2615184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65376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261872" y="20665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어휘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4323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점수·등급·목표주가·매수/매도 어휘가 있는가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13232" y="3145536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" y="3145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문장 삭제 후 반려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3396996" y="1751076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4" name="Shape 11"/>
          <p:cNvSpPr/>
          <p:nvPr/>
        </p:nvSpPr>
        <p:spPr>
          <a:xfrm>
            <a:off x="3346704" y="1700784"/>
            <a:ext cx="2615184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65376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059936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2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059936" y="20665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등급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511296" y="24323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주장에 grade 가 있는가 · '해석'이 승격되지 않았는가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511296" y="3145536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602736" y="3145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등급 없는 주장 차단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6195060" y="1751076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2" name="Shape 18"/>
          <p:cNvSpPr/>
          <p:nvPr/>
        </p:nvSpPr>
        <p:spPr>
          <a:xfrm>
            <a:off x="6144768" y="1700784"/>
            <a:ext cx="2615184" cy="1883664"/>
          </a:xfrm>
          <a:prstGeom prst="rect">
            <a:avLst/>
          </a:prstGeom>
          <a:solidFill>
            <a:srgbClr val="132318"/>
          </a:solidFill>
          <a:ln w="15875">
            <a:solidFill>
              <a:srgbClr val="3DFA7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65376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858000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3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20665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309360" y="24323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논문이 우리 표본에서 재현됐는가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309360" y="3145536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400800" y="3145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미재현 인용은 즉시 반려</a:t>
            </a:r>
            <a:endParaRPr lang="en-US" sz="88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1847088"/>
            <a:ext cx="201168" cy="201168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993124" y="1751076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1" name="Shape 25"/>
          <p:cNvSpPr/>
          <p:nvPr/>
        </p:nvSpPr>
        <p:spPr>
          <a:xfrm>
            <a:off x="8942832" y="1700784"/>
            <a:ext cx="2615184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4" y="1865376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656064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4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9656064" y="20665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실재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107424" y="24323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state=adopted 인가 · limits 가 비어 있지 않은가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9107424" y="3145536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9198864" y="3145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은퇴본 인용 시 반려</a:t>
            </a:r>
            <a:endParaRPr lang="en-US" sz="880" dirty="0"/>
          </a:p>
        </p:txBody>
      </p:sp>
      <p:sp>
        <p:nvSpPr>
          <p:cNvPr id="38" name="Shape 31"/>
          <p:cNvSpPr/>
          <p:nvPr/>
        </p:nvSpPr>
        <p:spPr>
          <a:xfrm>
            <a:off x="598932" y="3799332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9" name="Shape 32"/>
          <p:cNvSpPr/>
          <p:nvPr/>
        </p:nvSpPr>
        <p:spPr>
          <a:xfrm>
            <a:off x="548640" y="3749040"/>
            <a:ext cx="2615184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913632"/>
            <a:ext cx="457200" cy="4572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261872" y="3931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5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1261872" y="41148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신선도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713232" y="4480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asof·stale_days 가 임계(3영업일)를 넘지 않는가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713232" y="5193792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804672" y="5193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값 대신 '데이터 없음'</a:t>
            </a:r>
            <a:endParaRPr lang="en-US" sz="880" dirty="0"/>
          </a:p>
        </p:txBody>
      </p:sp>
      <p:sp>
        <p:nvSpPr>
          <p:cNvPr id="46" name="Shape 38"/>
          <p:cNvSpPr/>
          <p:nvPr/>
        </p:nvSpPr>
        <p:spPr>
          <a:xfrm>
            <a:off x="3396996" y="3799332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7" name="Shape 39"/>
          <p:cNvSpPr/>
          <p:nvPr/>
        </p:nvSpPr>
        <p:spPr>
          <a:xfrm>
            <a:off x="3346704" y="3749040"/>
            <a:ext cx="2615184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1296" y="3913632"/>
            <a:ext cx="457200" cy="4572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4059936" y="3931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8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6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4059936" y="41148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 검사</a:t>
            </a:r>
            <a:endParaRPr lang="en-US" sz="1400" dirty="0"/>
          </a:p>
        </p:txBody>
      </p:sp>
      <p:sp>
        <p:nvSpPr>
          <p:cNvPr id="51" name="Text 42"/>
          <p:cNvSpPr txBox="1"/>
          <p:nvPr/>
        </p:nvSpPr>
        <p:spPr>
          <a:xfrm>
            <a:off x="3511296" y="4480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키·URL·포트폴리오사 실명이 남았는가 (scrub())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3511296" y="5193792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3602736" y="5193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전체 발행 중단</a:t>
            </a:r>
            <a:endParaRPr lang="en-US" sz="880" dirty="0"/>
          </a:p>
        </p:txBody>
      </p:sp>
      <p:sp>
        <p:nvSpPr>
          <p:cNvPr id="54" name="Shape 45"/>
          <p:cNvSpPr/>
          <p:nvPr/>
        </p:nvSpPr>
        <p:spPr>
          <a:xfrm>
            <a:off x="6195060" y="3799332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5" name="Shape 46"/>
          <p:cNvSpPr/>
          <p:nvPr/>
        </p:nvSpPr>
        <p:spPr>
          <a:xfrm>
            <a:off x="6144768" y="3749040"/>
            <a:ext cx="2615184" cy="188366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913632"/>
            <a:ext cx="457200" cy="457200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6858000" y="3931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7</a:t>
            </a:r>
            <a:endParaRPr lang="en-US" sz="900" dirty="0"/>
          </a:p>
        </p:txBody>
      </p:sp>
      <p:sp>
        <p:nvSpPr>
          <p:cNvPr id="58" name="Text 48"/>
          <p:cNvSpPr txBox="1"/>
          <p:nvPr/>
        </p:nvSpPr>
        <p:spPr>
          <a:xfrm>
            <a:off x="6858000" y="41148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4-eyes</a:t>
            </a:r>
            <a:endParaRPr lang="en-US" sz="1400" dirty="0"/>
          </a:p>
        </p:txBody>
      </p:sp>
      <p:sp>
        <p:nvSpPr>
          <p:cNvPr id="59" name="Text 49"/>
          <p:cNvSpPr txBox="1"/>
          <p:nvPr/>
        </p:nvSpPr>
        <p:spPr>
          <a:xfrm>
            <a:off x="6309360" y="4480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리스크와 준법감시 양쪽이 승인했는가</a:t>
            </a:r>
            <a:endParaRPr lang="en-US" sz="950" dirty="0"/>
          </a:p>
        </p:txBody>
      </p:sp>
      <p:sp>
        <p:nvSpPr>
          <p:cNvPr id="60" name="Shape 50"/>
          <p:cNvSpPr/>
          <p:nvPr/>
        </p:nvSpPr>
        <p:spPr>
          <a:xfrm>
            <a:off x="6309360" y="5193792"/>
            <a:ext cx="2286000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61" name="Text 51"/>
          <p:cNvSpPr txBox="1"/>
          <p:nvPr/>
        </p:nvSpPr>
        <p:spPr>
          <a:xfrm>
            <a:off x="6400800" y="5193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93A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해당 절 제외</a:t>
            </a:r>
            <a:endParaRPr lang="en-US" sz="880" dirty="0"/>
          </a:p>
        </p:txBody>
      </p:sp>
      <p:sp>
        <p:nvSpPr>
          <p:cNvPr id="62" name="Shape 52"/>
          <p:cNvSpPr/>
          <p:nvPr/>
        </p:nvSpPr>
        <p:spPr>
          <a:xfrm>
            <a:off x="8993124" y="3799332"/>
            <a:ext cx="2615184" cy="188366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3" name="Shape 53"/>
          <p:cNvSpPr/>
          <p:nvPr/>
        </p:nvSpPr>
        <p:spPr>
          <a:xfrm>
            <a:off x="8942832" y="3749040"/>
            <a:ext cx="2615184" cy="188366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4" name="Text 54"/>
          <p:cNvSpPr txBox="1"/>
          <p:nvPr/>
        </p:nvSpPr>
        <p:spPr>
          <a:xfrm>
            <a:off x="9107424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아니면 반려다</a:t>
            </a:r>
            <a:endParaRPr lang="en-US" sz="1300" dirty="0"/>
          </a:p>
        </p:txBody>
      </p:sp>
      <p:sp>
        <p:nvSpPr>
          <p:cNvPr id="65" name="Text 55"/>
          <p:cNvSpPr txBox="1"/>
          <p:nvPr/>
        </p:nvSpPr>
        <p:spPr>
          <a:xfrm>
            <a:off x="9107424" y="4206240"/>
            <a:ext cx="23042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"대체로 지켜졌다"는 판정이 없다. 반려된 절은 회의자료에서 빈칸이 아니라 '반려됨 — 사유' 로 보인다. 조용히 통과시키는 것이 가장 위험하다.</a:t>
            </a:r>
            <a:endParaRPr lang="en-US" sz="1000" dirty="0"/>
          </a:p>
        </p:txBody>
      </p:sp>
      <p:sp>
        <p:nvSpPr>
          <p:cNvPr id="66" name="Text 56"/>
          <p:cNvSpPr txBox="1"/>
          <p:nvPr/>
        </p:nvSpPr>
        <p:spPr>
          <a:xfrm>
            <a:off x="548640" y="647395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기존 selftest 128개는 그대로 둔다. 게이트는 코드가 아니라 '에이전트가 쓴 문장'을 검사하는 층으로 그 위에 얹는다.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SCORECARD &amp; REPLAY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데스크를 계측한다 — 다만 자동으로 고치지는 않는다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얼마나 반려됐고 무엇이 재현에 실패했는지를 매주 본다. 프롬프트를 고치는 것은 사람이다.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51076"/>
            <a:ext cx="5760720" cy="2743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5760720" cy="274320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데스크 스코어카드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157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데스크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게이트 통과율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157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반려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equity-analyst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45613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3" name="Shape 11"/>
          <p:cNvSpPr/>
          <p:nvPr/>
        </p:nvSpPr>
        <p:spPr>
          <a:xfrm>
            <a:off x="2964485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4" name="Shape 12"/>
          <p:cNvSpPr/>
          <p:nvPr/>
        </p:nvSpPr>
        <p:spPr>
          <a:xfrm>
            <a:off x="3083357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2229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6" name="Shape 14"/>
          <p:cNvSpPr/>
          <p:nvPr/>
        </p:nvSpPr>
        <p:spPr>
          <a:xfrm>
            <a:off x="3321101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9973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8" name="Shape 16"/>
          <p:cNvSpPr/>
          <p:nvPr/>
        </p:nvSpPr>
        <p:spPr>
          <a:xfrm>
            <a:off x="3558845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9" name="Shape 17"/>
          <p:cNvSpPr/>
          <p:nvPr/>
        </p:nvSpPr>
        <p:spPr>
          <a:xfrm>
            <a:off x="3677717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0" name="Shape 18"/>
          <p:cNvSpPr/>
          <p:nvPr/>
        </p:nvSpPr>
        <p:spPr>
          <a:xfrm>
            <a:off x="3796589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1" name="Shape 19"/>
          <p:cNvSpPr/>
          <p:nvPr/>
        </p:nvSpPr>
        <p:spPr>
          <a:xfrm>
            <a:off x="3915461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2" name="Shape 20"/>
          <p:cNvSpPr/>
          <p:nvPr/>
        </p:nvSpPr>
        <p:spPr>
          <a:xfrm>
            <a:off x="4034333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3" name="Shape 21"/>
          <p:cNvSpPr/>
          <p:nvPr/>
        </p:nvSpPr>
        <p:spPr>
          <a:xfrm>
            <a:off x="4153205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4" name="Shape 22"/>
          <p:cNvSpPr/>
          <p:nvPr/>
        </p:nvSpPr>
        <p:spPr>
          <a:xfrm>
            <a:off x="4272077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5" name="Shape 23"/>
          <p:cNvSpPr/>
          <p:nvPr/>
        </p:nvSpPr>
        <p:spPr>
          <a:xfrm>
            <a:off x="4390949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6" name="Shape 24"/>
          <p:cNvSpPr/>
          <p:nvPr/>
        </p:nvSpPr>
        <p:spPr>
          <a:xfrm>
            <a:off x="4509821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7" name="Shape 25"/>
          <p:cNvSpPr/>
          <p:nvPr/>
        </p:nvSpPr>
        <p:spPr>
          <a:xfrm>
            <a:off x="4628693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8" name="Shape 26"/>
          <p:cNvSpPr/>
          <p:nvPr/>
        </p:nvSpPr>
        <p:spPr>
          <a:xfrm>
            <a:off x="4747565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9" name="Shape 27"/>
          <p:cNvSpPr/>
          <p:nvPr/>
        </p:nvSpPr>
        <p:spPr>
          <a:xfrm>
            <a:off x="4866437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0" name="Shape 28"/>
          <p:cNvSpPr/>
          <p:nvPr/>
        </p:nvSpPr>
        <p:spPr>
          <a:xfrm>
            <a:off x="4985309" y="2478024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1" name="Shape 29"/>
          <p:cNvSpPr/>
          <p:nvPr/>
        </p:nvSpPr>
        <p:spPr>
          <a:xfrm>
            <a:off x="5104181" y="2478024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394960" y="2395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6%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68096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quant-researcher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45613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5" name="Shape 33"/>
          <p:cNvSpPr/>
          <p:nvPr/>
        </p:nvSpPr>
        <p:spPr>
          <a:xfrm>
            <a:off x="2964485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6" name="Shape 34"/>
          <p:cNvSpPr/>
          <p:nvPr/>
        </p:nvSpPr>
        <p:spPr>
          <a:xfrm>
            <a:off x="3083357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7" name="Shape 35"/>
          <p:cNvSpPr/>
          <p:nvPr/>
        </p:nvSpPr>
        <p:spPr>
          <a:xfrm>
            <a:off x="3202229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8" name="Shape 36"/>
          <p:cNvSpPr/>
          <p:nvPr/>
        </p:nvSpPr>
        <p:spPr>
          <a:xfrm>
            <a:off x="3321101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9" name="Shape 37"/>
          <p:cNvSpPr/>
          <p:nvPr/>
        </p:nvSpPr>
        <p:spPr>
          <a:xfrm>
            <a:off x="3439973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0" name="Shape 38"/>
          <p:cNvSpPr/>
          <p:nvPr/>
        </p:nvSpPr>
        <p:spPr>
          <a:xfrm>
            <a:off x="3558845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1" name="Shape 39"/>
          <p:cNvSpPr/>
          <p:nvPr/>
        </p:nvSpPr>
        <p:spPr>
          <a:xfrm>
            <a:off x="3677717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2" name="Shape 40"/>
          <p:cNvSpPr/>
          <p:nvPr/>
        </p:nvSpPr>
        <p:spPr>
          <a:xfrm>
            <a:off x="3796589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3" name="Shape 41"/>
          <p:cNvSpPr/>
          <p:nvPr/>
        </p:nvSpPr>
        <p:spPr>
          <a:xfrm>
            <a:off x="3915461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4" name="Shape 42"/>
          <p:cNvSpPr/>
          <p:nvPr/>
        </p:nvSpPr>
        <p:spPr>
          <a:xfrm>
            <a:off x="4034333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5" name="Shape 43"/>
          <p:cNvSpPr/>
          <p:nvPr/>
        </p:nvSpPr>
        <p:spPr>
          <a:xfrm>
            <a:off x="4153205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6" name="Shape 44"/>
          <p:cNvSpPr/>
          <p:nvPr/>
        </p:nvSpPr>
        <p:spPr>
          <a:xfrm>
            <a:off x="4272077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7" name="Shape 45"/>
          <p:cNvSpPr/>
          <p:nvPr/>
        </p:nvSpPr>
        <p:spPr>
          <a:xfrm>
            <a:off x="4390949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8" name="Shape 46"/>
          <p:cNvSpPr/>
          <p:nvPr/>
        </p:nvSpPr>
        <p:spPr>
          <a:xfrm>
            <a:off x="4509821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9" name="Shape 47"/>
          <p:cNvSpPr/>
          <p:nvPr/>
        </p:nvSpPr>
        <p:spPr>
          <a:xfrm>
            <a:off x="4628693" y="2825496"/>
            <a:ext cx="96926" cy="12801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0" name="Shape 48"/>
          <p:cNvSpPr/>
          <p:nvPr/>
        </p:nvSpPr>
        <p:spPr>
          <a:xfrm>
            <a:off x="4747565" y="2825496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1" name="Shape 49"/>
          <p:cNvSpPr/>
          <p:nvPr/>
        </p:nvSpPr>
        <p:spPr>
          <a:xfrm>
            <a:off x="4866437" y="2825496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2" name="Shape 50"/>
          <p:cNvSpPr/>
          <p:nvPr/>
        </p:nvSpPr>
        <p:spPr>
          <a:xfrm>
            <a:off x="4985309" y="2825496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3" name="Shape 51"/>
          <p:cNvSpPr/>
          <p:nvPr/>
        </p:nvSpPr>
        <p:spPr>
          <a:xfrm>
            <a:off x="5104181" y="2825496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394960" y="2743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19%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768096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macro-strategist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845613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57" name="Shape 55"/>
          <p:cNvSpPr/>
          <p:nvPr/>
        </p:nvSpPr>
        <p:spPr>
          <a:xfrm>
            <a:off x="2964485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58" name="Shape 56"/>
          <p:cNvSpPr/>
          <p:nvPr/>
        </p:nvSpPr>
        <p:spPr>
          <a:xfrm>
            <a:off x="3083357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59" name="Shape 57"/>
          <p:cNvSpPr/>
          <p:nvPr/>
        </p:nvSpPr>
        <p:spPr>
          <a:xfrm>
            <a:off x="3202229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0" name="Shape 58"/>
          <p:cNvSpPr/>
          <p:nvPr/>
        </p:nvSpPr>
        <p:spPr>
          <a:xfrm>
            <a:off x="3321101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1" name="Shape 59"/>
          <p:cNvSpPr/>
          <p:nvPr/>
        </p:nvSpPr>
        <p:spPr>
          <a:xfrm>
            <a:off x="3439973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2" name="Shape 60"/>
          <p:cNvSpPr/>
          <p:nvPr/>
        </p:nvSpPr>
        <p:spPr>
          <a:xfrm>
            <a:off x="3558845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3" name="Shape 61"/>
          <p:cNvSpPr/>
          <p:nvPr/>
        </p:nvSpPr>
        <p:spPr>
          <a:xfrm>
            <a:off x="3677717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4" name="Shape 62"/>
          <p:cNvSpPr/>
          <p:nvPr/>
        </p:nvSpPr>
        <p:spPr>
          <a:xfrm>
            <a:off x="3796589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5" name="Shape 63"/>
          <p:cNvSpPr/>
          <p:nvPr/>
        </p:nvSpPr>
        <p:spPr>
          <a:xfrm>
            <a:off x="3915461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6" name="Shape 64"/>
          <p:cNvSpPr/>
          <p:nvPr/>
        </p:nvSpPr>
        <p:spPr>
          <a:xfrm>
            <a:off x="4034333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7" name="Shape 65"/>
          <p:cNvSpPr/>
          <p:nvPr/>
        </p:nvSpPr>
        <p:spPr>
          <a:xfrm>
            <a:off x="4153205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8" name="Shape 66"/>
          <p:cNvSpPr/>
          <p:nvPr/>
        </p:nvSpPr>
        <p:spPr>
          <a:xfrm>
            <a:off x="4272077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69" name="Shape 67"/>
          <p:cNvSpPr/>
          <p:nvPr/>
        </p:nvSpPr>
        <p:spPr>
          <a:xfrm>
            <a:off x="4390949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0" name="Shape 68"/>
          <p:cNvSpPr/>
          <p:nvPr/>
        </p:nvSpPr>
        <p:spPr>
          <a:xfrm>
            <a:off x="4509821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1" name="Shape 69"/>
          <p:cNvSpPr/>
          <p:nvPr/>
        </p:nvSpPr>
        <p:spPr>
          <a:xfrm>
            <a:off x="4628693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2" name="Shape 70"/>
          <p:cNvSpPr/>
          <p:nvPr/>
        </p:nvSpPr>
        <p:spPr>
          <a:xfrm>
            <a:off x="4747565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3" name="Shape 71"/>
          <p:cNvSpPr/>
          <p:nvPr/>
        </p:nvSpPr>
        <p:spPr>
          <a:xfrm>
            <a:off x="4866437" y="3172968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4" name="Shape 72"/>
          <p:cNvSpPr/>
          <p:nvPr/>
        </p:nvSpPr>
        <p:spPr>
          <a:xfrm>
            <a:off x="4985309" y="3172968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75" name="Shape 73"/>
          <p:cNvSpPr/>
          <p:nvPr/>
        </p:nvSpPr>
        <p:spPr>
          <a:xfrm>
            <a:off x="5104181" y="3172968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5394960" y="3090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68096" y="3438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execution-trader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845613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79" name="Shape 77"/>
          <p:cNvSpPr/>
          <p:nvPr/>
        </p:nvSpPr>
        <p:spPr>
          <a:xfrm>
            <a:off x="2964485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0" name="Shape 78"/>
          <p:cNvSpPr/>
          <p:nvPr/>
        </p:nvSpPr>
        <p:spPr>
          <a:xfrm>
            <a:off x="3083357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1" name="Shape 79"/>
          <p:cNvSpPr/>
          <p:nvPr/>
        </p:nvSpPr>
        <p:spPr>
          <a:xfrm>
            <a:off x="3202229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2" name="Shape 80"/>
          <p:cNvSpPr/>
          <p:nvPr/>
        </p:nvSpPr>
        <p:spPr>
          <a:xfrm>
            <a:off x="3321101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3" name="Shape 81"/>
          <p:cNvSpPr/>
          <p:nvPr/>
        </p:nvSpPr>
        <p:spPr>
          <a:xfrm>
            <a:off x="3439973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4" name="Shape 82"/>
          <p:cNvSpPr/>
          <p:nvPr/>
        </p:nvSpPr>
        <p:spPr>
          <a:xfrm>
            <a:off x="3558845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5" name="Shape 83"/>
          <p:cNvSpPr/>
          <p:nvPr/>
        </p:nvSpPr>
        <p:spPr>
          <a:xfrm>
            <a:off x="3677717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6" name="Shape 84"/>
          <p:cNvSpPr/>
          <p:nvPr/>
        </p:nvSpPr>
        <p:spPr>
          <a:xfrm>
            <a:off x="3796589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7" name="Shape 85"/>
          <p:cNvSpPr/>
          <p:nvPr/>
        </p:nvSpPr>
        <p:spPr>
          <a:xfrm>
            <a:off x="3915461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8" name="Shape 86"/>
          <p:cNvSpPr/>
          <p:nvPr/>
        </p:nvSpPr>
        <p:spPr>
          <a:xfrm>
            <a:off x="4034333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89" name="Shape 87"/>
          <p:cNvSpPr/>
          <p:nvPr/>
        </p:nvSpPr>
        <p:spPr>
          <a:xfrm>
            <a:off x="4153205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0" name="Shape 88"/>
          <p:cNvSpPr/>
          <p:nvPr/>
        </p:nvSpPr>
        <p:spPr>
          <a:xfrm>
            <a:off x="4272077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90949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2" name="Shape 90"/>
          <p:cNvSpPr/>
          <p:nvPr/>
        </p:nvSpPr>
        <p:spPr>
          <a:xfrm>
            <a:off x="4509821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3" name="Shape 91"/>
          <p:cNvSpPr/>
          <p:nvPr/>
        </p:nvSpPr>
        <p:spPr>
          <a:xfrm>
            <a:off x="4628693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4" name="Shape 92"/>
          <p:cNvSpPr/>
          <p:nvPr/>
        </p:nvSpPr>
        <p:spPr>
          <a:xfrm>
            <a:off x="4747565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66437" y="3520440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96" name="Shape 94"/>
          <p:cNvSpPr/>
          <p:nvPr/>
        </p:nvSpPr>
        <p:spPr>
          <a:xfrm>
            <a:off x="4985309" y="3520440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97" name="Shape 95"/>
          <p:cNvSpPr/>
          <p:nvPr/>
        </p:nvSpPr>
        <p:spPr>
          <a:xfrm>
            <a:off x="5104181" y="3520440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5394960" y="34381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12%</a:t>
            </a:r>
            <a:endParaRPr lang="en-US" sz="950" dirty="0"/>
          </a:p>
        </p:txBody>
      </p:sp>
      <p:sp>
        <p:nvSpPr>
          <p:cNvPr id="99" name="Text 97"/>
          <p:cNvSpPr txBox="1"/>
          <p:nvPr/>
        </p:nvSpPr>
        <p:spPr>
          <a:xfrm>
            <a:off x="768096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risk-officer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2845613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1" name="Shape 99"/>
          <p:cNvSpPr/>
          <p:nvPr/>
        </p:nvSpPr>
        <p:spPr>
          <a:xfrm>
            <a:off x="2964485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083357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202229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321101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439973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558845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3677717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3796589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915461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034333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4153205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4272077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4390949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509821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4628693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747565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4866437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985309" y="3867912"/>
            <a:ext cx="96926" cy="12801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104181" y="3867912"/>
            <a:ext cx="96926" cy="128016"/>
          </a:xfrm>
          <a:prstGeom prst="rect">
            <a:avLst/>
          </a:prstGeom>
          <a:solidFill>
            <a:srgbClr val="232B44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5394960" y="37856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3%</a:t>
            </a:r>
            <a:endParaRPr lang="en-US" sz="950" dirty="0"/>
          </a:p>
        </p:txBody>
      </p:sp>
      <p:sp>
        <p:nvSpPr>
          <p:cNvPr id="121" name="Text 119"/>
          <p:cNvSpPr txBox="1"/>
          <p:nvPr/>
        </p:nvSpPr>
        <p:spPr>
          <a:xfrm>
            <a:off x="768096" y="41148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 의 반려 19% 는 대부분 limits 누락이다 — 프롬프트가 아니라 스킬 문서를 고쳐야 한다는 신호다.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542532" y="1751076"/>
            <a:ext cx="2487168" cy="129844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492240" y="1700784"/>
            <a:ext cx="2487168" cy="129844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6656832" y="184708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82%</a:t>
            </a:r>
            <a:endParaRPr lang="en-US" sz="2300" dirty="0"/>
          </a:p>
        </p:txBody>
      </p:sp>
      <p:sp>
        <p:nvSpPr>
          <p:cNvPr id="125" name="Text 123"/>
          <p:cNvSpPr txBox="1"/>
          <p:nvPr/>
        </p:nvSpPr>
        <p:spPr>
          <a:xfrm>
            <a:off x="6656832" y="226771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성공률</a:t>
            </a:r>
            <a:endParaRPr lang="en-US" sz="1050" dirty="0"/>
          </a:p>
        </p:txBody>
      </p:sp>
      <p:sp>
        <p:nvSpPr>
          <p:cNvPr id="126" name="Text 124"/>
          <p:cNvSpPr txBox="1"/>
          <p:nvPr/>
        </p:nvSpPr>
        <p:spPr>
          <a:xfrm>
            <a:off x="6656832" y="25054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심사 통과분 기준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9157716" y="1751076"/>
            <a:ext cx="2487168" cy="129844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28" name="Shape 126"/>
          <p:cNvSpPr/>
          <p:nvPr/>
        </p:nvSpPr>
        <p:spPr>
          <a:xfrm>
            <a:off x="9107424" y="1700784"/>
            <a:ext cx="2487168" cy="129844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9272016" y="184708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4.1%</a:t>
            </a:r>
            <a:endParaRPr lang="en-US" sz="2300" dirty="0"/>
          </a:p>
        </p:txBody>
      </p:sp>
      <p:sp>
        <p:nvSpPr>
          <p:cNvPr id="130" name="Text 128"/>
          <p:cNvSpPr txBox="1"/>
          <p:nvPr/>
        </p:nvSpPr>
        <p:spPr>
          <a:xfrm>
            <a:off x="9272016" y="226771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승격률 (T2→T3)</a:t>
            </a:r>
            <a:endParaRPr lang="en-US" sz="1050" dirty="0"/>
          </a:p>
        </p:txBody>
      </p:sp>
      <p:sp>
        <p:nvSpPr>
          <p:cNvPr id="131" name="Text 129"/>
          <p:cNvSpPr txBox="1"/>
          <p:nvPr/>
        </p:nvSpPr>
        <p:spPr>
          <a:xfrm>
            <a:off x="9272016" y="25054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간 이견이 주 원인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6542532" y="3159252"/>
            <a:ext cx="2487168" cy="129844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492240" y="3108960"/>
            <a:ext cx="2487168" cy="129844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6656832" y="325526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</a:t>
            </a:r>
            <a:endParaRPr lang="en-US" sz="2300" dirty="0"/>
          </a:p>
        </p:txBody>
      </p:sp>
      <p:sp>
        <p:nvSpPr>
          <p:cNvPr id="135" name="Text 133"/>
          <p:cNvSpPr txBox="1"/>
          <p:nvPr/>
        </p:nvSpPr>
        <p:spPr>
          <a:xfrm>
            <a:off x="6656832" y="367588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stale_days</a:t>
            </a:r>
            <a:endParaRPr lang="en-US" sz="1050" dirty="0"/>
          </a:p>
        </p:txBody>
      </p:sp>
      <p:sp>
        <p:nvSpPr>
          <p:cNvPr id="136" name="Text 134"/>
          <p:cNvSpPr txBox="1"/>
          <p:nvPr/>
        </p:nvSpPr>
        <p:spPr>
          <a:xfrm>
            <a:off x="6656832" y="39136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 3영업일 이내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9157716" y="3159252"/>
            <a:ext cx="2487168" cy="129844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107424" y="3108960"/>
            <a:ext cx="2487168" cy="129844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9272016" y="325526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6편</a:t>
            </a:r>
            <a:endParaRPr lang="en-US" sz="2300" dirty="0"/>
          </a:p>
        </p:txBody>
      </p:sp>
      <p:sp>
        <p:nvSpPr>
          <p:cNvPr id="140" name="Text 138"/>
          <p:cNvSpPr txBox="1"/>
          <p:nvPr/>
        </p:nvSpPr>
        <p:spPr>
          <a:xfrm>
            <a:off x="9272016" y="367588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은퇴 논문 누계</a:t>
            </a:r>
            <a:endParaRPr lang="en-US" sz="1050" dirty="0"/>
          </a:p>
        </p:txBody>
      </p:sp>
      <p:sp>
        <p:nvSpPr>
          <p:cNvPr id="141" name="Text 139"/>
          <p:cNvSpPr txBox="1"/>
          <p:nvPr/>
        </p:nvSpPr>
        <p:spPr>
          <a:xfrm>
            <a:off x="9272016" y="39136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2회 연속 실패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598932" y="4640580"/>
            <a:ext cx="11094415" cy="16459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143" name="Shape 141"/>
          <p:cNvSpPr/>
          <p:nvPr/>
        </p:nvSpPr>
        <p:spPr>
          <a:xfrm>
            <a:off x="548640" y="4590288"/>
            <a:ext cx="11094415" cy="1645920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786384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3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리플레이 — 왜 그렇게 읽었는가를 되짚는다</a:t>
            </a:r>
            <a:endParaRPr lang="en-US" sz="1400" dirty="0"/>
          </a:p>
        </p:txBody>
      </p:sp>
      <p:pic>
        <p:nvPicPr>
          <p:cNvPr id="1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5102352"/>
            <a:ext cx="164592" cy="164592"/>
          </a:xfrm>
          <a:prstGeom prst="rect">
            <a:avLst/>
          </a:prstGeom>
        </p:spPr>
      </p:pic>
      <p:sp>
        <p:nvSpPr>
          <p:cNvPr id="146" name="Text 143"/>
          <p:cNvSpPr txBox="1"/>
          <p:nvPr/>
        </p:nvSpPr>
        <p:spPr>
          <a:xfrm>
            <a:off x="1024128" y="5047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봉투에 instance ID 가 있다</a:t>
            </a:r>
            <a:endParaRPr lang="en-US" sz="1150" dirty="0"/>
          </a:p>
        </p:txBody>
      </p:sp>
      <p:sp>
        <p:nvSpPr>
          <p:cNvPr id="147" name="Text 144"/>
          <p:cNvSpPr txBox="1"/>
          <p:nvPr/>
        </p:nvSpPr>
        <p:spPr>
          <a:xfrm>
            <a:off x="1024128" y="5321808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인스턴스가 어떤 입력으로 만든 문장인지 특정된다.</a:t>
            </a:r>
            <a:endParaRPr lang="en-US" sz="950" dirty="0"/>
          </a:p>
        </p:txBody>
      </p:sp>
      <p:pic>
        <p:nvPicPr>
          <p:cNvPr id="1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5102352"/>
            <a:ext cx="164592" cy="164592"/>
          </a:xfrm>
          <a:prstGeom prst="rect">
            <a:avLst/>
          </a:prstGeom>
        </p:spPr>
      </p:pic>
      <p:sp>
        <p:nvSpPr>
          <p:cNvPr id="149" name="Text 145"/>
          <p:cNvSpPr txBox="1"/>
          <p:nvPr/>
        </p:nvSpPr>
        <p:spPr>
          <a:xfrm>
            <a:off x="4709160" y="5047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인스턴스는 무상태다</a:t>
            </a:r>
            <a:endParaRPr lang="en-US" sz="1150" dirty="0"/>
          </a:p>
        </p:txBody>
      </p:sp>
      <p:sp>
        <p:nvSpPr>
          <p:cNvPr id="150" name="Text 146"/>
          <p:cNvSpPr txBox="1"/>
          <p:nvPr/>
        </p:nvSpPr>
        <p:spPr>
          <a:xfrm>
            <a:off x="4709160" y="5321808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입력을 다시 넣으면 같은 봉투가 나와야 한다 — 안 나오면 그것이 신호다.</a:t>
            </a:r>
            <a:endParaRPr lang="en-US" sz="950" dirty="0"/>
          </a:p>
        </p:txBody>
      </p:sp>
      <p:pic>
        <p:nvPicPr>
          <p:cNvPr id="1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5102352"/>
            <a:ext cx="164592" cy="164592"/>
          </a:xfrm>
          <a:prstGeom prst="rect">
            <a:avLst/>
          </a:prstGeom>
        </p:spPr>
      </p:pic>
      <p:sp>
        <p:nvSpPr>
          <p:cNvPr id="152" name="Text 147"/>
          <p:cNvSpPr txBox="1"/>
          <p:nvPr/>
        </p:nvSpPr>
        <p:spPr>
          <a:xfrm>
            <a:off x="8394192" y="5047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원장은 append-only</a:t>
            </a:r>
            <a:endParaRPr lang="en-US" sz="1150" dirty="0"/>
          </a:p>
        </p:txBody>
      </p:sp>
      <p:sp>
        <p:nvSpPr>
          <p:cNvPr id="153" name="Text 148"/>
          <p:cNvSpPr txBox="1"/>
          <p:nvPr/>
        </p:nvSpPr>
        <p:spPr>
          <a:xfrm>
            <a:off x="8394192" y="5321808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그날의 재현 판정이 남아 있어, 지금 기준이 아니라 그때 기준으로 되짚을 수 있다.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A 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— 기존 자동 실행 시각은 그대로 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SCHEDULE.cmd 의 07:30 · 08:50 · 16:10 을 바꾸지 않는다. 그 사이에 소집·게이트·조립을 끼워 넣는다.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87652"/>
            <a:ext cx="2157984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2157984" cy="566928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07:30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8932" y="2446020"/>
            <a:ext cx="2157984" cy="2889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95728"/>
            <a:ext cx="2157984" cy="28895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254203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수확 · 재현 배치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" y="3200400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312724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arXiv·S2·OpenAlex·Crossref 훑기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" y="3767328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7824" y="369417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 기한 도래분 재현 실행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" y="4334256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42611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최대 1편 · 은퇴 판정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4846320"/>
            <a:ext cx="1865376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" y="48463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배치 (에이전트 아님)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866644" y="1787652"/>
            <a:ext cx="2157984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0" name="Shape 18"/>
          <p:cNvSpPr/>
          <p:nvPr/>
        </p:nvSpPr>
        <p:spPr>
          <a:xfrm>
            <a:off x="2816352" y="1737360"/>
            <a:ext cx="2157984" cy="566928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16352" y="17373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08:50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2866644" y="2446020"/>
            <a:ext cx="2157984" cy="2889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3" name="Shape 21"/>
          <p:cNvSpPr/>
          <p:nvPr/>
        </p:nvSpPr>
        <p:spPr>
          <a:xfrm>
            <a:off x="2816352" y="2395728"/>
            <a:ext cx="2157984" cy="28895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62656" y="254203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+ 소집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80944" y="3200400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145536" y="312724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생성 (기존 그대로)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80944" y="3767328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45536" y="369417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스캔 → 인스턴스 생성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80944" y="4334256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145536" y="42611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병렬 작업 · 봉투 제출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62656" y="4846320"/>
            <a:ext cx="1865376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962656" y="48463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 ~50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134356" y="1787652"/>
            <a:ext cx="2157984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5084064" y="1737360"/>
            <a:ext cx="2157984" cy="566928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84064" y="17373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~15:30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134356" y="2446020"/>
            <a:ext cx="2157984" cy="2889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7" name="Shape 35"/>
          <p:cNvSpPr/>
          <p:nvPr/>
        </p:nvSpPr>
        <p:spPr>
          <a:xfrm>
            <a:off x="5084064" y="2395728"/>
            <a:ext cx="2157984" cy="28895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30368" y="254203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장중 (읽기만)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48656" y="3200400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13248" y="312724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스냅샷은 화면에만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48656" y="3767328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13248" y="369417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원장에 쓰지 않는다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48656" y="4334256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13248" y="42611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데스크는 돌지 않는다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30368" y="4846320"/>
            <a:ext cx="1865376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230368" y="48463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standing only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7402068" y="1787652"/>
            <a:ext cx="2157984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8" name="Shape 46"/>
          <p:cNvSpPr/>
          <p:nvPr/>
        </p:nvSpPr>
        <p:spPr>
          <a:xfrm>
            <a:off x="7351776" y="1737360"/>
            <a:ext cx="2157984" cy="56692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351776" y="17373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16:10</a:t>
            </a:r>
            <a:endParaRPr lang="en-US" sz="1900" dirty="0"/>
          </a:p>
        </p:txBody>
      </p:sp>
      <p:sp>
        <p:nvSpPr>
          <p:cNvPr id="50" name="Shape 48"/>
          <p:cNvSpPr/>
          <p:nvPr/>
        </p:nvSpPr>
        <p:spPr>
          <a:xfrm>
            <a:off x="7402068" y="2446020"/>
            <a:ext cx="2157984" cy="2889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1" name="Shape 49"/>
          <p:cNvSpPr/>
          <p:nvPr/>
        </p:nvSpPr>
        <p:spPr>
          <a:xfrm>
            <a:off x="7351776" y="2395728"/>
            <a:ext cx="2157984" cy="28895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98080" y="254203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 적재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516368" y="3200400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680960" y="312724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그날의 유일한 원장 쓰기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516368" y="3767328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680960" y="369417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catchup 으로 영업일 채움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516368" y="4334256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680960" y="42611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stale_days 갱신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498080" y="4846320"/>
            <a:ext cx="1865376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498080" y="48463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data-ops 단독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9669780" y="1787652"/>
            <a:ext cx="2157984" cy="56692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2" name="Shape 60"/>
          <p:cNvSpPr/>
          <p:nvPr/>
        </p:nvSpPr>
        <p:spPr>
          <a:xfrm>
            <a:off x="9619488" y="1737360"/>
            <a:ext cx="2157984" cy="566928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619488" y="17373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</a:t>
            </a:r>
            <a:endParaRPr lang="en-US" sz="1900" dirty="0"/>
          </a:p>
        </p:txBody>
      </p:sp>
      <p:sp>
        <p:nvSpPr>
          <p:cNvPr id="64" name="Shape 62"/>
          <p:cNvSpPr/>
          <p:nvPr/>
        </p:nvSpPr>
        <p:spPr>
          <a:xfrm>
            <a:off x="9669780" y="2446020"/>
            <a:ext cx="2157984" cy="288950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5" name="Shape 63"/>
          <p:cNvSpPr/>
          <p:nvPr/>
        </p:nvSpPr>
        <p:spPr>
          <a:xfrm>
            <a:off x="9619488" y="2395728"/>
            <a:ext cx="2157984" cy="2889504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765792" y="254203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→ 조립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784080" y="3200400"/>
            <a:ext cx="73152" cy="73152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948672" y="312724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검산 → compliance 판정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784080" y="3767328"/>
            <a:ext cx="73152" cy="73152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9948672" y="369417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통과분만 ic-chair 로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784080" y="4334256"/>
            <a:ext cx="73152" cy="73152"/>
          </a:xfrm>
          <a:prstGeom prst="rect">
            <a:avLst/>
          </a:prstGeom>
          <a:solidFill>
            <a:srgbClr val="FFD34E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9948672" y="42611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반려분은 사유와 함께 남는다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765792" y="4846320"/>
            <a:ext cx="1865376" cy="292608"/>
          </a:xfrm>
          <a:prstGeom prst="rect">
            <a:avLst/>
          </a:prstGeom>
          <a:solidFill>
            <a:srgbClr val="1F2740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765792" y="48463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D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발행</a:t>
            </a:r>
            <a:endParaRPr lang="en-US" sz="880" dirty="0"/>
          </a:p>
        </p:txBody>
      </p:sp>
      <p:sp>
        <p:nvSpPr>
          <p:cNvPr id="75" name="Shape 73"/>
          <p:cNvSpPr/>
          <p:nvPr/>
        </p:nvSpPr>
        <p:spPr>
          <a:xfrm>
            <a:off x="598932" y="5500116"/>
            <a:ext cx="11094415" cy="78638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6" name="Shape 74"/>
          <p:cNvSpPr/>
          <p:nvPr/>
        </p:nvSpPr>
        <p:spPr>
          <a:xfrm>
            <a:off x="548640" y="5449824"/>
            <a:ext cx="11094415" cy="78638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86384" y="5449824"/>
            <a:ext cx="1061892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장중에 데스크를 돌리지 않는 이유 —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 장부 위에 세운 해석을 장중 값과 섞으면 무엇을 근거로 읽었는지가 시각마다 달라진다. 하루 한 번, 같은 기준일 위에서만 읽는다.
</a:t>
            </a:r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재현을 07:30 배치로 두는 이유 —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재현은 판단이 아니라 계산이다. 에이전트가 아니라 결정적 코드가 돌려야 매번 같은 답이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10주 — 재현 관문을 먼저 세우고 그 위에 소집을 얹는다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파이프라인이 먼저다. 재현되지 않은 방법론 위에 에이전트를 아무리 많이 띄워도 의미가 없다.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" y="1769364"/>
            <a:ext cx="2157984" cy="4206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2157984" cy="420624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1907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 ·  W1–2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8932" y="2281428"/>
            <a:ext cx="21579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31136"/>
            <a:ext cx="21579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6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원장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035808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296265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ki.papers/2 스키마 전환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" y="3602736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7824" y="35295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· replication · 반감기 필드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" y="4169664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409651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12편을 원장 형식으로 이관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232" y="4736592"/>
            <a:ext cx="73152" cy="73152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7824" y="4663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ledger.papers MCP 도구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66644" y="1769364"/>
            <a:ext cx="2157984" cy="4206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0" name="Shape 18"/>
          <p:cNvSpPr/>
          <p:nvPr/>
        </p:nvSpPr>
        <p:spPr>
          <a:xfrm>
            <a:off x="2816352" y="1719072"/>
            <a:ext cx="2157984" cy="420624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16352" y="171907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 ·  W3–4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66644" y="2281428"/>
            <a:ext cx="21579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23" name="Shape 21"/>
          <p:cNvSpPr/>
          <p:nvPr/>
        </p:nvSpPr>
        <p:spPr>
          <a:xfrm>
            <a:off x="2816352" y="2231136"/>
            <a:ext cx="21579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62656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관문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980944" y="3035808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145536" y="296265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 재현 러너 (결정적 코드)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80944" y="3602736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45536" y="35295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 소급 재현 → 판정 기록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80944" y="4169664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145536" y="409651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실패분 warned 처리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80944" y="4736592"/>
            <a:ext cx="73152" cy="73152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145536" y="4663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③ 코드화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34356" y="1769364"/>
            <a:ext cx="2157984" cy="4206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5084064" y="1719072"/>
            <a:ext cx="2157984" cy="420624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84064" y="171907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 ·  W5–6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34356" y="2281428"/>
            <a:ext cx="21579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37" name="Shape 35"/>
          <p:cNvSpPr/>
          <p:nvPr/>
        </p:nvSpPr>
        <p:spPr>
          <a:xfrm>
            <a:off x="5084064" y="2231136"/>
            <a:ext cx="21579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30368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수확 상시화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248656" y="3035808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13248" y="296265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fetch_papers 주간 스케줄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48656" y="3602736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13248" y="35295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→ 재현 → 채택 연결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48656" y="4169664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13248" y="409651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감가·은퇴 배치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48656" y="4736592"/>
            <a:ext cx="73152" cy="73152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413248" y="4663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2편 채택 목표 검증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02068" y="1769364"/>
            <a:ext cx="2157984" cy="4206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8" name="Shape 46"/>
          <p:cNvSpPr/>
          <p:nvPr/>
        </p:nvSpPr>
        <p:spPr>
          <a:xfrm>
            <a:off x="7351776" y="1719072"/>
            <a:ext cx="2157984" cy="420624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351776" y="171907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  ·  W7–8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402068" y="2281428"/>
            <a:ext cx="21579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1" name="Shape 49"/>
          <p:cNvSpPr/>
          <p:nvPr/>
        </p:nvSpPr>
        <p:spPr>
          <a:xfrm>
            <a:off x="7351776" y="2231136"/>
            <a:ext cx="21579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98080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7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소집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516368" y="3035808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680960" y="296265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스캐너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516368" y="3602736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680960" y="35295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생성·예산·소멸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516368" y="4169664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680960" y="409651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T1~T3 에스컬레이션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516368" y="4736592"/>
            <a:ext cx="73152" cy="73152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680960" y="4663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 v2 · instance ID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669780" y="1769364"/>
            <a:ext cx="2157984" cy="42062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2" name="Shape 60"/>
          <p:cNvSpPr/>
          <p:nvPr/>
        </p:nvSpPr>
        <p:spPr>
          <a:xfrm>
            <a:off x="9619488" y="1719072"/>
            <a:ext cx="2157984" cy="420624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619488" y="171907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  ·  W9–10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669780" y="2281428"/>
            <a:ext cx="2157984" cy="301752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5" name="Shape 63"/>
          <p:cNvSpPr/>
          <p:nvPr/>
        </p:nvSpPr>
        <p:spPr>
          <a:xfrm>
            <a:off x="9619488" y="2231136"/>
            <a:ext cx="2157984" cy="3017520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765792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 운영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9784080" y="3035808"/>
            <a:ext cx="73152" cy="7315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948672" y="296265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산출과 2주 대조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784080" y="3602736"/>
            <a:ext cx="73152" cy="7315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9948672" y="35295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스코어카드 · 리플레이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784080" y="4169664"/>
            <a:ext cx="73152" cy="7315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9948672" y="409651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 원인 전수 분석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784080" y="4736592"/>
            <a:ext cx="73152" cy="7315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948672" y="4663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여부는 사람이 결정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98932" y="5481828"/>
            <a:ext cx="3602736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6" name="Shape 74"/>
          <p:cNvSpPr/>
          <p:nvPr/>
        </p:nvSpPr>
        <p:spPr>
          <a:xfrm>
            <a:off x="548640" y="5431536"/>
            <a:ext cx="3602736" cy="69494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31520" y="55229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종료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731520" y="574243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12편이 코스닥에서 성립하는지 처음으로 알게 된다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357116" y="5481828"/>
            <a:ext cx="3602736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80" name="Shape 78"/>
          <p:cNvSpPr/>
          <p:nvPr/>
        </p:nvSpPr>
        <p:spPr>
          <a:xfrm>
            <a:off x="4306824" y="5431536"/>
            <a:ext cx="3602736" cy="69494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489704" y="55229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종료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4489704" y="574243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대지 않아도 채택본이 갱신된다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115300" y="5481828"/>
            <a:ext cx="3602736" cy="694944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84" name="Shape 82"/>
          <p:cNvSpPr/>
          <p:nvPr/>
        </p:nvSpPr>
        <p:spPr>
          <a:xfrm>
            <a:off x="8065008" y="5431536"/>
            <a:ext cx="3602736" cy="694944"/>
          </a:xfrm>
          <a:prstGeom prst="rect">
            <a:avLst/>
          </a:prstGeom>
          <a:solidFill>
            <a:srgbClr val="111726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247888" y="55229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 종료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8247888" y="574243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 2주 결과로 전환 여부를 사람이 결정한다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2296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5214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1673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48132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64592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1051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97510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13969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30428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46888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63347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79806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96265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12724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29184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45643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62102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78561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95020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27939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44398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60857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77316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93776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26694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43153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59612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576072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592531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089904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254496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419088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83680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6748272"/>
            <a:ext cx="12191695" cy="27432"/>
          </a:xfrm>
          <a:prstGeom prst="rect">
            <a:avLst/>
          </a:prstGeom>
          <a:solidFill>
            <a:srgbClr val="12182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8640" y="42062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▚ NEXT STEP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94944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주에 할 것과, 무엇으로 성공을 판정할 것인가</a:t>
            </a:r>
            <a:endParaRPr lang="en-US" sz="2800" dirty="0"/>
          </a:p>
        </p:txBody>
      </p:sp>
      <p:sp>
        <p:nvSpPr>
          <p:cNvPr id="46" name="Shape 44"/>
          <p:cNvSpPr/>
          <p:nvPr/>
        </p:nvSpPr>
        <p:spPr>
          <a:xfrm>
            <a:off x="598932" y="1531620"/>
            <a:ext cx="7040880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47" name="Shape 45"/>
          <p:cNvSpPr/>
          <p:nvPr/>
        </p:nvSpPr>
        <p:spPr>
          <a:xfrm>
            <a:off x="548640" y="1481328"/>
            <a:ext cx="7040880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" y="1655064"/>
            <a:ext cx="402336" cy="402336"/>
          </a:xfrm>
          <a:prstGeom prst="rect">
            <a:avLst/>
          </a:prstGeom>
          <a:solidFill>
            <a:srgbClr val="3DFA7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13232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261872" y="15819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가능한 주장으로 12편을 환원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1261872" y="18562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논문에서 방향이 있는 한 문장을 뽑는다. 환원 안 되는 논문은 재현 대상에서 뺀다.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6601968" y="15819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98932" y="2391156"/>
            <a:ext cx="7040880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54" name="Shape 52"/>
          <p:cNvSpPr/>
          <p:nvPr/>
        </p:nvSpPr>
        <p:spPr>
          <a:xfrm>
            <a:off x="548640" y="2340864"/>
            <a:ext cx="7040880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3232" y="2514600"/>
            <a:ext cx="402336" cy="402336"/>
          </a:xfrm>
          <a:prstGeom prst="rect">
            <a:avLst/>
          </a:prstGeom>
          <a:solidFill>
            <a:srgbClr val="35D6E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13232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1261872" y="24414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ki.papers/2 스키마 확정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1261872" y="27157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· replication · half_life · limits. 코드보다 먼저 한 장으로 합의한다.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601968" y="2441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98932" y="3250692"/>
            <a:ext cx="7040880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1" name="Shape 59"/>
          <p:cNvSpPr/>
          <p:nvPr/>
        </p:nvSpPr>
        <p:spPr>
          <a:xfrm>
            <a:off x="548640" y="3200400"/>
            <a:ext cx="7040880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3232" y="3374136"/>
            <a:ext cx="402336" cy="40233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13232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1261872" y="33009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러너 골격</a:t>
            </a:r>
            <a:endParaRPr lang="en-US" sz="1250" dirty="0"/>
          </a:p>
        </p:txBody>
      </p:sp>
      <p:sp>
        <p:nvSpPr>
          <p:cNvPr id="65" name="Text 63"/>
          <p:cNvSpPr txBox="1"/>
          <p:nvPr/>
        </p:nvSpPr>
        <p:spPr>
          <a:xfrm>
            <a:off x="1261872" y="35753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 하나(amihud2002)만 먼저. 원장 일봉으로 분위 스프레드 부호를 본다.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6601968" y="33009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8932" y="4110228"/>
            <a:ext cx="7040880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68" name="Shape 66"/>
          <p:cNvSpPr/>
          <p:nvPr/>
        </p:nvSpPr>
        <p:spPr>
          <a:xfrm>
            <a:off x="548640" y="4059936"/>
            <a:ext cx="7040880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3232" y="4233672"/>
            <a:ext cx="402336" cy="402336"/>
          </a:xfrm>
          <a:prstGeom prst="rect">
            <a:avLst/>
          </a:prstGeom>
          <a:solidFill>
            <a:srgbClr val="9D7BF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13232" y="4233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1261872" y="41605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 소급 재현</a:t>
            </a:r>
            <a:endParaRPr lang="en-US" sz="1250" dirty="0"/>
          </a:p>
        </p:txBody>
      </p:sp>
      <p:sp>
        <p:nvSpPr>
          <p:cNvPr id="72" name="Text 70"/>
          <p:cNvSpPr txBox="1"/>
          <p:nvPr/>
        </p:nvSpPr>
        <p:spPr>
          <a:xfrm>
            <a:off x="1261872" y="44348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편이 코스닥에서 살아남는지 실제로 센다. 이 숫자가 이 방안의 출발점이다.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6601968" y="4160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98932" y="4969764"/>
            <a:ext cx="7040880" cy="749808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75" name="Shape 73"/>
          <p:cNvSpPr/>
          <p:nvPr/>
        </p:nvSpPr>
        <p:spPr>
          <a:xfrm>
            <a:off x="548640" y="4919472"/>
            <a:ext cx="7040880" cy="749808"/>
          </a:xfrm>
          <a:prstGeom prst="rect">
            <a:avLst/>
          </a:prstGeom>
          <a:solidFill>
            <a:srgbClr val="171E30"/>
          </a:solidFill>
          <a:ln w="15875">
            <a:solidFill>
              <a:srgbClr val="2E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3232" y="5093208"/>
            <a:ext cx="402336" cy="40233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713232" y="5093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1261872" y="50200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발생률 역산</a:t>
            </a:r>
            <a:endParaRPr lang="en-US" sz="1250" dirty="0"/>
          </a:p>
        </p:txBody>
      </p:sp>
      <p:sp>
        <p:nvSpPr>
          <p:cNvPr id="79" name="Text 77"/>
          <p:cNvSpPr txBox="1"/>
          <p:nvPr/>
        </p:nvSpPr>
        <p:spPr>
          <a:xfrm>
            <a:off x="1261872" y="52943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원장의 공시·변동 이력으로 실제 소집 건수를 계산한다. 가정값을 실측으로 바꾼다.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6601968" y="50200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7863840" y="1481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성공 판정 지표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7863840" y="18470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F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?편</a:t>
            </a:r>
            <a:endParaRPr lang="en-US" sz="2500" dirty="0"/>
          </a:p>
        </p:txBody>
      </p:sp>
      <p:sp>
        <p:nvSpPr>
          <p:cNvPr id="83" name="Text 81"/>
          <p:cNvSpPr txBox="1"/>
          <p:nvPr/>
        </p:nvSpPr>
        <p:spPr>
          <a:xfrm>
            <a:off x="7863840" y="2267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12편 중 코스닥 재현 통과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863840" y="24871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숫자를 모르는 채로 쓰고 있었다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7863840" y="29077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5D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≥2편/주</a:t>
            </a:r>
            <a:endParaRPr lang="en-US" sz="2500" dirty="0"/>
          </a:p>
        </p:txBody>
      </p:sp>
      <p:sp>
        <p:nvSpPr>
          <p:cNvPr id="86" name="Text 84"/>
          <p:cNvSpPr txBox="1"/>
          <p:nvPr/>
        </p:nvSpPr>
        <p:spPr>
          <a:xfrm>
            <a:off x="7863840" y="33284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채택 유입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7863840" y="3547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손대지 않아도 갱신되는가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7863840" y="39684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0건</a:t>
            </a:r>
            <a:endParaRPr lang="en-US" sz="2500" dirty="0"/>
          </a:p>
        </p:txBody>
      </p:sp>
      <p:sp>
        <p:nvSpPr>
          <p:cNvPr id="89" name="Text 87"/>
          <p:cNvSpPr txBox="1"/>
          <p:nvPr/>
        </p:nvSpPr>
        <p:spPr>
          <a:xfrm>
            <a:off x="7863840" y="43891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미재현 논문 인용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7863840" y="46085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③ 반려 건수</a:t>
            </a:r>
            <a:endParaRPr lang="en-US" sz="900" dirty="0"/>
          </a:p>
        </p:txBody>
      </p:sp>
      <p:sp>
        <p:nvSpPr>
          <p:cNvPr id="91" name="Text 89"/>
          <p:cNvSpPr txBox="1"/>
          <p:nvPr/>
        </p:nvSpPr>
        <p:spPr>
          <a:xfrm>
            <a:off x="7863840" y="50292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-80%</a:t>
            </a:r>
            <a:endParaRPr lang="en-US" sz="2500" dirty="0"/>
          </a:p>
        </p:txBody>
      </p:sp>
      <p:sp>
        <p:nvSpPr>
          <p:cNvPr id="92" name="Text 90"/>
          <p:cNvSpPr txBox="1"/>
          <p:nvPr/>
        </p:nvSpPr>
        <p:spPr>
          <a:xfrm>
            <a:off x="7863840" y="54498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부하</a:t>
            </a:r>
            <a:endParaRPr 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7863840" y="56692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커버리지 기준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98932" y="5829300"/>
            <a:ext cx="7040880" cy="457200"/>
          </a:xfrm>
          <a:prstGeom prst="rect">
            <a:avLst/>
          </a:prstGeom>
          <a:solidFill>
            <a:srgbClr val="070A12"/>
          </a:solidFill>
          <a:ln/>
        </p:spPr>
      </p:sp>
      <p:sp>
        <p:nvSpPr>
          <p:cNvPr id="95" name="Shape 93"/>
          <p:cNvSpPr/>
          <p:nvPr/>
        </p:nvSpPr>
        <p:spPr>
          <a:xfrm>
            <a:off x="548640" y="5779008"/>
            <a:ext cx="7040880" cy="457200"/>
          </a:xfrm>
          <a:prstGeom prst="rect">
            <a:avLst/>
          </a:prstGeom>
          <a:solidFill>
            <a:srgbClr val="16281C"/>
          </a:solidFill>
          <a:ln w="15875">
            <a:solidFill>
              <a:srgbClr val="2A5A3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68096" y="577900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FA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알아야 할 것은 "12편 중 몇 편이 우리 시장에서 살아있는가" 다.</a:t>
            </a:r>
            <a:endParaRPr lang="en-US" sz="1100" dirty="0"/>
          </a:p>
        </p:txBody>
      </p:sp>
      <p:sp>
        <p:nvSpPr>
          <p:cNvPr id="97" name="Text 95"/>
          <p:cNvSpPr txBox="1"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내부 검토용 · 대외비 · 투자권유 자료 아님 · 계획안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Agent v2 — 살아있는 리서치 데스크</dc:title>
  <dc:subject>PptxGenJS Presentation</dc:subject>
  <dc:creator>PptxGenJS</dc:creator>
  <cp:lastModifiedBy>PptxGenJS</cp:lastModifiedBy>
  <cp:revision>1</cp:revision>
  <dcterms:created xsi:type="dcterms:W3CDTF">2026-09-13T12:50:43Z</dcterms:created>
  <dcterms:modified xsi:type="dcterms:W3CDTF">2026-09-13T12:50:43Z</dcterms:modified>
</cp:coreProperties>
</file>