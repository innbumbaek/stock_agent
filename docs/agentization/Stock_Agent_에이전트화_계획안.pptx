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유지</c:v>
                </c:pt>
              </c:strCache>
            </c:strRef>
          </c:tx>
          <c:spPr>
            <a:solidFill>
              <a:srgbClr val="26A455"/>
            </a:solidFill>
            <a:ln w="19050" cap="flat">
              <a:solidFill>
                <a:srgbClr val="171E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18</c:v>
                </c:pt>
                <c:pt idx="2">
                  <c:v>25</c:v>
                </c:pt>
                <c:pt idx="3">
                  <c:v>32</c:v>
                </c:pt>
                <c:pt idx="4">
                  <c:v>38</c:v>
                </c:pt>
                <c:pt idx="5">
                  <c:v>43</c:v>
                </c:pt>
                <c:pt idx="6">
                  <c:v>47</c:v>
                </c:pt>
                <c:pt idx="7">
                  <c:v>50</c:v>
                </c:pt>
                <c:pt idx="8">
                  <c:v>54</c:v>
                </c:pt>
                <c:pt idx="9">
                  <c:v>57</c:v>
                </c:pt>
                <c:pt idx="10">
                  <c:v>60</c:v>
                </c:pt>
                <c:pt idx="11">
                  <c:v>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신규 채택</c:v>
                </c:pt>
              </c:strCache>
            </c:strRef>
          </c:tx>
          <c:spPr>
            <a:solidFill>
              <a:srgbClr val="2596B0"/>
            </a:solidFill>
            <a:ln w="19050" cap="flat">
              <a:solidFill>
                <a:srgbClr val="171E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은퇴</c:v>
                </c:pt>
              </c:strCache>
            </c:strRef>
          </c:tx>
          <c:spPr>
            <a:solidFill>
              <a:srgbClr val="C93B54"/>
            </a:solidFill>
            <a:ln w="19050" cap="flat">
              <a:solidFill>
                <a:srgbClr val="171E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4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3A2C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2A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3A2C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E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3A2C0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171E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전수 실행 (85×7)</c:v>
                </c:pt>
              </c:strCache>
            </c:strRef>
          </c:tx>
          <c:spPr>
            <a:solidFill>
              <a:srgbClr val="C93B54"/>
            </a:solidFill>
            <a:ln w="38100" cap="flat">
              <a:solidFill>
                <a:srgbClr val="C93B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3B54"/>
              </a:solidFill>
              <a:ln w="9525" cap="flat">
                <a:solidFill>
                  <a:srgbClr val="C93B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  <c:pt idx="14">
                    <c:v>D15</c:v>
                  </c:pt>
                  <c:pt idx="15">
                    <c:v>D16</c:v>
                  </c:pt>
                  <c:pt idx="16">
                    <c:v>D17</c:v>
                  </c:pt>
                  <c:pt idx="17">
                    <c:v>D18</c:v>
                  </c:pt>
                  <c:pt idx="18">
                    <c:v>D19</c:v>
                  </c:pt>
                  <c:pt idx="19">
                    <c:v>D20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595</c:v>
                </c:pt>
                <c:pt idx="1">
                  <c:v>595</c:v>
                </c:pt>
                <c:pt idx="2">
                  <c:v>595</c:v>
                </c:pt>
                <c:pt idx="3">
                  <c:v>595</c:v>
                </c:pt>
                <c:pt idx="4">
                  <c:v>595</c:v>
                </c:pt>
                <c:pt idx="5">
                  <c:v>595</c:v>
                </c:pt>
                <c:pt idx="6">
                  <c:v>595</c:v>
                </c:pt>
                <c:pt idx="7">
                  <c:v>595</c:v>
                </c:pt>
                <c:pt idx="8">
                  <c:v>595</c:v>
                </c:pt>
                <c:pt idx="9">
                  <c:v>595</c:v>
                </c:pt>
                <c:pt idx="10">
                  <c:v>595</c:v>
                </c:pt>
                <c:pt idx="11">
                  <c:v>595</c:v>
                </c:pt>
                <c:pt idx="12">
                  <c:v>595</c:v>
                </c:pt>
                <c:pt idx="13">
                  <c:v>595</c:v>
                </c:pt>
                <c:pt idx="14">
                  <c:v>595</c:v>
                </c:pt>
                <c:pt idx="15">
                  <c:v>595</c:v>
                </c:pt>
                <c:pt idx="16">
                  <c:v>595</c:v>
                </c:pt>
                <c:pt idx="17">
                  <c:v>595</c:v>
                </c:pt>
                <c:pt idx="18">
                  <c:v>595</c:v>
                </c:pt>
                <c:pt idx="19">
                  <c:v>595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이벤트 소집</c:v>
                </c:pt>
              </c:strCache>
            </c:strRef>
          </c:tx>
          <c:spPr>
            <a:solidFill>
              <a:srgbClr val="26A455"/>
            </a:solidFill>
            <a:ln w="38100" cap="flat">
              <a:solidFill>
                <a:srgbClr val="26A4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6A455"/>
              </a:solidFill>
              <a:ln w="9525" cap="flat">
                <a:solidFill>
                  <a:srgbClr val="26A4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  <c:pt idx="14">
                    <c:v>D15</c:v>
                  </c:pt>
                  <c:pt idx="15">
                    <c:v>D16</c:v>
                  </c:pt>
                  <c:pt idx="16">
                    <c:v>D17</c:v>
                  </c:pt>
                  <c:pt idx="17">
                    <c:v>D18</c:v>
                  </c:pt>
                  <c:pt idx="18">
                    <c:v>D19</c:v>
                  </c:pt>
                  <c:pt idx="19">
                    <c:v>D20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64</c:v>
                </c:pt>
                <c:pt idx="1">
                  <c:v>88</c:v>
                </c:pt>
                <c:pt idx="2">
                  <c:v>74</c:v>
                </c:pt>
                <c:pt idx="3">
                  <c:v>103</c:v>
                </c:pt>
                <c:pt idx="4">
                  <c:v>59</c:v>
                </c:pt>
                <c:pt idx="5">
                  <c:v>83</c:v>
                </c:pt>
                <c:pt idx="6">
                  <c:v>148</c:v>
                </c:pt>
                <c:pt idx="7">
                  <c:v>69</c:v>
                </c:pt>
                <c:pt idx="8">
                  <c:v>96</c:v>
                </c:pt>
                <c:pt idx="9">
                  <c:v>78</c:v>
                </c:pt>
                <c:pt idx="10">
                  <c:v>121</c:v>
                </c:pt>
                <c:pt idx="11">
                  <c:v>66</c:v>
                </c:pt>
                <c:pt idx="12">
                  <c:v>93</c:v>
                </c:pt>
                <c:pt idx="13">
                  <c:v>108</c:v>
                </c:pt>
                <c:pt idx="14">
                  <c:v>72</c:v>
                </c:pt>
                <c:pt idx="15">
                  <c:v>86</c:v>
                </c:pt>
                <c:pt idx="16">
                  <c:v>79</c:v>
                </c:pt>
                <c:pt idx="17">
                  <c:v>162</c:v>
                </c:pt>
                <c:pt idx="18">
                  <c:v>98</c:v>
                </c:pt>
                <c:pt idx="19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87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12700" cap="flat">
              <a:solidFill>
                <a:srgbClr val="2A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2C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E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3A2C0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171E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229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521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167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4813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6459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105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9751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1396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3042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4688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6334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79806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96265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12724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29184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45643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62102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78561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95020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2793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4439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6085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7731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9377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2669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4315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5961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57607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59253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0899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2544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836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67482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8640" y="4754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STOCK_AGENT  ·  에이전트화 계획안  ·  INTERNAL  ·  NOT INVESTMENT ADVICE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1170432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리서치 데스크</a:t>
            </a:r>
            <a:endParaRPr lang="en-US" sz="46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19751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논문이 흐르고, 에이전트가 소집된다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24505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증권사 조직을 그대로 옮기되, 논문은 매주 새로 들어와 재현 검사를 통과한 것만 살아남고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이벤트가 뜰 때만 소집됐다가 봉투를 내고 사라진다.</a:t>
            </a:r>
            <a:endParaRPr lang="en-US" sz="13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75888"/>
            <a:ext cx="749808" cy="749808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438912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기업분석</a:t>
            </a:r>
            <a:endParaRPr lang="en-US" sz="850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675888"/>
            <a:ext cx="749808" cy="749808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1005840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계량</a:t>
            </a:r>
            <a:endParaRPr lang="en-US" sz="850" dirty="0"/>
          </a:p>
        </p:txBody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3675888"/>
            <a:ext cx="749808" cy="749808"/>
          </a:xfrm>
          <a:prstGeom prst="rect">
            <a:avLst/>
          </a:prstGeom>
        </p:spPr>
      </p:pic>
      <p:sp>
        <p:nvSpPr>
          <p:cNvPr id="53" name="Text 48"/>
          <p:cNvSpPr txBox="1"/>
          <p:nvPr/>
        </p:nvSpPr>
        <p:spPr>
          <a:xfrm>
            <a:off x="1572768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매크로</a:t>
            </a:r>
            <a:endParaRPr lang="en-US" sz="850" dirty="0"/>
          </a:p>
        </p:txBody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3675888"/>
            <a:ext cx="749808" cy="74980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2139696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집행</a:t>
            </a:r>
            <a:endParaRPr lang="en-US" sz="850" dirty="0"/>
          </a:p>
        </p:txBody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6352" y="3675888"/>
            <a:ext cx="749808" cy="749808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2706624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리스크</a:t>
            </a:r>
            <a:endParaRPr lang="en-US" sz="850" dirty="0"/>
          </a:p>
        </p:txBody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675888"/>
            <a:ext cx="749808" cy="749808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3273552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준법</a:t>
            </a:r>
            <a:endParaRPr lang="en-US" sz="850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208" y="3675888"/>
            <a:ext cx="749808" cy="749808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3840480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데이터</a:t>
            </a:r>
            <a:endParaRPr lang="en-US" sz="850" dirty="0"/>
          </a:p>
        </p:txBody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136" y="3675888"/>
            <a:ext cx="749808" cy="749808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4407408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간사</a:t>
            </a:r>
            <a:endParaRPr lang="en-US" sz="850" dirty="0"/>
          </a:p>
        </p:txBody>
      </p:sp>
      <p:sp>
        <p:nvSpPr>
          <p:cNvPr id="64" name="Shape 54"/>
          <p:cNvSpPr/>
          <p:nvPr/>
        </p:nvSpPr>
        <p:spPr>
          <a:xfrm>
            <a:off x="530352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65" name="Shape 55"/>
          <p:cNvSpPr/>
          <p:nvPr/>
        </p:nvSpPr>
        <p:spPr>
          <a:xfrm>
            <a:off x="648310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66" name="Shape 56"/>
          <p:cNvSpPr/>
          <p:nvPr/>
        </p:nvSpPr>
        <p:spPr>
          <a:xfrm>
            <a:off x="766267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67" name="Shape 57"/>
          <p:cNvSpPr/>
          <p:nvPr/>
        </p:nvSpPr>
        <p:spPr>
          <a:xfrm>
            <a:off x="884225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68" name="Shape 58"/>
          <p:cNvSpPr/>
          <p:nvPr/>
        </p:nvSpPr>
        <p:spPr>
          <a:xfrm>
            <a:off x="1002182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69" name="Shape 59"/>
          <p:cNvSpPr/>
          <p:nvPr/>
        </p:nvSpPr>
        <p:spPr>
          <a:xfrm>
            <a:off x="1120140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70" name="Shape 60"/>
          <p:cNvSpPr/>
          <p:nvPr/>
        </p:nvSpPr>
        <p:spPr>
          <a:xfrm>
            <a:off x="1238098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71" name="Shape 61"/>
          <p:cNvSpPr/>
          <p:nvPr/>
        </p:nvSpPr>
        <p:spPr>
          <a:xfrm>
            <a:off x="1356055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72" name="Shape 62"/>
          <p:cNvSpPr/>
          <p:nvPr/>
        </p:nvSpPr>
        <p:spPr>
          <a:xfrm>
            <a:off x="1474013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73" name="Shape 63"/>
          <p:cNvSpPr/>
          <p:nvPr/>
        </p:nvSpPr>
        <p:spPr>
          <a:xfrm>
            <a:off x="1591970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74" name="Shape 64"/>
          <p:cNvSpPr/>
          <p:nvPr/>
        </p:nvSpPr>
        <p:spPr>
          <a:xfrm>
            <a:off x="1709928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75" name="Shape 65"/>
          <p:cNvSpPr/>
          <p:nvPr/>
        </p:nvSpPr>
        <p:spPr>
          <a:xfrm>
            <a:off x="1827886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76" name="Shape 66"/>
          <p:cNvSpPr/>
          <p:nvPr/>
        </p:nvSpPr>
        <p:spPr>
          <a:xfrm>
            <a:off x="1945843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77" name="Shape 67"/>
          <p:cNvSpPr/>
          <p:nvPr/>
        </p:nvSpPr>
        <p:spPr>
          <a:xfrm>
            <a:off x="2063801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78" name="Shape 68"/>
          <p:cNvSpPr/>
          <p:nvPr/>
        </p:nvSpPr>
        <p:spPr>
          <a:xfrm>
            <a:off x="2181758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79" name="Shape 69"/>
          <p:cNvSpPr/>
          <p:nvPr/>
        </p:nvSpPr>
        <p:spPr>
          <a:xfrm>
            <a:off x="2299716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80" name="Shape 70"/>
          <p:cNvSpPr/>
          <p:nvPr/>
        </p:nvSpPr>
        <p:spPr>
          <a:xfrm>
            <a:off x="2417674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81" name="Shape 71"/>
          <p:cNvSpPr/>
          <p:nvPr/>
        </p:nvSpPr>
        <p:spPr>
          <a:xfrm>
            <a:off x="2535631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82" name="Shape 72"/>
          <p:cNvSpPr/>
          <p:nvPr/>
        </p:nvSpPr>
        <p:spPr>
          <a:xfrm>
            <a:off x="2653589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83" name="Shape 73"/>
          <p:cNvSpPr/>
          <p:nvPr/>
        </p:nvSpPr>
        <p:spPr>
          <a:xfrm>
            <a:off x="2771546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84" name="Shape 74"/>
          <p:cNvSpPr/>
          <p:nvPr/>
        </p:nvSpPr>
        <p:spPr>
          <a:xfrm>
            <a:off x="2889504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85" name="Shape 75"/>
          <p:cNvSpPr/>
          <p:nvPr/>
        </p:nvSpPr>
        <p:spPr>
          <a:xfrm>
            <a:off x="3007462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86" name="Shape 76"/>
          <p:cNvSpPr/>
          <p:nvPr/>
        </p:nvSpPr>
        <p:spPr>
          <a:xfrm>
            <a:off x="3125419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87" name="Shape 77"/>
          <p:cNvSpPr/>
          <p:nvPr/>
        </p:nvSpPr>
        <p:spPr>
          <a:xfrm>
            <a:off x="3243377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88" name="Shape 78"/>
          <p:cNvSpPr/>
          <p:nvPr/>
        </p:nvSpPr>
        <p:spPr>
          <a:xfrm>
            <a:off x="3361334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89" name="Shape 79"/>
          <p:cNvSpPr/>
          <p:nvPr/>
        </p:nvSpPr>
        <p:spPr>
          <a:xfrm>
            <a:off x="3479292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0" name="Shape 80"/>
          <p:cNvSpPr/>
          <p:nvPr/>
        </p:nvSpPr>
        <p:spPr>
          <a:xfrm>
            <a:off x="3597250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91" name="Shape 81"/>
          <p:cNvSpPr/>
          <p:nvPr/>
        </p:nvSpPr>
        <p:spPr>
          <a:xfrm>
            <a:off x="3715207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2" name="Shape 82"/>
          <p:cNvSpPr/>
          <p:nvPr/>
        </p:nvSpPr>
        <p:spPr>
          <a:xfrm>
            <a:off x="3833165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93" name="Shape 83"/>
          <p:cNvSpPr/>
          <p:nvPr/>
        </p:nvSpPr>
        <p:spPr>
          <a:xfrm>
            <a:off x="3951122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4" name="Shape 84"/>
          <p:cNvSpPr/>
          <p:nvPr/>
        </p:nvSpPr>
        <p:spPr>
          <a:xfrm>
            <a:off x="4069080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95" name="Shape 85"/>
          <p:cNvSpPr/>
          <p:nvPr/>
        </p:nvSpPr>
        <p:spPr>
          <a:xfrm>
            <a:off x="4187038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6" name="Shape 86"/>
          <p:cNvSpPr/>
          <p:nvPr/>
        </p:nvSpPr>
        <p:spPr>
          <a:xfrm>
            <a:off x="4304995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97" name="Shape 87"/>
          <p:cNvSpPr/>
          <p:nvPr/>
        </p:nvSpPr>
        <p:spPr>
          <a:xfrm>
            <a:off x="4422953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8" name="Shape 88"/>
          <p:cNvSpPr/>
          <p:nvPr/>
        </p:nvSpPr>
        <p:spPr>
          <a:xfrm>
            <a:off x="4540910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99" name="Shape 89"/>
          <p:cNvSpPr/>
          <p:nvPr/>
        </p:nvSpPr>
        <p:spPr>
          <a:xfrm>
            <a:off x="4658868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100" name="Shape 90"/>
          <p:cNvSpPr/>
          <p:nvPr/>
        </p:nvSpPr>
        <p:spPr>
          <a:xfrm>
            <a:off x="4776826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101" name="Shape 91"/>
          <p:cNvSpPr/>
          <p:nvPr/>
        </p:nvSpPr>
        <p:spPr>
          <a:xfrm>
            <a:off x="4894783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102" name="Shape 92"/>
          <p:cNvSpPr/>
          <p:nvPr/>
        </p:nvSpPr>
        <p:spPr>
          <a:xfrm>
            <a:off x="5012741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103" name="Shape 93"/>
          <p:cNvSpPr/>
          <p:nvPr/>
        </p:nvSpPr>
        <p:spPr>
          <a:xfrm>
            <a:off x="5130698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104" name="Shape 94"/>
          <p:cNvSpPr/>
          <p:nvPr/>
        </p:nvSpPr>
        <p:spPr>
          <a:xfrm>
            <a:off x="598932" y="5006340"/>
            <a:ext cx="261518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05" name="Shape 95"/>
          <p:cNvSpPr/>
          <p:nvPr/>
        </p:nvSpPr>
        <p:spPr>
          <a:xfrm>
            <a:off x="548640" y="4956048"/>
            <a:ext cx="261518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6" name="Text 96"/>
          <p:cNvSpPr txBox="1"/>
          <p:nvPr/>
        </p:nvSpPr>
        <p:spPr>
          <a:xfrm>
            <a:off x="694944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100" dirty="0"/>
          </a:p>
        </p:txBody>
      </p:sp>
      <p:sp>
        <p:nvSpPr>
          <p:cNvPr id="107" name="Text 97"/>
          <p:cNvSpPr txBox="1"/>
          <p:nvPr/>
        </p:nvSpPr>
        <p:spPr>
          <a:xfrm>
            <a:off x="694944" y="5394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논문</a:t>
            </a:r>
            <a:endParaRPr lang="en-US" sz="1100" dirty="0"/>
          </a:p>
        </p:txBody>
      </p:sp>
      <p:sp>
        <p:nvSpPr>
          <p:cNvPr id="108" name="Text 98"/>
          <p:cNvSpPr txBox="1"/>
          <p:nvPr/>
        </p:nvSpPr>
        <p:spPr>
          <a:xfrm>
            <a:off x="694944" y="5614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12편이 아니다</a:t>
            </a:r>
            <a:endParaRPr lang="en-US" sz="950" dirty="0"/>
          </a:p>
        </p:txBody>
      </p:sp>
      <p:sp>
        <p:nvSpPr>
          <p:cNvPr id="109" name="Shape 99"/>
          <p:cNvSpPr/>
          <p:nvPr/>
        </p:nvSpPr>
        <p:spPr>
          <a:xfrm>
            <a:off x="3396996" y="5006340"/>
            <a:ext cx="261518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0" name="Shape 100"/>
          <p:cNvSpPr/>
          <p:nvPr/>
        </p:nvSpPr>
        <p:spPr>
          <a:xfrm>
            <a:off x="3346704" y="4956048"/>
            <a:ext cx="261518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1" name="Text 101"/>
          <p:cNvSpPr txBox="1"/>
          <p:nvPr/>
        </p:nvSpPr>
        <p:spPr>
          <a:xfrm>
            <a:off x="3493008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2100" dirty="0"/>
          </a:p>
        </p:txBody>
      </p:sp>
      <p:sp>
        <p:nvSpPr>
          <p:cNvPr id="112" name="Text 102"/>
          <p:cNvSpPr txBox="1"/>
          <p:nvPr/>
        </p:nvSpPr>
        <p:spPr>
          <a:xfrm>
            <a:off x="3493008" y="5394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소집 방식</a:t>
            </a:r>
            <a:endParaRPr lang="en-US" sz="1100" dirty="0"/>
          </a:p>
        </p:txBody>
      </p:sp>
      <p:sp>
        <p:nvSpPr>
          <p:cNvPr id="113" name="Text 103"/>
          <p:cNvSpPr txBox="1"/>
          <p:nvPr/>
        </p:nvSpPr>
        <p:spPr>
          <a:xfrm>
            <a:off x="3493008" y="5614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스캔이 아니다</a:t>
            </a:r>
            <a:endParaRPr lang="en-US" sz="950" dirty="0"/>
          </a:p>
        </p:txBody>
      </p:sp>
      <p:sp>
        <p:nvSpPr>
          <p:cNvPr id="114" name="Shape 104"/>
          <p:cNvSpPr/>
          <p:nvPr/>
        </p:nvSpPr>
        <p:spPr>
          <a:xfrm>
            <a:off x="6195060" y="5006340"/>
            <a:ext cx="261518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5" name="Shape 105"/>
          <p:cNvSpPr/>
          <p:nvPr/>
        </p:nvSpPr>
        <p:spPr>
          <a:xfrm>
            <a:off x="6144768" y="4956048"/>
            <a:ext cx="261518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6" name="Text 106"/>
          <p:cNvSpPr txBox="1"/>
          <p:nvPr/>
        </p:nvSpPr>
        <p:spPr>
          <a:xfrm>
            <a:off x="6291072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100" dirty="0"/>
          </a:p>
        </p:txBody>
      </p:sp>
      <p:sp>
        <p:nvSpPr>
          <p:cNvPr id="117" name="Text 107"/>
          <p:cNvSpPr txBox="1"/>
          <p:nvPr/>
        </p:nvSpPr>
        <p:spPr>
          <a:xfrm>
            <a:off x="6291072" y="5394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게이트</a:t>
            </a:r>
            <a:endParaRPr lang="en-US" sz="1100" dirty="0"/>
          </a:p>
        </p:txBody>
      </p:sp>
      <p:sp>
        <p:nvSpPr>
          <p:cNvPr id="118" name="Text 108"/>
          <p:cNvSpPr txBox="1"/>
          <p:nvPr/>
        </p:nvSpPr>
        <p:spPr>
          <a:xfrm>
            <a:off x="6291072" y="5614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관문 신설</a:t>
            </a:r>
            <a:endParaRPr lang="en-US" sz="950" dirty="0"/>
          </a:p>
        </p:txBody>
      </p:sp>
      <p:sp>
        <p:nvSpPr>
          <p:cNvPr id="119" name="Shape 109"/>
          <p:cNvSpPr/>
          <p:nvPr/>
        </p:nvSpPr>
        <p:spPr>
          <a:xfrm>
            <a:off x="8993124" y="5006340"/>
            <a:ext cx="261518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0" name="Shape 110"/>
          <p:cNvSpPr/>
          <p:nvPr/>
        </p:nvSpPr>
        <p:spPr>
          <a:xfrm>
            <a:off x="8942832" y="4956048"/>
            <a:ext cx="261518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1" name="Text 111"/>
          <p:cNvSpPr txBox="1"/>
          <p:nvPr/>
        </p:nvSpPr>
        <p:spPr>
          <a:xfrm>
            <a:off x="9089136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100" dirty="0"/>
          </a:p>
        </p:txBody>
      </p:sp>
      <p:sp>
        <p:nvSpPr>
          <p:cNvPr id="122" name="Text 112"/>
          <p:cNvSpPr txBox="1"/>
          <p:nvPr/>
        </p:nvSpPr>
        <p:spPr>
          <a:xfrm>
            <a:off x="9089136" y="5394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쓰기 권한</a:t>
            </a:r>
            <a:endParaRPr lang="en-US" sz="1100" dirty="0"/>
          </a:p>
        </p:txBody>
      </p:sp>
      <p:sp>
        <p:nvSpPr>
          <p:cNvPr id="123" name="Text 113"/>
          <p:cNvSpPr txBox="1"/>
          <p:nvPr/>
        </p:nvSpPr>
        <p:spPr>
          <a:xfrm>
            <a:off x="9089136" y="5614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못 쓴다</a:t>
            </a:r>
            <a:endParaRPr lang="en-US" sz="950" dirty="0"/>
          </a:p>
        </p:txBody>
      </p:sp>
      <p:sp>
        <p:nvSpPr>
          <p:cNvPr id="124" name="Text 114"/>
          <p:cNvSpPr txBox="1"/>
          <p:nvPr/>
        </p:nvSpPr>
        <p:spPr>
          <a:xfrm>
            <a:off x="548640" y="614476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2026-09-13  ·  InnbumBaek/Stock_Agent  ·  최종 결정은 사람이 한다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— 무엇을 바꾸고, 무엇을 지키는가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파이프라인은 이미 완성돼 있다. 이 방안이 손대는 것은 측정 결과를 읽는 층과, 그 읽기의 근거가 되는 논문이다.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14500"/>
            <a:ext cx="7223760" cy="8595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64208"/>
            <a:ext cx="7223760" cy="85953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901952"/>
            <a:ext cx="914400" cy="38404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9019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바꾼다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773936" y="18105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고정 12편으로 두지 않는다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773936" y="21031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수확해 재현 검사를 통과한 것만 채택하고, 반감기가 지나면 은퇴시킨다.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" y="2683764"/>
            <a:ext cx="7223760" cy="8595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33472"/>
            <a:ext cx="7223760" cy="85953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871216"/>
            <a:ext cx="914400" cy="38404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2871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바꾼다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773936" y="27797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에이전트를 고정 8데스크로 두지 않는다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773936" y="307238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이벤트가 뜰 때만 소집됐다가 봉투를 내고 사라진다. 그날 변동분만 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" y="3653028"/>
            <a:ext cx="7223760" cy="8595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602736"/>
            <a:ext cx="7223760" cy="85953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840480"/>
            <a:ext cx="914400" cy="38404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3840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지킨다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773936" y="3749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원장(ki.sqlite)은 여전히 사실만 담는다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773936" y="404164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쓰기 도구를 아예 주지 않는다. 규칙이 아니라 구조로 막는다.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" y="4622292"/>
            <a:ext cx="7223760" cy="8595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572000"/>
            <a:ext cx="7223760" cy="85953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809744"/>
            <a:ext cx="914400" cy="384048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8097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지킨다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773936" y="47183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여전히 회의에서 사람이 한다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773936" y="501091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점수·등급·매매 시그널을 만들지 않는다. 올라가는 것은 쟁점이지 결론이 아니다.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23860" y="1714500"/>
            <a:ext cx="1719072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8"/>
          <p:cNvSpPr/>
          <p:nvPr/>
        </p:nvSpPr>
        <p:spPr>
          <a:xfrm>
            <a:off x="7973568" y="1664208"/>
            <a:ext cx="1719072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01584" y="17922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101584" y="21762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 중 재현 통과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101584" y="239572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모르는 숫자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870948" y="1714500"/>
            <a:ext cx="1719072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5" name="Shape 33"/>
          <p:cNvSpPr/>
          <p:nvPr/>
        </p:nvSpPr>
        <p:spPr>
          <a:xfrm>
            <a:off x="9820656" y="1664208"/>
            <a:ext cx="1719072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48672" y="17922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1762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논문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239572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고정값이 아니다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023860" y="3012948"/>
            <a:ext cx="1719072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0" name="Shape 38"/>
          <p:cNvSpPr/>
          <p:nvPr/>
        </p:nvSpPr>
        <p:spPr>
          <a:xfrm>
            <a:off x="7973568" y="2962656"/>
            <a:ext cx="1719072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01584" y="3090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8101584" y="347472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게이트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101584" y="369417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관문 신설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870948" y="3012948"/>
            <a:ext cx="1719072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5" name="Shape 43"/>
          <p:cNvSpPr/>
          <p:nvPr/>
        </p:nvSpPr>
        <p:spPr>
          <a:xfrm>
            <a:off x="9820656" y="2962656"/>
            <a:ext cx="1719072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948672" y="3090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47" name="Text 45"/>
          <p:cNvSpPr txBox="1"/>
          <p:nvPr/>
        </p:nvSpPr>
        <p:spPr>
          <a:xfrm>
            <a:off x="9948672" y="347472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쓰기 권한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948672" y="369417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못 쓴다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023860" y="4311396"/>
            <a:ext cx="1719072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0" name="Shape 48"/>
          <p:cNvSpPr/>
          <p:nvPr/>
        </p:nvSpPr>
        <p:spPr>
          <a:xfrm>
            <a:off x="7973568" y="4261104"/>
            <a:ext cx="1719072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01584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-84%</a:t>
            </a:r>
            <a:endParaRPr lang="en-US" sz="1900" dirty="0"/>
          </a:p>
        </p:txBody>
      </p:sp>
      <p:sp>
        <p:nvSpPr>
          <p:cNvPr id="52" name="Text 50"/>
          <p:cNvSpPr txBox="1"/>
          <p:nvPr/>
        </p:nvSpPr>
        <p:spPr>
          <a:xfrm>
            <a:off x="8101584" y="47731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부하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101584" y="499262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커버리지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870948" y="4311396"/>
            <a:ext cx="1719072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5" name="Shape 53"/>
          <p:cNvSpPr/>
          <p:nvPr/>
        </p:nvSpPr>
        <p:spPr>
          <a:xfrm>
            <a:off x="9820656" y="4261104"/>
            <a:ext cx="1719072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948672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10주</a:t>
            </a:r>
            <a:endParaRPr lang="en-US" sz="1900" dirty="0"/>
          </a:p>
        </p:txBody>
      </p:sp>
      <p:sp>
        <p:nvSpPr>
          <p:cNvPr id="57" name="Text 55"/>
          <p:cNvSpPr txBox="1"/>
          <p:nvPr/>
        </p:nvSpPr>
        <p:spPr>
          <a:xfrm>
            <a:off x="9948672" y="47731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기간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9948672" y="499262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2주는 병행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98932" y="5664708"/>
            <a:ext cx="11094415" cy="6217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0" name="Shape 58"/>
          <p:cNvSpPr/>
          <p:nvPr/>
        </p:nvSpPr>
        <p:spPr>
          <a:xfrm>
            <a:off x="548640" y="5614416"/>
            <a:ext cx="11094415" cy="621792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86384" y="5614416"/>
            <a:ext cx="1061892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알아야 할 것 —  </a:t>
            </a:r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채택본 12편은 전부 미국 표본 논문인데, 코스닥에서 성립하는지 확인한 적이 없다. "몇 편이 살아있는가"가 이 방안 전체의 출발점이다.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THE WHOLE THING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장으로 — 무엇이 어디로 흐르는가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장만 보셔도 됩니다. 각 블록에 붙은 PART 가 그것을 설명하는 곳입니다.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897380"/>
            <a:ext cx="3017520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47088"/>
            <a:ext cx="3017520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47088"/>
            <a:ext cx="3017520" cy="329184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" y="18470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측정층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847088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86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KRX · DART · ECOS · KIS · FRED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5237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 16:10 · ingest-ops 단독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798064"/>
            <a:ext cx="493776" cy="49377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98448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ki.sqlite 원장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108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tables · 사실만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94944" y="3364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4944" y="3584448"/>
            <a:ext cx="2724912" cy="60350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" y="36210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함수 — 계산은 여기서 끝난다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04672" y="385876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리픽싱 · 완전희석 · 처분소요일 · 집행시뮬</a:t>
            </a:r>
            <a:endParaRPr lang="en-US" sz="76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847088"/>
            <a:ext cx="512064" cy="512064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345436"/>
            <a:ext cx="512064" cy="512064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2843784"/>
            <a:ext cx="512064" cy="512064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3342132"/>
            <a:ext cx="512064" cy="512064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3840480"/>
            <a:ext cx="512064" cy="51206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584448" y="2798064"/>
            <a:ext cx="731520" cy="566928"/>
          </a:xfrm>
          <a:prstGeom prst="rect">
            <a:avLst/>
          </a:prstGeom>
          <a:solidFill>
            <a:srgbClr val="0D1018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3584448" y="279806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</a:t>
            </a:r>
            <a:endParaRPr lang="en-US" sz="850" dirty="0"/>
          </a:p>
        </p:txBody>
      </p:sp>
      <p:sp>
        <p:nvSpPr>
          <p:cNvPr id="26" name="Text 18"/>
          <p:cNvSpPr txBox="1"/>
          <p:nvPr/>
        </p:nvSpPr>
        <p:spPr>
          <a:xfrm>
            <a:off x="3529584" y="43708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8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4494276" y="1897380"/>
            <a:ext cx="3236976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8" name="Shape 20"/>
          <p:cNvSpPr/>
          <p:nvPr/>
        </p:nvSpPr>
        <p:spPr>
          <a:xfrm>
            <a:off x="4443984" y="1847088"/>
            <a:ext cx="3236976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4FC3F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443984" y="1847088"/>
            <a:ext cx="3236976" cy="32918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4572000" y="18470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판단층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6309360" y="1847088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4590288" y="22494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20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4590288" y="2560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상설 5  +  이벤트 소집 15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590288" y="2852928"/>
            <a:ext cx="932688" cy="274320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5" name="Shape 27"/>
          <p:cNvSpPr/>
          <p:nvPr/>
        </p:nvSpPr>
        <p:spPr>
          <a:xfrm>
            <a:off x="4590288" y="2852928"/>
            <a:ext cx="64008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718304" y="285292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리서치 7</a:t>
            </a:r>
            <a:endParaRPr lang="en-US" sz="740" dirty="0"/>
          </a:p>
        </p:txBody>
      </p:sp>
      <p:sp>
        <p:nvSpPr>
          <p:cNvPr id="37" name="Shape 29"/>
          <p:cNvSpPr/>
          <p:nvPr/>
        </p:nvSpPr>
        <p:spPr>
          <a:xfrm>
            <a:off x="5596128" y="2852928"/>
            <a:ext cx="932688" cy="274320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8" name="Shape 30"/>
          <p:cNvSpPr/>
          <p:nvPr/>
        </p:nvSpPr>
        <p:spPr>
          <a:xfrm>
            <a:off x="5596128" y="2852928"/>
            <a:ext cx="64008" cy="2743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5724144" y="285292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집행 2</a:t>
            </a:r>
            <a:endParaRPr lang="en-US" sz="740" dirty="0"/>
          </a:p>
        </p:txBody>
      </p:sp>
      <p:sp>
        <p:nvSpPr>
          <p:cNvPr id="40" name="Shape 32"/>
          <p:cNvSpPr/>
          <p:nvPr/>
        </p:nvSpPr>
        <p:spPr>
          <a:xfrm>
            <a:off x="6601968" y="2852928"/>
            <a:ext cx="932688" cy="274320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1" name="Shape 33"/>
          <p:cNvSpPr/>
          <p:nvPr/>
        </p:nvSpPr>
        <p:spPr>
          <a:xfrm>
            <a:off x="6601968" y="2852928"/>
            <a:ext cx="64008" cy="27432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6729984" y="285292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리스크 3</a:t>
            </a:r>
            <a:endParaRPr lang="en-US" sz="740" dirty="0"/>
          </a:p>
        </p:txBody>
      </p:sp>
      <p:sp>
        <p:nvSpPr>
          <p:cNvPr id="43" name="Shape 35"/>
          <p:cNvSpPr/>
          <p:nvPr/>
        </p:nvSpPr>
        <p:spPr>
          <a:xfrm>
            <a:off x="4590288" y="3182112"/>
            <a:ext cx="932688" cy="274320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4" name="Shape 36"/>
          <p:cNvSpPr/>
          <p:nvPr/>
        </p:nvSpPr>
        <p:spPr>
          <a:xfrm>
            <a:off x="4590288" y="3182112"/>
            <a:ext cx="64008" cy="274320"/>
          </a:xfrm>
          <a:prstGeom prst="rect">
            <a:avLst/>
          </a:prstGeom>
          <a:solidFill>
            <a:srgbClr val="FF7847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4718304" y="318211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준법·감사 3</a:t>
            </a:r>
            <a:endParaRPr lang="en-US" sz="740" dirty="0"/>
          </a:p>
        </p:txBody>
      </p:sp>
      <p:sp>
        <p:nvSpPr>
          <p:cNvPr id="46" name="Shape 38"/>
          <p:cNvSpPr/>
          <p:nvPr/>
        </p:nvSpPr>
        <p:spPr>
          <a:xfrm>
            <a:off x="5596128" y="3182112"/>
            <a:ext cx="932688" cy="274320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7" name="Shape 39"/>
          <p:cNvSpPr/>
          <p:nvPr/>
        </p:nvSpPr>
        <p:spPr>
          <a:xfrm>
            <a:off x="5596128" y="3182112"/>
            <a:ext cx="64008" cy="274320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5724144" y="318211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데이터 3</a:t>
            </a:r>
            <a:endParaRPr lang="en-US" sz="740" dirty="0"/>
          </a:p>
        </p:txBody>
      </p:sp>
      <p:sp>
        <p:nvSpPr>
          <p:cNvPr id="49" name="Shape 41"/>
          <p:cNvSpPr/>
          <p:nvPr/>
        </p:nvSpPr>
        <p:spPr>
          <a:xfrm>
            <a:off x="6601968" y="3182112"/>
            <a:ext cx="932688" cy="274320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0" name="Shape 42"/>
          <p:cNvSpPr/>
          <p:nvPr/>
        </p:nvSpPr>
        <p:spPr>
          <a:xfrm>
            <a:off x="6601968" y="3182112"/>
            <a:ext cx="64008" cy="274320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6729984" y="318211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의결 2</a:t>
            </a:r>
            <a:endParaRPr lang="en-US" sz="740" dirty="0"/>
          </a:p>
        </p:txBody>
      </p:sp>
      <p:sp>
        <p:nvSpPr>
          <p:cNvPr id="52" name="Shape 44"/>
          <p:cNvSpPr/>
          <p:nvPr/>
        </p:nvSpPr>
        <p:spPr>
          <a:xfrm>
            <a:off x="4590288" y="3584448"/>
            <a:ext cx="2944368" cy="603504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4700016" y="3621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 제출 — 등급 '해석'</a:t>
            </a:r>
            <a:endParaRPr lang="en-US" sz="950" dirty="0"/>
          </a:p>
        </p:txBody>
      </p:sp>
      <p:sp>
        <p:nvSpPr>
          <p:cNvPr id="54" name="Text 46"/>
          <p:cNvSpPr txBox="1"/>
          <p:nvPr/>
        </p:nvSpPr>
        <p:spPr>
          <a:xfrm>
            <a:off x="4700016" y="3858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계산하지 않는다 · 읽고 서술한다</a:t>
            </a:r>
            <a:endParaRPr lang="en-US" sz="760" dirty="0"/>
          </a:p>
        </p:txBody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4" y="2962656"/>
            <a:ext cx="292608" cy="182880"/>
          </a:xfrm>
          <a:prstGeom prst="rect">
            <a:avLst/>
          </a:prstGeom>
        </p:spPr>
      </p:pic>
      <p:sp>
        <p:nvSpPr>
          <p:cNvPr id="56" name="Shape 47"/>
          <p:cNvSpPr/>
          <p:nvPr/>
        </p:nvSpPr>
        <p:spPr>
          <a:xfrm>
            <a:off x="8151876" y="1897380"/>
            <a:ext cx="2011680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7" name="Shape 48"/>
          <p:cNvSpPr/>
          <p:nvPr/>
        </p:nvSpPr>
        <p:spPr>
          <a:xfrm>
            <a:off x="8101584" y="1847088"/>
            <a:ext cx="2011680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8101584" y="1847088"/>
            <a:ext cx="2011680" cy="329184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8229600" y="18470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통제</a:t>
            </a:r>
            <a:endParaRPr lang="en-US" sz="1050" dirty="0"/>
          </a:p>
        </p:txBody>
      </p:sp>
      <p:sp>
        <p:nvSpPr>
          <p:cNvPr id="60" name="Text 51"/>
          <p:cNvSpPr txBox="1"/>
          <p:nvPr/>
        </p:nvSpPr>
        <p:spPr>
          <a:xfrm>
            <a:off x="8778240" y="184708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</a:t>
            </a:r>
            <a:endParaRPr lang="en-US" sz="900" dirty="0"/>
          </a:p>
        </p:txBody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88" y="2286000"/>
            <a:ext cx="402336" cy="402336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8741664" y="23225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×7</a:t>
            </a:r>
            <a:endParaRPr lang="en-US" sz="1400" dirty="0"/>
          </a:p>
        </p:txBody>
      </p:sp>
      <p:sp>
        <p:nvSpPr>
          <p:cNvPr id="63" name="Text 53"/>
          <p:cNvSpPr txBox="1"/>
          <p:nvPr/>
        </p:nvSpPr>
        <p:spPr>
          <a:xfrm>
            <a:off x="8247888" y="2834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판정 어휘</a:t>
            </a:r>
            <a:endParaRPr lang="en-US" sz="760" dirty="0"/>
          </a:p>
        </p:txBody>
      </p:sp>
      <p:sp>
        <p:nvSpPr>
          <p:cNvPr id="64" name="Text 54"/>
          <p:cNvSpPr txBox="1"/>
          <p:nvPr/>
        </p:nvSpPr>
        <p:spPr>
          <a:xfrm>
            <a:off x="8247888" y="3035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출처 등급</a:t>
            </a:r>
            <a:endParaRPr lang="en-US" sz="760" dirty="0"/>
          </a:p>
        </p:txBody>
      </p:sp>
      <p:sp>
        <p:nvSpPr>
          <p:cNvPr id="65" name="Text 55"/>
          <p:cNvSpPr txBox="1"/>
          <p:nvPr/>
        </p:nvSpPr>
        <p:spPr>
          <a:xfrm>
            <a:off x="8247888" y="3236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★ 재현</a:t>
            </a:r>
            <a:endParaRPr lang="en-US" sz="760" dirty="0"/>
          </a:p>
        </p:txBody>
      </p:sp>
      <p:sp>
        <p:nvSpPr>
          <p:cNvPr id="66" name="Text 56"/>
          <p:cNvSpPr txBox="1"/>
          <p:nvPr/>
        </p:nvSpPr>
        <p:spPr>
          <a:xfrm>
            <a:off x="8247888" y="3438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논문 실재</a:t>
            </a:r>
            <a:endParaRPr lang="en-US" sz="760" dirty="0"/>
          </a:p>
        </p:txBody>
      </p:sp>
      <p:sp>
        <p:nvSpPr>
          <p:cNvPr id="67" name="Text 57"/>
          <p:cNvSpPr txBox="1"/>
          <p:nvPr/>
        </p:nvSpPr>
        <p:spPr>
          <a:xfrm>
            <a:off x="8247888" y="3639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신선도</a:t>
            </a:r>
            <a:endParaRPr lang="en-US" sz="760" dirty="0"/>
          </a:p>
        </p:txBody>
      </p:sp>
      <p:sp>
        <p:nvSpPr>
          <p:cNvPr id="68" name="Text 58"/>
          <p:cNvSpPr txBox="1"/>
          <p:nvPr/>
        </p:nvSpPr>
        <p:spPr>
          <a:xfrm>
            <a:off x="8247888" y="3840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유출 검사</a:t>
            </a:r>
            <a:endParaRPr lang="en-US" sz="760" dirty="0"/>
          </a:p>
        </p:txBody>
      </p:sp>
      <p:sp>
        <p:nvSpPr>
          <p:cNvPr id="69" name="Text 59"/>
          <p:cNvSpPr txBox="1"/>
          <p:nvPr/>
        </p:nvSpPr>
        <p:spPr>
          <a:xfrm>
            <a:off x="8247888" y="40416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4-eyes</a:t>
            </a:r>
            <a:endParaRPr lang="en-US" sz="760" dirty="0"/>
          </a:p>
        </p:txBody>
      </p:sp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8128" y="2962656"/>
            <a:ext cx="292608" cy="182880"/>
          </a:xfrm>
          <a:prstGeom prst="rect">
            <a:avLst/>
          </a:prstGeom>
        </p:spPr>
      </p:pic>
      <p:sp>
        <p:nvSpPr>
          <p:cNvPr id="71" name="Shape 60"/>
          <p:cNvSpPr/>
          <p:nvPr/>
        </p:nvSpPr>
        <p:spPr>
          <a:xfrm>
            <a:off x="10584180" y="1897380"/>
            <a:ext cx="110642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2" name="Shape 61"/>
          <p:cNvSpPr/>
          <p:nvPr/>
        </p:nvSpPr>
        <p:spPr>
          <a:xfrm>
            <a:off x="10533888" y="1847088"/>
            <a:ext cx="110642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FFD34E"/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10533888" y="1847088"/>
            <a:ext cx="1106424" cy="329184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74" name="Text 63"/>
          <p:cNvSpPr txBox="1"/>
          <p:nvPr/>
        </p:nvSpPr>
        <p:spPr>
          <a:xfrm>
            <a:off x="10533888" y="184708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의결</a:t>
            </a:r>
            <a:endParaRPr lang="en-US" sz="950" dirty="0"/>
          </a:p>
        </p:txBody>
      </p:sp>
      <p:pic>
        <p:nvPicPr>
          <p:cNvPr id="7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08208" y="2340864"/>
            <a:ext cx="548640" cy="548640"/>
          </a:xfrm>
          <a:prstGeom prst="rect">
            <a:avLst/>
          </a:prstGeom>
        </p:spPr>
      </p:pic>
      <p:sp>
        <p:nvSpPr>
          <p:cNvPr id="76" name="Text 64"/>
          <p:cNvSpPr txBox="1"/>
          <p:nvPr/>
        </p:nvSpPr>
        <p:spPr>
          <a:xfrm>
            <a:off x="10588752" y="298094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심의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</a:t>
            </a:r>
            <a:endParaRPr lang="en-US" sz="1100" dirty="0"/>
          </a:p>
        </p:txBody>
      </p:sp>
      <p:sp>
        <p:nvSpPr>
          <p:cNvPr id="77" name="Text 65"/>
          <p:cNvSpPr txBox="1"/>
          <p:nvPr/>
        </p:nvSpPr>
        <p:spPr>
          <a:xfrm>
            <a:off x="10588752" y="3767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사람이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결정한다</a:t>
            </a:r>
            <a:endParaRPr lang="en-US" sz="800" dirty="0"/>
          </a:p>
        </p:txBody>
      </p:sp>
      <p:sp>
        <p:nvSpPr>
          <p:cNvPr id="78" name="Shape 66"/>
          <p:cNvSpPr/>
          <p:nvPr/>
        </p:nvSpPr>
        <p:spPr>
          <a:xfrm>
            <a:off x="4494276" y="4622292"/>
            <a:ext cx="3236976" cy="7863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9" name="Shape 67"/>
          <p:cNvSpPr/>
          <p:nvPr/>
        </p:nvSpPr>
        <p:spPr>
          <a:xfrm>
            <a:off x="4443984" y="4572000"/>
            <a:ext cx="3236976" cy="786384"/>
          </a:xfrm>
          <a:prstGeom prst="rect">
            <a:avLst/>
          </a:prstGeom>
          <a:solidFill>
            <a:srgbClr val="171E30"/>
          </a:solidFill>
          <a:ln w="15875">
            <a:solidFill>
              <a:srgbClr val="9D7BFF"/>
            </a:solidFill>
            <a:prstDash val="solid"/>
          </a:ln>
        </p:spPr>
      </p:sp>
      <p:pic>
        <p:nvPicPr>
          <p:cNvPr id="8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0288" y="4718304"/>
            <a:ext cx="347472" cy="347472"/>
          </a:xfrm>
          <a:prstGeom prst="rect">
            <a:avLst/>
          </a:prstGeom>
        </p:spPr>
      </p:pic>
      <p:sp>
        <p:nvSpPr>
          <p:cNvPr id="81" name="Text 68"/>
          <p:cNvSpPr txBox="1"/>
          <p:nvPr/>
        </p:nvSpPr>
        <p:spPr>
          <a:xfrm>
            <a:off x="5029200" y="4681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원장 — 재현 통과분만 인용 가능</a:t>
            </a:r>
            <a:endParaRPr lang="en-US" sz="1050" dirty="0"/>
          </a:p>
        </p:txBody>
      </p:sp>
      <p:sp>
        <p:nvSpPr>
          <p:cNvPr id="82" name="Text 69"/>
          <p:cNvSpPr txBox="1"/>
          <p:nvPr/>
        </p:nvSpPr>
        <p:spPr>
          <a:xfrm>
            <a:off x="5029200" y="49560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ki.papers/2 · adopted | warned | retired</a:t>
            </a:r>
            <a:endParaRPr lang="en-US" sz="760" dirty="0"/>
          </a:p>
        </p:txBody>
      </p:sp>
      <p:sp>
        <p:nvSpPr>
          <p:cNvPr id="83" name="Text 70"/>
          <p:cNvSpPr txBox="1"/>
          <p:nvPr/>
        </p:nvSpPr>
        <p:spPr>
          <a:xfrm>
            <a:off x="6858000" y="5120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800" dirty="0"/>
          </a:p>
        </p:txBody>
      </p:sp>
      <p:sp>
        <p:nvSpPr>
          <p:cNvPr id="84" name="Text 71"/>
          <p:cNvSpPr txBox="1"/>
          <p:nvPr/>
        </p:nvSpPr>
        <p:spPr>
          <a:xfrm>
            <a:off x="4590288" y="4370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</a:t>
            </a:r>
            <a:endParaRPr lang="en-US" sz="900" dirty="0"/>
          </a:p>
        </p:txBody>
      </p:sp>
      <p:sp>
        <p:nvSpPr>
          <p:cNvPr id="85" name="Shape 72"/>
          <p:cNvSpPr/>
          <p:nvPr/>
        </p:nvSpPr>
        <p:spPr>
          <a:xfrm>
            <a:off x="598932" y="4622292"/>
            <a:ext cx="3017520" cy="7863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6" name="Shape 73"/>
          <p:cNvSpPr/>
          <p:nvPr/>
        </p:nvSpPr>
        <p:spPr>
          <a:xfrm>
            <a:off x="548640" y="4572000"/>
            <a:ext cx="3017520" cy="78638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7" name="Text 74"/>
          <p:cNvSpPr txBox="1"/>
          <p:nvPr/>
        </p:nvSpPr>
        <p:spPr>
          <a:xfrm>
            <a:off x="694944" y="46451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여기서만 네트워크를 쓴다</a:t>
            </a:r>
            <a:endParaRPr lang="en-US" sz="1000" dirty="0"/>
          </a:p>
        </p:txBody>
      </p:sp>
      <p:sp>
        <p:nvSpPr>
          <p:cNvPr id="88" name="Text 75"/>
          <p:cNvSpPr txBox="1"/>
          <p:nvPr/>
        </p:nvSpPr>
        <p:spPr>
          <a:xfrm>
            <a:off x="694944" y="4882896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한 번, ingest-ops 하나. 그날의 유일한 원장 쓰기다.</a:t>
            </a:r>
            <a:endParaRPr lang="en-US" sz="860" dirty="0"/>
          </a:p>
        </p:txBody>
      </p:sp>
      <p:sp>
        <p:nvSpPr>
          <p:cNvPr id="89" name="Shape 76"/>
          <p:cNvSpPr/>
          <p:nvPr/>
        </p:nvSpPr>
        <p:spPr>
          <a:xfrm>
            <a:off x="8151876" y="4622292"/>
            <a:ext cx="3538728" cy="7863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0" name="Shape 77"/>
          <p:cNvSpPr/>
          <p:nvPr/>
        </p:nvSpPr>
        <p:spPr>
          <a:xfrm>
            <a:off x="8101584" y="4572000"/>
            <a:ext cx="3538728" cy="78638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91" name="Text 78"/>
          <p:cNvSpPr txBox="1"/>
          <p:nvPr/>
        </p:nvSpPr>
        <p:spPr>
          <a:xfrm>
            <a:off x="8247888" y="4645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걸리면 멈춘다</a:t>
            </a:r>
            <a:endParaRPr lang="en-US" sz="1000" dirty="0"/>
          </a:p>
        </p:txBody>
      </p:sp>
      <p:sp>
        <p:nvSpPr>
          <p:cNvPr id="92" name="Text 79"/>
          <p:cNvSpPr txBox="1"/>
          <p:nvPr/>
        </p:nvSpPr>
        <p:spPr>
          <a:xfrm>
            <a:off x="8247888" y="4882896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반려된 절은 빈칸이 아니라 '반려됨 — 사유' 로 회의자료에 남는다.</a:t>
            </a:r>
            <a:endParaRPr lang="en-US" sz="860" dirty="0"/>
          </a:p>
        </p:txBody>
      </p:sp>
      <p:sp>
        <p:nvSpPr>
          <p:cNvPr id="93" name="Shape 80"/>
          <p:cNvSpPr/>
          <p:nvPr/>
        </p:nvSpPr>
        <p:spPr>
          <a:xfrm>
            <a:off x="598932" y="5591556"/>
            <a:ext cx="11094415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4" name="Shape 81"/>
          <p:cNvSpPr/>
          <p:nvPr/>
        </p:nvSpPr>
        <p:spPr>
          <a:xfrm>
            <a:off x="548640" y="5541264"/>
            <a:ext cx="11094415" cy="69494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95" name="Text 82"/>
          <p:cNvSpPr txBox="1"/>
          <p:nvPr/>
        </p:nvSpPr>
        <p:spPr>
          <a:xfrm>
            <a:off x="786384" y="5541264"/>
            <a:ext cx="106189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방향은 왼쪽에서 오른쪽, 한 방향뿐입니다.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해석이 원장으로 되돌아가는 경로는 스키마에도 도구에도 없습니다.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는 이 그림을 무엇으로 만드는가(기술 스택 · MCP 설계 · 하루 운영 · 로드맵)를 다룹니다.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1 · AS-IS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가진 것 — 측정 파이프라인은 이미 완성돼 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 것은 측정이 아니라, 측정 결과를 읽고 정렬하는 층이다.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842516"/>
            <a:ext cx="1956816" cy="14630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92224"/>
            <a:ext cx="1956816" cy="1463040"/>
          </a:xfrm>
          <a:prstGeom prst="rect">
            <a:avLst/>
          </a:prstGeom>
          <a:solidFill>
            <a:srgbClr val="171E30"/>
          </a:solidFill>
          <a:ln w="15875">
            <a:solidFill>
              <a:srgbClr val="35D6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API 5종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1773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KRX · DART · ECOS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· FRED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744" y="2432304"/>
            <a:ext cx="274320" cy="1737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66644" y="1842516"/>
            <a:ext cx="1956816" cy="14630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" name="Shape 8"/>
          <p:cNvSpPr/>
          <p:nvPr/>
        </p:nvSpPr>
        <p:spPr>
          <a:xfrm>
            <a:off x="2816352" y="1792224"/>
            <a:ext cx="1956816" cy="1463040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ki.sqlite 원장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907792" y="2286000"/>
            <a:ext cx="1773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사실만 담는다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테이블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432304"/>
            <a:ext cx="274320" cy="17373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134356" y="1842516"/>
            <a:ext cx="1956816" cy="14630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2"/>
          <p:cNvSpPr/>
          <p:nvPr/>
        </p:nvSpPr>
        <p:spPr>
          <a:xfrm>
            <a:off x="5084064" y="1792224"/>
            <a:ext cx="1956816" cy="1463040"/>
          </a:xfrm>
          <a:prstGeom prst="rect">
            <a:avLst/>
          </a:prstGeom>
          <a:solidFill>
            <a:srgbClr val="171E30"/>
          </a:solidFill>
          <a:ln w="15875">
            <a:solidFill>
              <a:srgbClr val="4FC3F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193792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함수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5175504" y="2286000"/>
            <a:ext cx="1773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처분소요일 · 집행시뮬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 · 매물대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432304"/>
            <a:ext cx="274320" cy="17373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402068" y="1842516"/>
            <a:ext cx="1956816" cy="14630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1" name="Shape 16"/>
          <p:cNvSpPr/>
          <p:nvPr/>
        </p:nvSpPr>
        <p:spPr>
          <a:xfrm>
            <a:off x="7351776" y="1792224"/>
            <a:ext cx="1956816" cy="1463040"/>
          </a:xfrm>
          <a:prstGeom prst="rect">
            <a:avLst/>
          </a:prstGeom>
          <a:solidFill>
            <a:srgbClr val="171E30"/>
          </a:solidFill>
          <a:ln w="15875">
            <a:solidFill>
              <a:srgbClr val="9D7B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461504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리포트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7443216" y="2286000"/>
            <a:ext cx="1773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§1~§8 · 외부 리소스 0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절마다 출처 등급</a:t>
            </a:r>
            <a:endParaRPr lang="en-US" sz="9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432304"/>
            <a:ext cx="274320" cy="17373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669780" y="1842516"/>
            <a:ext cx="1956816" cy="14630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0"/>
          <p:cNvSpPr/>
          <p:nvPr/>
        </p:nvSpPr>
        <p:spPr>
          <a:xfrm>
            <a:off x="9619488" y="1792224"/>
            <a:ext cx="1956816" cy="1463040"/>
          </a:xfrm>
          <a:prstGeom prst="rect">
            <a:avLst/>
          </a:prstGeom>
          <a:solidFill>
            <a:srgbClr val="171E30"/>
          </a:solidFill>
          <a:ln w="15875">
            <a:solidFill>
              <a:srgbClr val="FFD34E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729216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회의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9710928" y="2286000"/>
            <a:ext cx="1773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결정한다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98932" y="3543300"/>
            <a:ext cx="2724912" cy="15727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4"/>
          <p:cNvSpPr/>
          <p:nvPr/>
        </p:nvSpPr>
        <p:spPr>
          <a:xfrm>
            <a:off x="548640" y="3493008"/>
            <a:ext cx="2724912" cy="15727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3152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8,684</a:t>
            </a:r>
            <a:endParaRPr lang="en-US" sz="2800" dirty="0"/>
          </a:p>
        </p:txBody>
      </p:sp>
      <p:sp>
        <p:nvSpPr>
          <p:cNvPr id="32" name="Text 26"/>
          <p:cNvSpPr txBox="1"/>
          <p:nvPr/>
        </p:nvSpPr>
        <p:spPr>
          <a:xfrm>
            <a:off x="731520" y="4169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· 단일 파일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731520" y="444398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하나가 수집·계산·리포트를 전부 한다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442716" y="3543300"/>
            <a:ext cx="2724912" cy="15727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5" name="Shape 29"/>
          <p:cNvSpPr/>
          <p:nvPr/>
        </p:nvSpPr>
        <p:spPr>
          <a:xfrm>
            <a:off x="3392424" y="3493008"/>
            <a:ext cx="2724912" cy="15727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3575304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31"/>
          <p:cNvSpPr txBox="1"/>
          <p:nvPr/>
        </p:nvSpPr>
        <p:spPr>
          <a:xfrm>
            <a:off x="3575304" y="4169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출처 공식 API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3575304" y="444398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 없음 · 유료 벤더 없음 · 뉴스 본문 없음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286500" y="3543300"/>
            <a:ext cx="2724912" cy="15727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0" name="Shape 34"/>
          <p:cNvSpPr/>
          <p:nvPr/>
        </p:nvSpPr>
        <p:spPr>
          <a:xfrm>
            <a:off x="6236208" y="3493008"/>
            <a:ext cx="2724912" cy="15727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419088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2800" dirty="0"/>
          </a:p>
        </p:txBody>
      </p:sp>
      <p:sp>
        <p:nvSpPr>
          <p:cNvPr id="42" name="Text 36"/>
          <p:cNvSpPr txBox="1"/>
          <p:nvPr/>
        </p:nvSpPr>
        <p:spPr>
          <a:xfrm>
            <a:off x="6419088" y="4169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검증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6419088" y="444398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키·네트워크 없이 돈다. 실제로 128 passed 확인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9130284" y="3543300"/>
            <a:ext cx="2724912" cy="15727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5" name="Shape 39"/>
          <p:cNvSpPr/>
          <p:nvPr/>
        </p:nvSpPr>
        <p:spPr>
          <a:xfrm>
            <a:off x="9079992" y="3493008"/>
            <a:ext cx="2724912" cy="15727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262872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800" dirty="0"/>
          </a:p>
        </p:txBody>
      </p:sp>
      <p:sp>
        <p:nvSpPr>
          <p:cNvPr id="47" name="Text 41"/>
          <p:cNvSpPr txBox="1"/>
          <p:nvPr/>
        </p:nvSpPr>
        <p:spPr>
          <a:xfrm>
            <a:off x="9262872" y="4169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 채택 논문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9262872" y="444398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팩터마다 논문 키를 달고 나간다 (.papers.json)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598932" y="5280660"/>
            <a:ext cx="11094415" cy="9326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0" name="Shape 44"/>
          <p:cNvSpPr/>
          <p:nvPr/>
        </p:nvSpPr>
        <p:spPr>
          <a:xfrm>
            <a:off x="548640" y="5230368"/>
            <a:ext cx="11094415" cy="93268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786384" y="5230368"/>
            <a:ext cx="10618927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계산 · 검증은 손댈 것이 없다. 부족한 것은 두 가지다.
</a:t>
            </a:r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산출물을 읽어 회의 쟁점으로 바꾸는 사람의 시간   </a:t>
            </a:r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읽기의 근거가 되는 논문이 우리 시장에서 성립하는지에 대한 확인</a:t>
            </a:r>
            <a:endParaRPr lang="en-US" sz="1150" dirty="0"/>
          </a:p>
        </p:txBody>
      </p:sp>
      <p:sp>
        <p:nvSpPr>
          <p:cNvPr id="52" name="Text 46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출처: 저장소 실측 — ki_monitor.py 8,684줄 · CATALOG 31개 항목 · SECTIONS 18개 절 · selftest 128 passed 0 failed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1 · 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병목은 계산이 아니라 독해다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리포트는 매일 08:50에 나온다. 문제는 그것을 끝까지 읽을 사람이 없다는 것이다.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14500"/>
            <a:ext cx="5504688" cy="39684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64208"/>
            <a:ext cx="5504688" cy="3968496"/>
          </a:xfrm>
          <a:prstGeom prst="rect">
            <a:avLst/>
          </a:prstGeom>
          <a:solidFill>
            <a:srgbClr val="24141B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828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병목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359152"/>
            <a:ext cx="182880" cy="182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5568" y="2304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사람이 한 명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257860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§1~§18을 통독하는 사람은 사실상 한 명이다.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16382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15568" y="3108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85개 종목 × §5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115568" y="33832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상세는 사람이 읽을 분량이 아니다. 몇 종목만 보고 회의에 들어간다.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96849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15568" y="39136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붙이기가 수작업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" y="418795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공시 원문 · 논문 · 매크로 일정을 종목에 연결하는 일은 전부 손이다.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773168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15568" y="47183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방법론이 멈춰 있다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1115568" y="4992624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채택본 최신이 2012년이다. 14년치 계량금융이 비어 있다.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341364" y="1714500"/>
            <a:ext cx="5504688" cy="39684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1" name="Shape 15"/>
          <p:cNvSpPr/>
          <p:nvPr/>
        </p:nvSpPr>
        <p:spPr>
          <a:xfrm>
            <a:off x="6291072" y="1664208"/>
            <a:ext cx="5504688" cy="3968496"/>
          </a:xfrm>
          <a:prstGeom prst="rect">
            <a:avLst/>
          </a:prstGeom>
          <a:solidFill>
            <a:srgbClr val="13241A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547104" y="1828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에이전트화 이후</a:t>
            </a:r>
            <a:endParaRPr lang="en-US" sz="1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2359152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58000" y="2304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데스크가 나눠 동시에 읽는다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6858000" y="257860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기업분석·계량·매크로·집행이 각자 자기 절만 맡는다.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3163824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58000" y="3108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변동분에만 초안이 붙는다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58000" y="33832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전수가 아니라 그날 실제로 무언가 일어난 종목만 읽는다.</a:t>
            </a:r>
            <a:endParaRPr lang="en-US" sz="1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3968496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858000" y="39136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쟁점만 회의에 올라온다</a:t>
            </a:r>
            <a:endParaRPr lang="en-US" sz="1250" dirty="0"/>
          </a:p>
        </p:txBody>
      </p:sp>
      <p:sp>
        <p:nvSpPr>
          <p:cNvPr id="31" name="Text 22"/>
          <p:cNvSpPr txBox="1"/>
          <p:nvPr/>
        </p:nvSpPr>
        <p:spPr>
          <a:xfrm>
            <a:off x="6858000" y="418795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간사가 데스크 간 불일치와 결측만 추려 한 장으로 정렬한다.</a:t>
            </a:r>
            <a:endParaRPr lang="en-US" sz="10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7104" y="4773168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858000" y="47183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방법론이 스스로 갱신된다</a:t>
            </a:r>
            <a:endParaRPr lang="en-US" sz="1250" dirty="0"/>
          </a:p>
        </p:txBody>
      </p:sp>
      <p:sp>
        <p:nvSpPr>
          <p:cNvPr id="34" name="Text 24"/>
          <p:cNvSpPr txBox="1"/>
          <p:nvPr/>
        </p:nvSpPr>
        <p:spPr>
          <a:xfrm>
            <a:off x="6858000" y="4992624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수확하고, 재현 검사를 통과한 것만 채택본에 들어온다.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598932" y="5792724"/>
            <a:ext cx="11094415" cy="5486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6" name="Shape 26"/>
          <p:cNvSpPr/>
          <p:nvPr/>
        </p:nvSpPr>
        <p:spPr>
          <a:xfrm>
            <a:off x="548640" y="5742432"/>
            <a:ext cx="11094415" cy="54864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786384" y="5742432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대상은 '독해와 정렬'이다. </a:t>
            </a:r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지금과 똑같이 회의에서 사람이 한다 — 이 경계가 흔들리면 에이전트화는 실패다.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1 · NON-NEGOTIABLE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들어와도 깨지 않는 다섯 가지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아래는 CLAUDE.md 에 이미 적혀 있는 규칙이다. 에이전트화는 이것을 완화하는 일이 아니라, 코드가 아닌 곳에서도 지키게 만드는 일이다.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2098548"/>
            <a:ext cx="11094415" cy="6766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48256"/>
            <a:ext cx="11094415" cy="6766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194560"/>
            <a:ext cx="384048" cy="384048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재기만 하고 판단하지 않는다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2395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점수·등급·매매 시그널을 만들지 않는다.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2203704"/>
            <a:ext cx="5394960" cy="365760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2304288"/>
            <a:ext cx="237744" cy="14630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73952" y="22037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에이전트 적용 — 게이트 ① 판정 어휘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" y="2884932"/>
            <a:ext cx="11094415" cy="6766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2834640"/>
            <a:ext cx="11094415" cy="6766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" y="2980944"/>
            <a:ext cx="384048" cy="38404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323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43584" y="2907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원장에는 측정한 사실만 쓴다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43584" y="3182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추정·가정·장중 스냅샷(persist=False)을 넣지 않는다.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35040" y="2990088"/>
            <a:ext cx="5394960" cy="365760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3090672"/>
            <a:ext cx="237744" cy="14630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473952" y="2990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에이전트 적용 — MCP 에 쓰기 도구 미노출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98932" y="3671316"/>
            <a:ext cx="11094415" cy="6766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0"/>
          <p:cNvSpPr/>
          <p:nvPr/>
        </p:nvSpPr>
        <p:spPr>
          <a:xfrm>
            <a:off x="548640" y="3621024"/>
            <a:ext cx="11094415" cy="6766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13232" y="3767328"/>
            <a:ext cx="384048" cy="38404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13232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243584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값을 만들지 않는다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243584" y="3968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구한 값은 None 과 사유. 0 으로 채우지 않는다.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035040" y="3776472"/>
            <a:ext cx="5394960" cy="365760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877056"/>
            <a:ext cx="237744" cy="14630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473952" y="3776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에이전트 적용 — 봉투 null 허용 · 게이트 ⑤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98932" y="4457700"/>
            <a:ext cx="11094415" cy="6766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3" name="Shape 28"/>
          <p:cNvSpPr/>
          <p:nvPr/>
        </p:nvSpPr>
        <p:spPr>
          <a:xfrm>
            <a:off x="548640" y="4407408"/>
            <a:ext cx="11094415" cy="6766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13232" y="4553712"/>
            <a:ext cx="384048" cy="38404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713232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1243584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재료에는 등급이 있다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1243584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· 참고 · 방법론 · 사내를 같은 표에 섞지 않는다.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035040" y="4562856"/>
            <a:ext cx="5394960" cy="365760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4663440"/>
            <a:ext cx="237744" cy="14630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6473952" y="45628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에이전트 적용 — 다섯 번째 등급 '해석' 신설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98932" y="5244084"/>
            <a:ext cx="11094415" cy="6766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2" name="Shape 36"/>
          <p:cNvSpPr/>
          <p:nvPr/>
        </p:nvSpPr>
        <p:spPr>
          <a:xfrm>
            <a:off x="548640" y="5193792"/>
            <a:ext cx="11094415" cy="6766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13232" y="5340096"/>
            <a:ext cx="384048" cy="384048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713232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39"/>
          <p:cNvSpPr txBox="1"/>
          <p:nvPr/>
        </p:nvSpPr>
        <p:spPr>
          <a:xfrm>
            <a:off x="1243584" y="5266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키와 대외비는 저장소 밖에 둔다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1243584" y="5541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.gitignore 는 약하다. git add -f 한 번이면 뚫린다.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035040" y="5349240"/>
            <a:ext cx="5394960" cy="365760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5449824"/>
            <a:ext cx="237744" cy="146304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6473952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에이전트 적용 — 출력 scrub() 강제 · 게이트 ⑥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인용: CLAUDE.md '절대 깨지 말아야 할 것' §1~§5 · selftest 128개가 ①·⑤의 코드 측면을 이미 검사한다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1 · ★ 이미 재고 있는 것 — 리픽싱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리픽싱 — 주가가 더 내리면 희석이 얼마나 가속되는가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전환가액은 고정이 아니다. 주가가 내리면 따라 내리고, 그만큼 잠재주식수가 늘어난다. 최저한도에 닿기 전까지는 계속 늘어난다.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5943600" cy="22311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5943600" cy="2231136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ki_monitor.py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066544"/>
            <a:ext cx="554126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refix_scenario(cb_amount, price, floor_price,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drops=(0.9, 0.8, 0.7)) -&gt; list[dict]: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"""주가가 더 내리면 희석이 얼마나 가속되는가."""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[]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 in drops: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px = price * d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 = max(px, floor_price)          # 최저조정한도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out.append({"price": round(px, 1),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"conv_price": round(cv, 1),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"potential_shares":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round(cb_amount / cv) if cv else None})</a:t>
            </a:r>
            <a:endParaRPr lang="en-US" sz="920" dirty="0"/>
          </a:p>
          <a:p>
            <a:pPr indent="0" marL="0">
              <a:lnSpc>
                <a:spcPts val="1240"/>
              </a:lnSpc>
              <a:buNone/>
            </a:pPr>
            <a:r>
              <a:rPr lang="en-US" sz="9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743700" y="1769364"/>
            <a:ext cx="4946904" cy="22311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0" name="Shape 8"/>
          <p:cNvSpPr/>
          <p:nvPr/>
        </p:nvSpPr>
        <p:spPr>
          <a:xfrm>
            <a:off x="6693408" y="1719072"/>
            <a:ext cx="4946904" cy="2231136"/>
          </a:xfrm>
          <a:prstGeom prst="rect">
            <a:avLst/>
          </a:prstGeom>
          <a:solidFill>
            <a:srgbClr val="171E3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94576" y="1828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 예 · CB 10억 · 현재가 10,000 · 하한 7,000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94576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주가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전환가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잠재주식수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94576" y="2377440"/>
            <a:ext cx="4535424" cy="31089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86016" y="23774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기준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377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377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2377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100,000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94576" y="2706624"/>
            <a:ext cx="4535424" cy="310896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86016" y="27066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-10%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27066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9,000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27066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9,000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27066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111,111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94576" y="3035808"/>
            <a:ext cx="4535424" cy="31089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86016" y="30358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-20%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0358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8,000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30358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8,000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30358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125,000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94576" y="3364992"/>
            <a:ext cx="4535424" cy="310896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86016" y="3364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-30%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33649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7,000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33649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7,000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3649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142,857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894576" y="36941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-30% 에서 하한에 닿는다 — 그 아래로는 더 늘지 않는다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8932" y="4165092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114800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최저조정한도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45171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최초 전환가액의 70%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477316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밑으로 내리려면 발행 시마다 주주총회 특별결의가 필요하다. 정관에 근거를 두는 방식은 2021년 개정으로 막혔다.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57116" y="4165092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2" name="Shape 40"/>
          <p:cNvSpPr/>
          <p:nvPr/>
        </p:nvSpPr>
        <p:spPr>
          <a:xfrm>
            <a:off x="4306824" y="4114800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89704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상향조정 의무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4489704" y="45171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사모 발행 · 70~100%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489704" y="477316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하락으로 조정한 뒤 주가가 오르면 다시 올려야 한다. 범위는 최초 전환가액을 넘지 못한다.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15300" y="4165092"/>
            <a:ext cx="3602736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7" name="Shape 45"/>
          <p:cNvSpPr/>
          <p:nvPr/>
        </p:nvSpPr>
        <p:spPr>
          <a:xfrm>
            <a:off x="8065008" y="4114800"/>
            <a:ext cx="3602736" cy="13716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47888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콜옵션 공시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247888" y="45171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행사자 공시 의무화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8247888" y="477316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발행사·최대주주가 되사는 콜옵션의 행사자와 조건이 공시 대상이 됐다. 지분 변동 감시에 쓴다.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8932" y="5682996"/>
            <a:ext cx="11094415" cy="603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5632704"/>
            <a:ext cx="11094415" cy="603504"/>
          </a:xfrm>
          <a:prstGeom prst="rect">
            <a:avLst/>
          </a:prstGeom>
          <a:solidFill>
            <a:srgbClr val="2A1520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86384" y="5632704"/>
            <a:ext cx="106189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함께 낸다 — </a:t>
            </a:r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floor_price 는 우리가 넣는 값이다. 실제 조항(조정 주기·한도·예외)은 증권신고서와 주요사항보고서 원문을 봐야 한다. 공시 제목만으로는 알 수 없고, 이 도구는 원문 링크를 달아 둔다.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1 · ★★ 이미 재고 있는 것 — 희석 ≠ 권리락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희석은 권리락이 아니다 — 수정주가를 조정하면 안 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메자닌 포트폴리오는 CB 전환이 상시 일어난다. 주식수 증가를 자동으로 권리락으로 처리하는 순간, 과거 수익률이 조용히 틀어진다.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5413248" cy="29260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5413248" cy="2926080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83664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0704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무상증자 · 액면분할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1463040" cy="29260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97680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조정한다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49808" y="2304288"/>
            <a:ext cx="5010912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7824" y="2304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주식수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23042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9808" y="2688336"/>
            <a:ext cx="5010912" cy="329184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7824" y="26883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주가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377440" y="2688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÷2 (권리락)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9808" y="3072384"/>
            <a:ext cx="5010912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77824" y="3072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시가총액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377440" y="30723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불변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49808" y="3456432"/>
            <a:ext cx="5010912" cy="329184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77824" y="3456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수정주가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2377440" y="3456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과거를 ÷2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39684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실측이 주식수 비율을 뒷받침한다. 같은 날 주가가 정확히 절반이 됐다면 권리락이다.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49924" y="1769364"/>
            <a:ext cx="5413248" cy="29260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5" name="Shape 22"/>
          <p:cNvSpPr/>
          <p:nvPr/>
        </p:nvSpPr>
        <p:spPr>
          <a:xfrm>
            <a:off x="6199632" y="1719072"/>
            <a:ext cx="5413248" cy="2926080"/>
          </a:xfrm>
          <a:prstGeom prst="rect">
            <a:avLst/>
          </a:prstGeom>
          <a:solidFill>
            <a:srgbClr val="171E30"/>
          </a:solidFill>
          <a:ln w="15875">
            <a:solidFill>
              <a:srgbClr val="FF4D6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83664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711696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 전환 · 유상증자 · 옵션행사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9948672" y="1828800"/>
            <a:ext cx="1463040" cy="292608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9948672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조정하지 않는다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400800" y="2304288"/>
            <a:ext cx="5010912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528816" y="2304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주식수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8028432" y="23042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+2.5%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400800" y="2688336"/>
            <a:ext cx="5010912" cy="329184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528816" y="26883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주가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8028432" y="2688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시장이 정한다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400800" y="3072384"/>
            <a:ext cx="5010912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528816" y="3072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시가총액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8028432" y="30723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증가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400800" y="3456432"/>
            <a:ext cx="5010912" cy="329184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6528816" y="3456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수정주가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8028432" y="3456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그대로 둔다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6400800" y="39684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주식수만 늘고 권리락은 없다. 여기서 조정하면 전환 이전 구간 수익률이 통째로 왜곡된다.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98932" y="4841748"/>
            <a:ext cx="7223760" cy="14447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4" name="Shape 40"/>
          <p:cNvSpPr/>
          <p:nvPr/>
        </p:nvSpPr>
        <p:spPr>
          <a:xfrm>
            <a:off x="548640" y="4791456"/>
            <a:ext cx="7223760" cy="1444752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68096" y="4901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selftest — 이 구분을 매번 검사한다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768096" y="5157216"/>
            <a:ext cx="6821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0"/>
              </a:lnSpc>
              <a:buNone/>
            </a:pPr>
            <a:r>
              <a:rPr lang="en-US" sz="86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d.loc[200:, "shares"] *= 1.025              # 주식수만 +2.5%</a:t>
            </a:r>
            <a:endParaRPr lang="en-US" sz="860" dirty="0"/>
          </a:p>
          <a:p>
            <a:pPr indent="0" marL="0">
              <a:lnSpc>
                <a:spcPts val="1160"/>
              </a:lnSpc>
              <a:buNone/>
            </a:pPr>
            <a:r>
              <a:rPr lang="en-US" sz="86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d.loc[200, ["open","high","low","close"]] *= 0.90   # 시장 하락</a:t>
            </a:r>
            <a:endParaRPr lang="en-US" sz="860" dirty="0"/>
          </a:p>
          <a:p>
            <a:pPr indent="0" marL="0">
              <a:lnSpc>
                <a:spcPts val="1160"/>
              </a:lnSpc>
              <a:buNone/>
            </a:pPr>
            <a:r>
              <a:rPr lang="en-US" sz="86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adjust_audit(d)</a:t>
            </a:r>
            <a:endParaRPr lang="en-US" sz="860" dirty="0"/>
          </a:p>
          <a:p>
            <a:pPr indent="0" marL="0">
              <a:lnSpc>
                <a:spcPts val="1160"/>
              </a:lnSpc>
              <a:buNone/>
            </a:pPr>
            <a:r>
              <a:rPr lang="en-US" sz="86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_assert(r["n_actions"] == 0)                # 조정하지 않는다</a:t>
            </a:r>
            <a:endParaRPr lang="en-US" sz="860" dirty="0"/>
          </a:p>
          <a:p>
            <a:pPr indent="0" marL="0">
              <a:lnSpc>
                <a:spcPts val="1160"/>
              </a:lnSpc>
              <a:buNone/>
            </a:pPr>
            <a:r>
              <a:rPr lang="en-US" sz="86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_assert(len(r["unresolved"]) == 1)          # 대신 "확인 필요" 로 표시</a:t>
            </a:r>
            <a:endParaRPr lang="en-US" sz="860" dirty="0"/>
          </a:p>
        </p:txBody>
      </p:sp>
      <p:sp>
        <p:nvSpPr>
          <p:cNvPr id="47" name="Shape 43"/>
          <p:cNvSpPr/>
          <p:nvPr/>
        </p:nvSpPr>
        <p:spPr>
          <a:xfrm>
            <a:off x="8023860" y="4841748"/>
            <a:ext cx="3666744" cy="14447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4"/>
          <p:cNvSpPr/>
          <p:nvPr/>
        </p:nvSpPr>
        <p:spPr>
          <a:xfrm>
            <a:off x="7973568" y="4791456"/>
            <a:ext cx="3666744" cy="1444752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174736" y="4919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지우지 않고 남긴다</a:t>
            </a:r>
            <a:endParaRPr lang="en-US" sz="1250" dirty="0"/>
          </a:p>
        </p:txBody>
      </p:sp>
      <p:sp>
        <p:nvSpPr>
          <p:cNvPr id="50" name="Text 46"/>
          <p:cNvSpPr txBox="1"/>
          <p:nvPr/>
        </p:nvSpPr>
        <p:spPr>
          <a:xfrm>
            <a:off x="8174736" y="521208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판별이 안 되면 조정하지도, 없애지도 않고 '확인 필요' 로 남긴다. 사람이 DART 원문을 보고 판단한다.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조용히 처리하는 것이 가장 위험하다.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1 · 이미 재고 있는 것 — 처분 여건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 소요일수 — 평균과 중앙값을 나란히 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 소형주는 거래대금이 상위 며칠에 몰린다. 평균 거래량으로 나누면 실제보다 짧게 나오고, 그 낙관이 회수 계획에 그대로 들어간다.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5577840" cy="22860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5577840" cy="22860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65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종목, 두 기준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8096" y="2249424"/>
            <a:ext cx="5138928" cy="34747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2494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물량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494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1,200,000 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" y="2651760"/>
            <a:ext cx="5138928" cy="347472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651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거래량 기준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 영업일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" y="3054096"/>
            <a:ext cx="5138928" cy="34747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0540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 기준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0540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18.1 영업일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" y="3456432"/>
            <a:ext cx="5138928" cy="347472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3456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456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+5.7 일 (46%)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37856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숫자는 예시입니다 (실제 값은 대외비)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23076" y="1787652"/>
            <a:ext cx="5367528" cy="5120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2" name="Shape 20"/>
          <p:cNvSpPr/>
          <p:nvPr/>
        </p:nvSpPr>
        <p:spPr>
          <a:xfrm>
            <a:off x="6272784" y="1737360"/>
            <a:ext cx="5367528" cy="5120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55664" y="1847088"/>
            <a:ext cx="109728" cy="29260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17373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가정을 드러낸다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17373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참여율(일 거래량의 몇 %까지 낼 것인가)을 표에 적고 민감도를 함께 낸다. 숫자만 내면 가정이 숨는다.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23076" y="2372868"/>
            <a:ext cx="5367528" cy="5120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7" name="Shape 25"/>
          <p:cNvSpPr/>
          <p:nvPr/>
        </p:nvSpPr>
        <p:spPr>
          <a:xfrm>
            <a:off x="6272784" y="2322576"/>
            <a:ext cx="5367528" cy="5120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55664" y="2432304"/>
            <a:ext cx="109728" cy="292608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75120" y="232257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스프레드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23225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Roll(1984) 추정치. 호가가 없어도 종가 계열만으로 거래비용을 잰다.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23076" y="2958084"/>
            <a:ext cx="5367528" cy="5120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2" name="Shape 30"/>
          <p:cNvSpPr/>
          <p:nvPr/>
        </p:nvSpPr>
        <p:spPr>
          <a:xfrm>
            <a:off x="6272784" y="2907792"/>
            <a:ext cx="5367528" cy="5120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55664" y="3017520"/>
            <a:ext cx="109728" cy="29260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75120" y="29077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비유동성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29077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Amihud(2002) — 거래대금당 가격 충격. 코스닥 소형주에서 특히 크다.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3076" y="3543300"/>
            <a:ext cx="5367528" cy="5120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7" name="Shape 35"/>
          <p:cNvSpPr/>
          <p:nvPr/>
        </p:nvSpPr>
        <p:spPr>
          <a:xfrm>
            <a:off x="6272784" y="3493008"/>
            <a:ext cx="5367528" cy="5120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5664" y="3602736"/>
            <a:ext cx="109728" cy="29260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75120" y="34930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매물대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34930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가격대별 거래대금 분포. 어느 구간에 물량이 쌓여 있는지 본다.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23076" y="4165092"/>
            <a:ext cx="5367528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2" name="Shape 40"/>
          <p:cNvSpPr/>
          <p:nvPr/>
        </p:nvSpPr>
        <p:spPr>
          <a:xfrm>
            <a:off x="6272784" y="4114800"/>
            <a:ext cx="5367528" cy="137160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55664" y="42428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락업이 남아 있으면 소요일수는 의미가 없다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55664" y="4535424"/>
            <a:ext cx="4974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 여건은 '팔 수 있는 상태인가'와 '판다면 며칠 걸리는가'가 곱해진 값이다. 락업 잔여일이 소요일수보다 길면, 소요일수는 아직 답이 아니라 준비다.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8932" y="4165092"/>
            <a:ext cx="5577840" cy="13716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6" name="Shape 44"/>
          <p:cNvSpPr/>
          <p:nvPr/>
        </p:nvSpPr>
        <p:spPr>
          <a:xfrm>
            <a:off x="548640" y="4114800"/>
            <a:ext cx="5577840" cy="1371600"/>
          </a:xfrm>
          <a:prstGeom prst="rect">
            <a:avLst/>
          </a:prstGeom>
          <a:solidFill>
            <a:srgbClr val="2A1520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8096" y="42428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중앙값을 함께 내는가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68096" y="4535424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발표·테마 뉴스가 있던 며칠이 평균을 끌어올린다. 그날 팔 수 있었을지는 별개 문제다. 중앙값은 '평범한 날'에 낼 수 있는 물량을 본다.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8932" y="5682996"/>
            <a:ext cx="11094415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5632704"/>
            <a:ext cx="11094415" cy="56692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6384" y="5632704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등급 — </a:t>
            </a:r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[1차] KRX 일별매매정보 거래량·거래대금 · [방법론] 처분 소요일 = 목표 물량 ÷ 기간 거래량, 가정은 표에 명시 · [사내] exit_plan.csv 의 목표 물량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2 ·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12편은 목록이 아니라 스냅샷이다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.papers.json 의 verified 는 2026-09-05 다. 그날 이후로 이 데스크의 방법론은 멈춰 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5486400" cy="4169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5486400" cy="4169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653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adopted = 12   ·   frozen @ 2026-09-05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786384" y="2304288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52144" y="2350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roll1984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52144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1984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2084832" y="23042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450592" y="2350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j1990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2450592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1990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3383280" y="230428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749040" y="2350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ritter1991</a:t>
            </a:r>
            <a:endParaRPr lang="en-US" sz="850" dirty="0"/>
          </a:p>
        </p:txBody>
      </p:sp>
      <p:sp>
        <p:nvSpPr>
          <p:cNvPr id="16" name="Text 11"/>
          <p:cNvSpPr txBox="1"/>
          <p:nvPr/>
        </p:nvSpPr>
        <p:spPr>
          <a:xfrm>
            <a:off x="3749040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1991</a:t>
            </a:r>
            <a:endParaRPr lang="en-US" sz="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4681728" y="230428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047488" y="2350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jt1993</a:t>
            </a:r>
            <a:endParaRPr lang="en-US" sz="850" dirty="0"/>
          </a:p>
        </p:txBody>
      </p:sp>
      <p:sp>
        <p:nvSpPr>
          <p:cNvPr id="19" name="Text 13"/>
          <p:cNvSpPr txBox="1"/>
          <p:nvPr/>
        </p:nvSpPr>
        <p:spPr>
          <a:xfrm>
            <a:off x="5047488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1993</a:t>
            </a:r>
            <a:endParaRPr lang="en-US" sz="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786384" y="3236976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52144" y="3282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dnr1998</a:t>
            </a:r>
            <a:endParaRPr lang="en-US" sz="850" dirty="0"/>
          </a:p>
        </p:txBody>
      </p:sp>
      <p:sp>
        <p:nvSpPr>
          <p:cNvPr id="22" name="Text 15"/>
          <p:cNvSpPr txBox="1"/>
          <p:nvPr/>
        </p:nvSpPr>
        <p:spPr>
          <a:xfrm>
            <a:off x="1152144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1998</a:t>
            </a:r>
            <a:endParaRPr lang="en-US" sz="8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2084832" y="3236976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50592" y="3282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ac2000</a:t>
            </a:r>
            <a:endParaRPr lang="en-US" sz="850" dirty="0"/>
          </a:p>
        </p:txBody>
      </p:sp>
      <p:sp>
        <p:nvSpPr>
          <p:cNvPr id="25" name="Text 17"/>
          <p:cNvSpPr txBox="1"/>
          <p:nvPr/>
        </p:nvSpPr>
        <p:spPr>
          <a:xfrm>
            <a:off x="2450592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8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>
            <a:alphaModFix amt="55000"/>
          </a:blip>
          <a:stretch>
            <a:fillRect/>
          </a:stretch>
        </p:blipFill>
        <p:spPr>
          <a:xfrm>
            <a:off x="3383280" y="3236976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749040" y="3282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fh2001</a:t>
            </a:r>
            <a:endParaRPr lang="en-US" sz="850" dirty="0"/>
          </a:p>
        </p:txBody>
      </p:sp>
      <p:sp>
        <p:nvSpPr>
          <p:cNvPr id="28" name="Text 19"/>
          <p:cNvSpPr txBox="1"/>
          <p:nvPr/>
        </p:nvSpPr>
        <p:spPr>
          <a:xfrm>
            <a:off x="3749040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</a:t>
            </a:r>
            <a:endParaRPr lang="en-US" sz="8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>
            <a:alphaModFix amt="55000"/>
          </a:blip>
          <a:stretch>
            <a:fillRect/>
          </a:stretch>
        </p:blipFill>
        <p:spPr>
          <a:xfrm>
            <a:off x="4681728" y="3236976"/>
            <a:ext cx="310896" cy="31089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047488" y="3282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amihud2002</a:t>
            </a:r>
            <a:endParaRPr lang="en-US" sz="850" dirty="0"/>
          </a:p>
        </p:txBody>
      </p:sp>
      <p:sp>
        <p:nvSpPr>
          <p:cNvPr id="31" name="Text 21"/>
          <p:cNvSpPr txBox="1"/>
          <p:nvPr/>
        </p:nvSpPr>
        <p:spPr>
          <a:xfrm>
            <a:off x="5047488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2002</a:t>
            </a:r>
            <a:endParaRPr lang="en-US" sz="8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>
            <a:alphaModFix amt="55000"/>
          </a:blip>
          <a:stretch>
            <a:fillRect/>
          </a:stretch>
        </p:blipFill>
        <p:spPr>
          <a:xfrm>
            <a:off x="786384" y="4169664"/>
            <a:ext cx="310896" cy="31089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152144" y="4215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gh2004</a:t>
            </a:r>
            <a:endParaRPr lang="en-US" sz="850" dirty="0"/>
          </a:p>
        </p:txBody>
      </p:sp>
      <p:sp>
        <p:nvSpPr>
          <p:cNvPr id="34" name="Text 23"/>
          <p:cNvSpPr txBox="1"/>
          <p:nvPr/>
        </p:nvSpPr>
        <p:spPr>
          <a:xfrm>
            <a:off x="1152144" y="4407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2004</a:t>
            </a:r>
            <a:endParaRPr lang="en-US" sz="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>
            <a:alphaModFix amt="55000"/>
          </a:blip>
          <a:stretch>
            <a:fillRect/>
          </a:stretch>
        </p:blipFill>
        <p:spPr>
          <a:xfrm>
            <a:off x="2084832" y="4169664"/>
            <a:ext cx="310896" cy="31089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2450592" y="4215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athl2005</a:t>
            </a:r>
            <a:endParaRPr lang="en-US" sz="850" dirty="0"/>
          </a:p>
        </p:txBody>
      </p:sp>
      <p:sp>
        <p:nvSpPr>
          <p:cNvPr id="37" name="Text 25"/>
          <p:cNvSpPr txBox="1"/>
          <p:nvPr/>
        </p:nvSpPr>
        <p:spPr>
          <a:xfrm>
            <a:off x="2450592" y="4407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2005</a:t>
            </a:r>
            <a:endParaRPr lang="en-US" sz="8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>
            <a:alphaModFix amt="55000"/>
          </a:blip>
          <a:stretch>
            <a:fillRect/>
          </a:stretch>
        </p:blipFill>
        <p:spPr>
          <a:xfrm>
            <a:off x="3383280" y="4169664"/>
            <a:ext cx="310896" cy="310896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3749040" y="4215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ahxz2006</a:t>
            </a:r>
            <a:endParaRPr lang="en-US" sz="850" dirty="0"/>
          </a:p>
        </p:txBody>
      </p:sp>
      <p:sp>
        <p:nvSpPr>
          <p:cNvPr id="40" name="Text 27"/>
          <p:cNvSpPr txBox="1"/>
          <p:nvPr/>
        </p:nvSpPr>
        <p:spPr>
          <a:xfrm>
            <a:off x="3749040" y="4407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2006</a:t>
            </a:r>
            <a:endParaRPr lang="en-US" sz="8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>
            <a:alphaModFix amt="55000"/>
          </a:blip>
          <a:stretch>
            <a:fillRect/>
          </a:stretch>
        </p:blipFill>
        <p:spPr>
          <a:xfrm>
            <a:off x="4681728" y="4169664"/>
            <a:ext cx="310896" cy="310896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5047488" y="4215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cs2012</a:t>
            </a:r>
            <a:endParaRPr lang="en-US" sz="850" dirty="0"/>
          </a:p>
        </p:txBody>
      </p:sp>
      <p:sp>
        <p:nvSpPr>
          <p:cNvPr id="43" name="Text 29"/>
          <p:cNvSpPr txBox="1"/>
          <p:nvPr/>
        </p:nvSpPr>
        <p:spPr>
          <a:xfrm>
            <a:off x="5047488" y="4407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2012</a:t>
            </a:r>
            <a:endParaRPr lang="en-US" sz="800" dirty="0"/>
          </a:p>
        </p:txBody>
      </p:sp>
      <p:sp>
        <p:nvSpPr>
          <p:cNvPr id="44" name="Text 30"/>
          <p:cNvSpPr txBox="1"/>
          <p:nvPr/>
        </p:nvSpPr>
        <p:spPr>
          <a:xfrm>
            <a:off x="786384" y="4901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최신 채택본이 2012년이다 — 14년치 계량금융이 비어 있다</a:t>
            </a:r>
            <a:endParaRPr lang="en-US" sz="1050" dirty="0"/>
          </a:p>
        </p:txBody>
      </p:sp>
      <p:sp>
        <p:nvSpPr>
          <p:cNvPr id="45" name="Text 31"/>
          <p:cNvSpPr txBox="1"/>
          <p:nvPr/>
        </p:nvSpPr>
        <p:spPr>
          <a:xfrm>
            <a:off x="786384" y="51937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사이 시장미시구조·집행비용 연구가 가장 많이 쌓인 구간이다. 훑지 않아서 없는 것이지, 없어서 없는 것이 아니다.</a:t>
            </a:r>
            <a:endParaRPr lang="en-US" sz="1000" dirty="0"/>
          </a:p>
        </p:txBody>
      </p:sp>
      <p:sp>
        <p:nvSpPr>
          <p:cNvPr id="46" name="Shape 32"/>
          <p:cNvSpPr/>
          <p:nvPr/>
        </p:nvSpPr>
        <p:spPr>
          <a:xfrm>
            <a:off x="6323076" y="1751076"/>
            <a:ext cx="5367528" cy="9326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7" name="Shape 33"/>
          <p:cNvSpPr/>
          <p:nvPr/>
        </p:nvSpPr>
        <p:spPr>
          <a:xfrm>
            <a:off x="6272784" y="1700784"/>
            <a:ext cx="5367528" cy="93268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5664" y="1837944"/>
            <a:ext cx="201168" cy="201168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766560" y="18105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고른 목록은 고른 날짜에서 멈춘다</a:t>
            </a:r>
            <a:endParaRPr lang="en-US" sz="1250" dirty="0"/>
          </a:p>
        </p:txBody>
      </p:sp>
      <p:sp>
        <p:nvSpPr>
          <p:cNvPr id="50" name="Text 35"/>
          <p:cNvSpPr txBox="1"/>
          <p:nvPr/>
        </p:nvSpPr>
        <p:spPr>
          <a:xfrm>
            <a:off x="6766560" y="20848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언제 다시 훑을지가 정해져 있지 않으면, 갱신은 사실상 일어나지 않는다.</a:t>
            </a:r>
            <a:endParaRPr lang="en-US" sz="1000" dirty="0"/>
          </a:p>
        </p:txBody>
      </p:sp>
      <p:sp>
        <p:nvSpPr>
          <p:cNvPr id="51" name="Shape 36"/>
          <p:cNvSpPr/>
          <p:nvPr/>
        </p:nvSpPr>
        <p:spPr>
          <a:xfrm>
            <a:off x="6323076" y="2784348"/>
            <a:ext cx="5367528" cy="9326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2" name="Shape 37"/>
          <p:cNvSpPr/>
          <p:nvPr/>
        </p:nvSpPr>
        <p:spPr>
          <a:xfrm>
            <a:off x="6272784" y="2734056"/>
            <a:ext cx="5367528" cy="93268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5664" y="2871216"/>
            <a:ext cx="201168" cy="201168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6766560" y="284378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8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인용은 검증이 아니다</a:t>
            </a:r>
            <a:endParaRPr lang="en-US" sz="1250" dirty="0"/>
          </a:p>
        </p:txBody>
      </p:sp>
      <p:sp>
        <p:nvSpPr>
          <p:cNvPr id="55" name="Text 39"/>
          <p:cNvSpPr txBox="1"/>
          <p:nvPr/>
        </p:nvSpPr>
        <p:spPr>
          <a:xfrm>
            <a:off x="6766560" y="31181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논문이 미국 대형주에서 보인 효과가 코스닥 소형주에서 성립하는지는 아무도 확인하지 않았다.</a:t>
            </a:r>
            <a:endParaRPr lang="en-US" sz="1000" dirty="0"/>
          </a:p>
        </p:txBody>
      </p:sp>
      <p:sp>
        <p:nvSpPr>
          <p:cNvPr id="56" name="Shape 40"/>
          <p:cNvSpPr/>
          <p:nvPr/>
        </p:nvSpPr>
        <p:spPr>
          <a:xfrm>
            <a:off x="6323076" y="3817620"/>
            <a:ext cx="5367528" cy="9326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7" name="Shape 41"/>
          <p:cNvSpPr/>
          <p:nvPr/>
        </p:nvSpPr>
        <p:spPr>
          <a:xfrm>
            <a:off x="6272784" y="3767328"/>
            <a:ext cx="5367528" cy="93268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5664" y="3904488"/>
            <a:ext cx="201168" cy="201168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6766560" y="387705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채로 계속 쓰인다</a:t>
            </a:r>
            <a:endParaRPr lang="en-US" sz="1250" dirty="0"/>
          </a:p>
        </p:txBody>
      </p:sp>
      <p:sp>
        <p:nvSpPr>
          <p:cNvPr id="60" name="Text 43"/>
          <p:cNvSpPr txBox="1"/>
          <p:nvPr/>
        </p:nvSpPr>
        <p:spPr>
          <a:xfrm>
            <a:off x="6766560" y="41513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채택본에 은퇴 개념이 없다. 뒤집힌 결과도 목록에 남아 계속 인용된다.</a:t>
            </a:r>
            <a:endParaRPr lang="en-US" sz="1000" dirty="0"/>
          </a:p>
        </p:txBody>
      </p:sp>
      <p:sp>
        <p:nvSpPr>
          <p:cNvPr id="61" name="Shape 44"/>
          <p:cNvSpPr/>
          <p:nvPr/>
        </p:nvSpPr>
        <p:spPr>
          <a:xfrm>
            <a:off x="6323076" y="4878324"/>
            <a:ext cx="5367528" cy="104241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2" name="Shape 45"/>
          <p:cNvSpPr/>
          <p:nvPr/>
        </p:nvSpPr>
        <p:spPr>
          <a:xfrm>
            <a:off x="6272784" y="4828032"/>
            <a:ext cx="5367528" cy="1042416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5664" y="4992624"/>
            <a:ext cx="219456" cy="219456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6766560" y="49560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편수를 세지 않는다</a:t>
            </a:r>
            <a:endParaRPr lang="en-US" sz="1300" dirty="0"/>
          </a:p>
        </p:txBody>
      </p:sp>
      <p:sp>
        <p:nvSpPr>
          <p:cNvPr id="65" name="Text 47"/>
          <p:cNvSpPr txBox="1"/>
          <p:nvPr/>
        </p:nvSpPr>
        <p:spPr>
          <a:xfrm>
            <a:off x="6766560" y="52486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"몇 편 있는가"가 아니라 "몇 편이 아직 살아있는가"를 센다. 채택은 상태이지 영구 자격이 아니다.</a:t>
            </a:r>
            <a:endParaRPr lang="en-US" sz="1050" dirty="0"/>
          </a:p>
        </p:txBody>
      </p:sp>
      <p:sp>
        <p:nvSpPr>
          <p:cNvPr id="66" name="Text 48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근거: stock-monitor/.papers.json — schema ki.papers/1 · verified 2026-09-05 · adopted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2 · PAPER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논문은 다섯 관문을 지나야 인용된다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수확은 이미 있다(fetch_papers.py). 새로 넣는 것은 세 번째 — 재현 관문이다.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2157984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2157984" cy="47548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HARVEST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" y="2299716"/>
            <a:ext cx="215798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49424"/>
            <a:ext cx="215798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3957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수확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798064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q-fin 8분류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Semantic Scholar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OpenAlex · Crossref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" y="4041648"/>
            <a:ext cx="1865376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" y="4041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 ~400건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3218688"/>
            <a:ext cx="274320" cy="17373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875788" y="1751076"/>
            <a:ext cx="2157984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3"/>
          <p:cNvSpPr/>
          <p:nvPr/>
        </p:nvSpPr>
        <p:spPr>
          <a:xfrm>
            <a:off x="2825496" y="1700784"/>
            <a:ext cx="2157984" cy="47548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935224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SCREEN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875788" y="2299716"/>
            <a:ext cx="215798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9" name="Shape 16"/>
          <p:cNvSpPr/>
          <p:nvPr/>
        </p:nvSpPr>
        <p:spPr>
          <a:xfrm>
            <a:off x="2825496" y="2249424"/>
            <a:ext cx="215798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71800" y="23957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2971800" y="2798064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초록으로 네 질문 중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하나를 바꾸는가 판정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프리프린트 등급 표시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971800" y="4041648"/>
            <a:ext cx="1865376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971800" y="4041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 ~40건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3218688"/>
            <a:ext cx="274320" cy="17373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152644" y="1751076"/>
            <a:ext cx="2157984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2"/>
          <p:cNvSpPr/>
          <p:nvPr/>
        </p:nvSpPr>
        <p:spPr>
          <a:xfrm>
            <a:off x="5102352" y="1700784"/>
            <a:ext cx="2157984" cy="47548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5212080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REPLICATE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152644" y="2299716"/>
            <a:ext cx="215798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9" name="Shape 25"/>
          <p:cNvSpPr/>
          <p:nvPr/>
        </p:nvSpPr>
        <p:spPr>
          <a:xfrm>
            <a:off x="5102352" y="2249424"/>
            <a:ext cx="215798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248656" y="23957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endParaRPr lang="en-US" sz="1900" dirty="0"/>
          </a:p>
        </p:txBody>
      </p:sp>
      <p:sp>
        <p:nvSpPr>
          <p:cNvPr id="31" name="Text 27"/>
          <p:cNvSpPr txBox="1"/>
          <p:nvPr/>
        </p:nvSpPr>
        <p:spPr>
          <a:xfrm>
            <a:off x="5248656" y="2798064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원장 일봉에서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팩터를 실제로 계산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방향·유의성 대조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248656" y="4041648"/>
            <a:ext cx="1865376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5248656" y="4041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 ~6건</a:t>
            </a:r>
            <a:endParaRPr lang="en-US" sz="10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3218688"/>
            <a:ext cx="274320" cy="17373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7429500" y="1751076"/>
            <a:ext cx="2157984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6" name="Shape 31"/>
          <p:cNvSpPr/>
          <p:nvPr/>
        </p:nvSpPr>
        <p:spPr>
          <a:xfrm>
            <a:off x="7379208" y="1700784"/>
            <a:ext cx="2157984" cy="47548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7488936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ADOPT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7429500" y="2299716"/>
            <a:ext cx="215798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9" name="Shape 34"/>
          <p:cNvSpPr/>
          <p:nvPr/>
        </p:nvSpPr>
        <p:spPr>
          <a:xfrm>
            <a:off x="7379208" y="2249424"/>
            <a:ext cx="215798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525512" y="23957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900" dirty="0"/>
          </a:p>
        </p:txBody>
      </p:sp>
      <p:sp>
        <p:nvSpPr>
          <p:cNvPr id="41" name="Text 36"/>
          <p:cNvSpPr txBox="1"/>
          <p:nvPr/>
        </p:nvSpPr>
        <p:spPr>
          <a:xfrm>
            <a:off x="7525512" y="2798064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Crossref 발행정보 재대조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limits 작성 필수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최대 1편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7525512" y="4041648"/>
            <a:ext cx="1865376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7525512" y="4041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 ~2건</a:t>
            </a:r>
            <a:endParaRPr lang="en-US" sz="10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3218688"/>
            <a:ext cx="274320" cy="173736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9706356" y="1751076"/>
            <a:ext cx="2157984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6" name="Shape 40"/>
          <p:cNvSpPr/>
          <p:nvPr/>
        </p:nvSpPr>
        <p:spPr>
          <a:xfrm>
            <a:off x="9656064" y="1700784"/>
            <a:ext cx="2157984" cy="475488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9765792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DECAY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9706356" y="2299716"/>
            <a:ext cx="215798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9" name="Shape 43"/>
          <p:cNvSpPr/>
          <p:nvPr/>
        </p:nvSpPr>
        <p:spPr>
          <a:xfrm>
            <a:off x="9656064" y="2249424"/>
            <a:ext cx="215798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9802368" y="23957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감가</a:t>
            </a:r>
            <a:endParaRPr lang="en-US" sz="1900" dirty="0"/>
          </a:p>
        </p:txBody>
      </p:sp>
      <p:sp>
        <p:nvSpPr>
          <p:cNvPr id="51" name="Text 45"/>
          <p:cNvSpPr txBox="1"/>
          <p:nvPr/>
        </p:nvSpPr>
        <p:spPr>
          <a:xfrm>
            <a:off x="9802368" y="2798064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반감기마다 재현 재검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실패 시 은퇴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절에 경고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9802368" y="4041648"/>
            <a:ext cx="1865376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9802368" y="4041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상시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598932" y="4969764"/>
            <a:ext cx="11094415" cy="9326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5" name="Shape 49"/>
          <p:cNvSpPr/>
          <p:nvPr/>
        </p:nvSpPr>
        <p:spPr>
          <a:xfrm>
            <a:off x="548640" y="4919472"/>
            <a:ext cx="11094415" cy="93268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768096" y="5029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깔때기가 좁은 것이 정상이다</a:t>
            </a:r>
            <a:endParaRPr lang="en-US" sz="1250" dirty="0"/>
          </a:p>
        </p:txBody>
      </p:sp>
      <p:sp>
        <p:nvSpPr>
          <p:cNvPr id="57" name="Text 51"/>
          <p:cNvSpPr txBox="1"/>
          <p:nvPr/>
        </p:nvSpPr>
        <p:spPr>
          <a:xfrm>
            <a:off x="768096" y="530352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400건을 훑어 2건이 남는다. 훑는 양을 늘리는 것이 목적이 아니라, 남는 2건이 코스닥에서 실제로 성립하는 것이 목적이다.</a:t>
            </a:r>
            <a:endParaRPr lang="en-US" sz="1050" dirty="0"/>
          </a:p>
        </p:txBody>
      </p:sp>
      <p:sp>
        <p:nvSpPr>
          <p:cNvPr id="58" name="Text 52"/>
          <p:cNvSpPr txBox="1"/>
          <p:nvPr/>
        </p:nvSpPr>
        <p:spPr>
          <a:xfrm>
            <a:off x="7772400" y="50474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2200" dirty="0"/>
          </a:p>
        </p:txBody>
      </p:sp>
      <p:sp>
        <p:nvSpPr>
          <p:cNvPr id="59" name="Text 53"/>
          <p:cNvSpPr txBox="1"/>
          <p:nvPr/>
        </p:nvSpPr>
        <p:spPr>
          <a:xfrm>
            <a:off x="8430768" y="51023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300" dirty="0"/>
          </a:p>
        </p:txBody>
      </p:sp>
      <p:sp>
        <p:nvSpPr>
          <p:cNvPr id="60" name="Text 54"/>
          <p:cNvSpPr txBox="1"/>
          <p:nvPr/>
        </p:nvSpPr>
        <p:spPr>
          <a:xfrm>
            <a:off x="7772400" y="54681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수확</a:t>
            </a:r>
            <a:endParaRPr lang="en-US" sz="900" dirty="0"/>
          </a:p>
        </p:txBody>
      </p:sp>
      <p:sp>
        <p:nvSpPr>
          <p:cNvPr id="61" name="Text 55"/>
          <p:cNvSpPr txBox="1"/>
          <p:nvPr/>
        </p:nvSpPr>
        <p:spPr>
          <a:xfrm>
            <a:off x="8759952" y="50474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2200" dirty="0"/>
          </a:p>
        </p:txBody>
      </p:sp>
      <p:sp>
        <p:nvSpPr>
          <p:cNvPr id="62" name="Text 56"/>
          <p:cNvSpPr txBox="1"/>
          <p:nvPr/>
        </p:nvSpPr>
        <p:spPr>
          <a:xfrm>
            <a:off x="9418320" y="51023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300" dirty="0"/>
          </a:p>
        </p:txBody>
      </p:sp>
      <p:sp>
        <p:nvSpPr>
          <p:cNvPr id="63" name="Text 57"/>
          <p:cNvSpPr txBox="1"/>
          <p:nvPr/>
        </p:nvSpPr>
        <p:spPr>
          <a:xfrm>
            <a:off x="8759952" y="54681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심사</a:t>
            </a:r>
            <a:endParaRPr lang="en-US" sz="900" dirty="0"/>
          </a:p>
        </p:txBody>
      </p:sp>
      <p:sp>
        <p:nvSpPr>
          <p:cNvPr id="64" name="Text 58"/>
          <p:cNvSpPr txBox="1"/>
          <p:nvPr/>
        </p:nvSpPr>
        <p:spPr>
          <a:xfrm>
            <a:off x="9747504" y="50474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65" name="Text 59"/>
          <p:cNvSpPr txBox="1"/>
          <p:nvPr/>
        </p:nvSpPr>
        <p:spPr>
          <a:xfrm>
            <a:off x="10405872" y="51023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300" dirty="0"/>
          </a:p>
        </p:txBody>
      </p:sp>
      <p:sp>
        <p:nvSpPr>
          <p:cNvPr id="66" name="Text 60"/>
          <p:cNvSpPr txBox="1"/>
          <p:nvPr/>
        </p:nvSpPr>
        <p:spPr>
          <a:xfrm>
            <a:off x="9747504" y="54681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10735056" y="50474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68" name="Text 62"/>
          <p:cNvSpPr txBox="1"/>
          <p:nvPr/>
        </p:nvSpPr>
        <p:spPr>
          <a:xfrm>
            <a:off x="10735056" y="54681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채택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수확 4곳은 이미 구현돼 있다 (docs/fetch_papers.py --harvest/--adopt/--verify) · 03 재현과 05 감가가 신설분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2 · ★ REPLICATION GATE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관문 — 인용하기 전에 우리 데이터로 계산해 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데스크가 다루는 것은 코스닥 소형주다. 논문 표본이 미국 대형주라면, 그 결론은 가설이지 근거가 아니다.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32788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82496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828800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755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논문에서 검정 가능한 주장 하나를 뽑는다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0116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"거래량이 낮을수록 이후 수익률이 높다" 처럼 방향이 있는 한 문장으로 환원한다. 환원되지 않으면 재현 대상이 아니다.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" y="2519172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468880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15184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542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원장에서 그 팩터를 계산한다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27980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ki.sqlite 일봉으로 팩터를 만든다. 새 데이터를 받지 않는다 — 이미 KRX 공식 API 로 받아 둔 것만 쓴다.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" y="3305556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55264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401568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33284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 전종목에 적용해 방향을 본다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35844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 포트폴리오 스프레드의 부호가 논문과 같은가. 표본이 부족하면 계산을 거부한다(기존 원칙 그대로).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8932" y="4091940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041648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187952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중 하나로 판정한다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43708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재현됨 / 방향 반대 / 판정 불가. 재현되지 않아도 지우지 않고 결과를 남긴다.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" y="4878324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828032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974336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6656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49011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재현된 것만 채택본으로 넘긴다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207008" y="515721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결과와 표본 구간이 논문 항목에 함께 저장돼, 리포트에 인용될 때 같이 따라 나간다.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3428" y="1732788"/>
            <a:ext cx="4837176" cy="3931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6" name="Shape 34"/>
          <p:cNvSpPr/>
          <p:nvPr/>
        </p:nvSpPr>
        <p:spPr>
          <a:xfrm>
            <a:off x="6803136" y="1682496"/>
            <a:ext cx="4837176" cy="39319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86016" y="18105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 예시  ·  win=60 · KOSDAQ 전종목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86016" y="2139696"/>
            <a:ext cx="4480560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095744" y="21396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amihud2002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21396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비유동성 ↑ → 수익 ↑</a:t>
            </a:r>
            <a:endParaRPr lang="en-US" sz="9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2267712"/>
            <a:ext cx="155448" cy="155448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0497312" y="21396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재현됨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986016" y="2615184"/>
            <a:ext cx="4480560" cy="402336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095744" y="26151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dnr1998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8412480" y="26151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회전율 ↓ → 수익 ↑</a:t>
            </a:r>
            <a:endParaRPr lang="en-US" sz="95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2743200"/>
            <a:ext cx="155448" cy="155448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10497312" y="261518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재현됨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986016" y="3090672"/>
            <a:ext cx="4480560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7095744" y="30906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jt1993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8412480" y="3090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모멘텀 지속</a:t>
            </a:r>
            <a:endParaRPr lang="en-US" sz="95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6" y="3218688"/>
            <a:ext cx="155448" cy="155448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10497312" y="30906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방향 반대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6986016" y="3566160"/>
            <a:ext cx="4480560" cy="402336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7095744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ahxz2006</a:t>
            </a:r>
            <a:endParaRPr lang="en-US" sz="950" dirty="0"/>
          </a:p>
        </p:txBody>
      </p:sp>
      <p:sp>
        <p:nvSpPr>
          <p:cNvPr id="55" name="Text 50"/>
          <p:cNvSpPr txBox="1"/>
          <p:nvPr/>
        </p:nvSpPr>
        <p:spPr>
          <a:xfrm>
            <a:off x="8412480" y="35661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특이변동성 ↑ → 수익 ↓</a:t>
            </a:r>
            <a:endParaRPr lang="en-US" sz="950" dirty="0"/>
          </a:p>
        </p:txBody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6" y="3694176"/>
            <a:ext cx="155448" cy="155448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0497312" y="3566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 불가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6986016" y="4041648"/>
            <a:ext cx="4480560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7095744" y="40416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roll1984</a:t>
            </a:r>
            <a:endParaRPr lang="en-US" sz="950" dirty="0"/>
          </a:p>
        </p:txBody>
      </p:sp>
      <p:sp>
        <p:nvSpPr>
          <p:cNvPr id="60" name="Text 54"/>
          <p:cNvSpPr txBox="1"/>
          <p:nvPr/>
        </p:nvSpPr>
        <p:spPr>
          <a:xfrm>
            <a:off x="8412480" y="4041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스프레드 추정</a:t>
            </a:r>
            <a:endParaRPr lang="en-US" sz="950" dirty="0"/>
          </a:p>
        </p:txBody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4169664"/>
            <a:ext cx="155448" cy="155448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10497312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재현됨</a:t>
            </a:r>
            <a:endParaRPr lang="en-US" sz="950" dirty="0"/>
          </a:p>
        </p:txBody>
      </p:sp>
      <p:sp>
        <p:nvSpPr>
          <p:cNvPr id="63" name="Text 56"/>
          <p:cNvSpPr txBox="1"/>
          <p:nvPr/>
        </p:nvSpPr>
        <p:spPr>
          <a:xfrm>
            <a:off x="6986016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jt1993 모멘텀은 코스닥에서 방향이 뒤집힌다 — 널리 알려진 사실이다.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인용은 하되 "우리 표본에서는 반대"가 값에 붙어 나간다.</a:t>
            </a:r>
            <a:endParaRPr lang="en-US" sz="950" dirty="0"/>
          </a:p>
        </p:txBody>
      </p:sp>
      <p:sp>
        <p:nvSpPr>
          <p:cNvPr id="64" name="Text 57"/>
          <p:cNvSpPr txBox="1"/>
          <p:nvPr/>
        </p:nvSpPr>
        <p:spPr>
          <a:xfrm>
            <a:off x="6986016" y="5193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매번 표본 구간과 함께 기록된다. 같은 논문이라도 구간이 바뀌면 판정이 바뀔 수 있고, 그 변화 자체가 신호다.</a:t>
            </a:r>
            <a:endParaRPr lang="en-US" sz="950" dirty="0"/>
          </a:p>
        </p:txBody>
      </p:sp>
      <p:sp>
        <p:nvSpPr>
          <p:cNvPr id="65" name="Shape 58"/>
          <p:cNvSpPr/>
          <p:nvPr/>
        </p:nvSpPr>
        <p:spPr>
          <a:xfrm>
            <a:off x="598932" y="5701284"/>
            <a:ext cx="11094415" cy="603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6" name="Shape 59"/>
          <p:cNvSpPr/>
          <p:nvPr/>
        </p:nvSpPr>
        <p:spPr>
          <a:xfrm>
            <a:off x="548640" y="5650992"/>
            <a:ext cx="11094415" cy="603504"/>
          </a:xfrm>
          <a:prstGeom prst="rect">
            <a:avLst/>
          </a:prstGeom>
          <a:solidFill>
            <a:srgbClr val="2A1520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786384" y="5650992"/>
            <a:ext cx="106189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실패는 실패가 아니다.  </a:t>
            </a:r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논문은 코스닥에서 성립하지 않는다"는 것도 측정 결과다. 지우지 않고 남겨 두면, 다음 사람이 같은 논문을 다시 주워 오는 일을 막는다.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2 · DECAY &amp; RETIRE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채택은 상태이지 영구 자격이 아니다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채택본에도 반감기를 둔다. 반감기가 지나면 재현을 다시 돌리고, 결과에 따라 유지·경고·은퇴로 나뉜다.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32788"/>
            <a:ext cx="5029200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82496"/>
            <a:ext cx="5029200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847088"/>
            <a:ext cx="146304" cy="43891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17922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반감기 180일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06654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후 180영업일이 지나면 재현 재검 대상이 된다. 하루 1편씩 오래된 순으로 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" y="2592324"/>
            <a:ext cx="5029200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542032"/>
            <a:ext cx="5029200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2706624"/>
            <a:ext cx="146304" cy="43891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7552" y="2651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실패 → 경고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92608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재현이 깨지면 은퇴시키지 않고 '경고'로 표시한다. 그 팩터를 쓰는 리포트 절 하단에 그대로 찍힌다.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" y="3451860"/>
            <a:ext cx="5029200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401568"/>
            <a:ext cx="5029200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3566160"/>
            <a:ext cx="146304" cy="43891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2회 실패 → 은퇴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37856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반감기에도 깨지면 은퇴한다. 인용이 끊기고, 그 팩터를 쓰던 계산은 '방법론 없음'으로 빠진다.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" y="4311396"/>
            <a:ext cx="5029200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61104"/>
            <a:ext cx="5029200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" y="4425696"/>
            <a:ext cx="146304" cy="438912"/>
          </a:xfrm>
          <a:prstGeom prst="rect">
            <a:avLst/>
          </a:prstGeom>
          <a:solidFill>
            <a:srgbClr val="5E6B8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7552" y="4370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은퇴본은 지우지 않는다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464515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retired 상태로 원장에 남는다. 같은 논문이 다시 수확되면 '이미 은퇴함'으로 걸러진다.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02452" y="1732788"/>
            <a:ext cx="5788152" cy="34381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4"/>
          <p:cNvSpPr/>
          <p:nvPr/>
        </p:nvSpPr>
        <p:spPr>
          <a:xfrm>
            <a:off x="5852160" y="1682496"/>
            <a:ext cx="5788152" cy="34381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71616" y="18105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채택본 — 12개월 시뮬레이션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071616" y="20665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2편 채택 · 반감기 180일 · 재현 실패율 18% 가정</a:t>
            </a:r>
            <a:endParaRPr lang="en-US" sz="9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053328" y="2340864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5902452" y="5317236"/>
            <a:ext cx="5788152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1" name="Shape 28"/>
          <p:cNvSpPr/>
          <p:nvPr/>
        </p:nvSpPr>
        <p:spPr>
          <a:xfrm>
            <a:off x="5852160" y="5266944"/>
            <a:ext cx="5788152" cy="96926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71616" y="5266944"/>
            <a:ext cx="5349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12편에서 시작해 1년 뒤 63편 — 다만 그 63편은 전부 최근 재현 검사를 통과한 것들이다. 편수가 아니라 통과 여부가 자격이다.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시뮬레이션 가정값이며 실측이 아니다. 실제 채택률은 Phase 2 병행 운영에서 측정한다.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2 · PAPER LEDGER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원장 — 채택도 은퇴도 이력으로 남는다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.papers.json 을 목록에서 append-only 원장으로 바꾼다. 상태가 바뀐 이유가 항상 남아 있어야 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6400800" cy="39502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6400800" cy="3950208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28800"/>
            <a:ext cx="59893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"schema": "ki.papers/2",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"papers":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"amihud2002":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  "Illiquidity and stock returns",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"doi":     "10.1016/S1386-4181(01)00024-6",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"grade":   "저널 게재",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"question": "q2",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"state":   "adopted",        // adopted | warned | retired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"adopted_at":  "2026-02-11",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"half_life_d": 180,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"recheck_due": "2026-11-05",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"replication": [             // append-only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"at": "2026-02-11", "verdict": "재현됨",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"universe": "KOSDAQ", "n": 1418,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"window":   "2023-01-02..2026-02-07",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"claim":    "비유동성 상위분위 초과수익 &gt; 0",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"observed": { "spread_bp": 41, "t": 2.31 }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"limits": [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"표본은 미국 상장주 — 코스닥 외삽 근거 아님",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"거래정지 구간 제외 · 생존편의 보정 안 함"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237476" y="1751076"/>
            <a:ext cx="4453128" cy="8961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7187184" y="1700784"/>
            <a:ext cx="4453128" cy="89611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0064" y="1874520"/>
            <a:ext cx="12801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07808" y="1801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가 자격이다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70064" y="2066544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adopted 만 인용할 수 있다. warned 는 인용은 되지만 경고가 함께 나가고, retired 는 인용 자체가 막힌다.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237476" y="2756916"/>
            <a:ext cx="4453128" cy="8961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4" name="Shape 12"/>
          <p:cNvSpPr/>
          <p:nvPr/>
        </p:nvSpPr>
        <p:spPr>
          <a:xfrm>
            <a:off x="7187184" y="2706624"/>
            <a:ext cx="4453128" cy="89611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2880360"/>
            <a:ext cx="128016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07808" y="2807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replication 은 배열이다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70064" y="3072384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덮어쓰지 않고 쌓는다. 언제 재현했고 그때 무엇을 봤는지가 전부 남아, 판정이 바뀐 이유를 되짚을 수 있다.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37476" y="3762756"/>
            <a:ext cx="4453128" cy="8961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9" name="Shape 17"/>
          <p:cNvSpPr/>
          <p:nvPr/>
        </p:nvSpPr>
        <p:spPr>
          <a:xfrm>
            <a:off x="7187184" y="3712464"/>
            <a:ext cx="4453128" cy="89611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0064" y="3886200"/>
            <a:ext cx="12801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07808" y="3813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observed 는 측정값이다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70064" y="4078224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논문이 뭐라 했는지가 아니라 우리 원장에서 무엇이 나왔는지다. 이 값이 없으면 채택되지 않는다.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37476" y="4768596"/>
            <a:ext cx="4453128" cy="8961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7187184" y="4718304"/>
            <a:ext cx="4453128" cy="89611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70064" y="4892040"/>
            <a:ext cx="128016" cy="128016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07808" y="4818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limits 는 여전히 필수다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70064" y="5084064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논문이 주장하지 않는 것을 함께 낸다. 비어 있으면 게이트가 막는다 — 기존 규칙 그대로.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selftest 확장: 모든 팩터가 state=adopted 인 논문을 인용하는가 · replication 이 비어 있는 채택본이 없는가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TARGET ORG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증권사 조직을 그대로 옮긴다 — 20 데스크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수는 야심이 아니라 CATALOG 가 정한다. 절마다 공급 데이터가 선언돼 있고, 데이터가 있는 절에만 담당을 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2093976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2093976" cy="566928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73936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17556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리서치본부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197510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48640" y="2359152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37744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equity-analyst</a:t>
            </a:r>
            <a:endParaRPr lang="en-US" sz="74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532888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기업분석역</a:t>
            </a:r>
            <a:endParaRPr lang="en-US" sz="760" dirty="0"/>
          </a:p>
        </p:txBody>
      </p:sp>
      <p:sp>
        <p:nvSpPr>
          <p:cNvPr id="13" name="Text 10"/>
          <p:cNvSpPr txBox="1"/>
          <p:nvPr/>
        </p:nvSpPr>
        <p:spPr>
          <a:xfrm>
            <a:off x="2075688" y="23591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§5 · §12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48640" y="2761488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77977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credit-analyst</a:t>
            </a:r>
            <a:endParaRPr lang="en-US" sz="74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935224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크레딧분석역</a:t>
            </a:r>
            <a:endParaRPr lang="en-US" sz="760" dirty="0"/>
          </a:p>
        </p:txBody>
      </p:sp>
      <p:sp>
        <p:nvSpPr>
          <p:cNvPr id="17" name="Text 14"/>
          <p:cNvSpPr txBox="1"/>
          <p:nvPr/>
        </p:nvSpPr>
        <p:spPr>
          <a:xfrm>
            <a:off x="2075688" y="276148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§13 · §11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48640" y="3163824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18211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governance-analyst</a:t>
            </a:r>
            <a:endParaRPr lang="en-US" sz="74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337560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지배구조분석역</a:t>
            </a:r>
            <a:endParaRPr lang="en-US" sz="760" dirty="0"/>
          </a:p>
        </p:txBody>
      </p:sp>
      <p:sp>
        <p:nvSpPr>
          <p:cNvPr id="21" name="Text 18"/>
          <p:cNvSpPr txBox="1"/>
          <p:nvPr/>
        </p:nvSpPr>
        <p:spPr>
          <a:xfrm>
            <a:off x="2075688" y="316382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§14 · §15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48640" y="3566160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584448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capital-structure</a:t>
            </a:r>
            <a:endParaRPr lang="en-US" sz="74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739896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자본구조분석역</a:t>
            </a:r>
            <a:endParaRPr lang="en-US" sz="760" dirty="0"/>
          </a:p>
        </p:txBody>
      </p:sp>
      <p:sp>
        <p:nvSpPr>
          <p:cNvPr id="25" name="Text 22"/>
          <p:cNvSpPr txBox="1"/>
          <p:nvPr/>
        </p:nvSpPr>
        <p:spPr>
          <a:xfrm>
            <a:off x="2075688" y="35661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§6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48640" y="3968496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3986784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quant-researcher</a:t>
            </a:r>
            <a:endParaRPr lang="en-US" sz="74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4142232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계량분석역</a:t>
            </a:r>
            <a:endParaRPr lang="en-US" sz="760" dirty="0"/>
          </a:p>
        </p:txBody>
      </p:sp>
      <p:sp>
        <p:nvSpPr>
          <p:cNvPr id="29" name="Text 26"/>
          <p:cNvSpPr txBox="1"/>
          <p:nvPr/>
        </p:nvSpPr>
        <p:spPr>
          <a:xfrm>
            <a:off x="2075688" y="3968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§16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48640" y="4370832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38912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macro-strategist</a:t>
            </a:r>
            <a:endParaRPr lang="en-US" sz="74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4544568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매크로전략역</a:t>
            </a:r>
            <a:endParaRPr lang="en-US" sz="760" dirty="0"/>
          </a:p>
        </p:txBody>
      </p:sp>
      <p:sp>
        <p:nvSpPr>
          <p:cNvPr id="33" name="Text 30"/>
          <p:cNvSpPr txBox="1"/>
          <p:nvPr/>
        </p:nvSpPr>
        <p:spPr>
          <a:xfrm>
            <a:off x="2075688" y="437083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 · §18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48640" y="4773168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" y="479145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return-analyst</a:t>
            </a:r>
            <a:endParaRPr lang="en-US" sz="74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4946904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수익률분석역</a:t>
            </a:r>
            <a:endParaRPr lang="en-US" sz="760" dirty="0"/>
          </a:p>
        </p:txBody>
      </p:sp>
      <p:sp>
        <p:nvSpPr>
          <p:cNvPr id="37" name="Text 34"/>
          <p:cNvSpPr txBox="1"/>
          <p:nvPr/>
        </p:nvSpPr>
        <p:spPr>
          <a:xfrm>
            <a:off x="2075688" y="477316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§9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862072" y="1751076"/>
            <a:ext cx="2093976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9" name="Shape 36"/>
          <p:cNvSpPr/>
          <p:nvPr/>
        </p:nvSpPr>
        <p:spPr>
          <a:xfrm>
            <a:off x="2811780" y="1700784"/>
            <a:ext cx="2093976" cy="566928"/>
          </a:xfrm>
          <a:prstGeom prst="rect">
            <a:avLst/>
          </a:prstGeom>
          <a:solidFill>
            <a:srgbClr val="FFB627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1773936"/>
            <a:ext cx="420624" cy="420624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3378708" y="17556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트레이딩·집행</a:t>
            </a:r>
            <a:endParaRPr lang="en-US" sz="1150" dirty="0"/>
          </a:p>
        </p:txBody>
      </p:sp>
      <p:sp>
        <p:nvSpPr>
          <p:cNvPr id="42" name="Text 38"/>
          <p:cNvSpPr txBox="1"/>
          <p:nvPr/>
        </p:nvSpPr>
        <p:spPr>
          <a:xfrm>
            <a:off x="3378708" y="197510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2811780" y="2359152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2903220" y="237744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execution-trader</a:t>
            </a:r>
            <a:endParaRPr lang="en-US" sz="740" dirty="0"/>
          </a:p>
        </p:txBody>
      </p:sp>
      <p:sp>
        <p:nvSpPr>
          <p:cNvPr id="45" name="Text 41"/>
          <p:cNvSpPr txBox="1"/>
          <p:nvPr/>
        </p:nvSpPr>
        <p:spPr>
          <a:xfrm>
            <a:off x="2903220" y="2532888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집행역</a:t>
            </a:r>
            <a:endParaRPr lang="en-US" sz="760" dirty="0"/>
          </a:p>
        </p:txBody>
      </p:sp>
      <p:sp>
        <p:nvSpPr>
          <p:cNvPr id="46" name="Text 42"/>
          <p:cNvSpPr txBox="1"/>
          <p:nvPr/>
        </p:nvSpPr>
        <p:spPr>
          <a:xfrm>
            <a:off x="4338828" y="23591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§7</a:t>
            </a:r>
            <a:endParaRPr lang="en-US" sz="700" dirty="0"/>
          </a:p>
        </p:txBody>
      </p:sp>
      <p:sp>
        <p:nvSpPr>
          <p:cNvPr id="47" name="Shape 43"/>
          <p:cNvSpPr/>
          <p:nvPr/>
        </p:nvSpPr>
        <p:spPr>
          <a:xfrm>
            <a:off x="2811780" y="2761488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2903220" y="277977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liquidity-analyst</a:t>
            </a:r>
            <a:endParaRPr lang="en-US" sz="740" dirty="0"/>
          </a:p>
        </p:txBody>
      </p:sp>
      <p:sp>
        <p:nvSpPr>
          <p:cNvPr id="49" name="Text 45"/>
          <p:cNvSpPr txBox="1"/>
          <p:nvPr/>
        </p:nvSpPr>
        <p:spPr>
          <a:xfrm>
            <a:off x="2903220" y="2935224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유동성분석역</a:t>
            </a:r>
            <a:endParaRPr lang="en-US" sz="760" dirty="0"/>
          </a:p>
        </p:txBody>
      </p:sp>
      <p:sp>
        <p:nvSpPr>
          <p:cNvPr id="50" name="Text 46"/>
          <p:cNvSpPr txBox="1"/>
          <p:nvPr/>
        </p:nvSpPr>
        <p:spPr>
          <a:xfrm>
            <a:off x="4338828" y="276148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§8</a:t>
            </a:r>
            <a:endParaRPr lang="en-US" sz="700" dirty="0"/>
          </a:p>
        </p:txBody>
      </p:sp>
      <p:sp>
        <p:nvSpPr>
          <p:cNvPr id="51" name="Shape 47"/>
          <p:cNvSpPr/>
          <p:nvPr/>
        </p:nvSpPr>
        <p:spPr>
          <a:xfrm>
            <a:off x="5125212" y="1751076"/>
            <a:ext cx="2093976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2" name="Shape 48"/>
          <p:cNvSpPr/>
          <p:nvPr/>
        </p:nvSpPr>
        <p:spPr>
          <a:xfrm>
            <a:off x="5074920" y="1700784"/>
            <a:ext cx="2093976" cy="566928"/>
          </a:xfrm>
          <a:prstGeom prst="rect">
            <a:avLst/>
          </a:prstGeom>
          <a:solidFill>
            <a:srgbClr val="FF4D6D"/>
          </a:solidFill>
          <a:ln/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773936"/>
            <a:ext cx="420624" cy="420624"/>
          </a:xfrm>
          <a:prstGeom prst="rect">
            <a:avLst/>
          </a:prstGeom>
        </p:spPr>
      </p:pic>
      <p:sp>
        <p:nvSpPr>
          <p:cNvPr id="54" name="Text 49"/>
          <p:cNvSpPr txBox="1"/>
          <p:nvPr/>
        </p:nvSpPr>
        <p:spPr>
          <a:xfrm>
            <a:off x="5641848" y="17556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리스크관리본부</a:t>
            </a:r>
            <a:endParaRPr lang="en-US" sz="1150" dirty="0"/>
          </a:p>
        </p:txBody>
      </p:sp>
      <p:sp>
        <p:nvSpPr>
          <p:cNvPr id="55" name="Text 50"/>
          <p:cNvSpPr txBox="1"/>
          <p:nvPr/>
        </p:nvSpPr>
        <p:spPr>
          <a:xfrm>
            <a:off x="5641848" y="197510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750" dirty="0"/>
          </a:p>
        </p:txBody>
      </p:sp>
      <p:sp>
        <p:nvSpPr>
          <p:cNvPr id="56" name="Shape 51"/>
          <p:cNvSpPr/>
          <p:nvPr/>
        </p:nvSpPr>
        <p:spPr>
          <a:xfrm>
            <a:off x="5074920" y="2359152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5166360" y="237744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market-risk</a:t>
            </a:r>
            <a:endParaRPr lang="en-US" sz="740" dirty="0"/>
          </a:p>
        </p:txBody>
      </p:sp>
      <p:sp>
        <p:nvSpPr>
          <p:cNvPr id="58" name="Text 53"/>
          <p:cNvSpPr txBox="1"/>
          <p:nvPr/>
        </p:nvSpPr>
        <p:spPr>
          <a:xfrm>
            <a:off x="5166360" y="2532888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시장리스크심사역</a:t>
            </a:r>
            <a:endParaRPr lang="en-US" sz="760" dirty="0"/>
          </a:p>
        </p:txBody>
      </p:sp>
      <p:sp>
        <p:nvSpPr>
          <p:cNvPr id="59" name="Text 54"/>
          <p:cNvSpPr txBox="1"/>
          <p:nvPr/>
        </p:nvSpPr>
        <p:spPr>
          <a:xfrm>
            <a:off x="6601968" y="23591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5074920" y="2761488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5166360" y="277977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concentration-risk</a:t>
            </a:r>
            <a:endParaRPr lang="en-US" sz="740" dirty="0"/>
          </a:p>
        </p:txBody>
      </p:sp>
      <p:sp>
        <p:nvSpPr>
          <p:cNvPr id="62" name="Text 57"/>
          <p:cNvSpPr txBox="1"/>
          <p:nvPr/>
        </p:nvSpPr>
        <p:spPr>
          <a:xfrm>
            <a:off x="5166360" y="2935224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집중도심사역</a:t>
            </a:r>
            <a:endParaRPr lang="en-US" sz="760" dirty="0"/>
          </a:p>
        </p:txBody>
      </p:sp>
      <p:sp>
        <p:nvSpPr>
          <p:cNvPr id="63" name="Text 58"/>
          <p:cNvSpPr txBox="1"/>
          <p:nvPr/>
        </p:nvSpPr>
        <p:spPr>
          <a:xfrm>
            <a:off x="6601968" y="276148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</a:t>
            </a:r>
            <a:endParaRPr lang="en-US" sz="700" dirty="0"/>
          </a:p>
        </p:txBody>
      </p:sp>
      <p:sp>
        <p:nvSpPr>
          <p:cNvPr id="64" name="Shape 59"/>
          <p:cNvSpPr/>
          <p:nvPr/>
        </p:nvSpPr>
        <p:spPr>
          <a:xfrm>
            <a:off x="5074920" y="3163824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5166360" y="318211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model-risk ★</a:t>
            </a:r>
            <a:endParaRPr lang="en-US" sz="740" dirty="0"/>
          </a:p>
        </p:txBody>
      </p:sp>
      <p:sp>
        <p:nvSpPr>
          <p:cNvPr id="66" name="Text 61"/>
          <p:cNvSpPr txBox="1"/>
          <p:nvPr/>
        </p:nvSpPr>
        <p:spPr>
          <a:xfrm>
            <a:off x="5166360" y="3337560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모델리스크심사역</a:t>
            </a:r>
            <a:endParaRPr lang="en-US" sz="760" dirty="0"/>
          </a:p>
        </p:txBody>
      </p:sp>
      <p:sp>
        <p:nvSpPr>
          <p:cNvPr id="67" name="Text 62"/>
          <p:cNvSpPr txBox="1"/>
          <p:nvPr/>
        </p:nvSpPr>
        <p:spPr>
          <a:xfrm>
            <a:off x="6601968" y="316382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 검증</a:t>
            </a:r>
            <a:endParaRPr lang="en-US" sz="700" dirty="0"/>
          </a:p>
        </p:txBody>
      </p:sp>
      <p:sp>
        <p:nvSpPr>
          <p:cNvPr id="68" name="Text 63"/>
          <p:cNvSpPr txBox="1"/>
          <p:nvPr/>
        </p:nvSpPr>
        <p:spPr>
          <a:xfrm>
            <a:off x="5074920" y="3584448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거부권</a:t>
            </a:r>
            <a:endParaRPr lang="en-US" sz="850" dirty="0"/>
          </a:p>
        </p:txBody>
      </p:sp>
      <p:sp>
        <p:nvSpPr>
          <p:cNvPr id="69" name="Shape 64"/>
          <p:cNvSpPr/>
          <p:nvPr/>
        </p:nvSpPr>
        <p:spPr>
          <a:xfrm>
            <a:off x="7388352" y="1751076"/>
            <a:ext cx="2093976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0" name="Shape 65"/>
          <p:cNvSpPr/>
          <p:nvPr/>
        </p:nvSpPr>
        <p:spPr>
          <a:xfrm>
            <a:off x="7338060" y="1700784"/>
            <a:ext cx="2093976" cy="566928"/>
          </a:xfrm>
          <a:prstGeom prst="rect">
            <a:avLst/>
          </a:prstGeom>
          <a:solidFill>
            <a:srgbClr val="FF7847"/>
          </a:solidFill>
          <a:ln/>
        </p:spPr>
      </p:sp>
      <p:pic>
        <p:nvPicPr>
          <p:cNvPr id="7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1773936"/>
            <a:ext cx="420624" cy="420624"/>
          </a:xfrm>
          <a:prstGeom prst="rect">
            <a:avLst/>
          </a:prstGeom>
        </p:spPr>
      </p:pic>
      <p:sp>
        <p:nvSpPr>
          <p:cNvPr id="72" name="Text 66"/>
          <p:cNvSpPr txBox="1"/>
          <p:nvPr/>
        </p:nvSpPr>
        <p:spPr>
          <a:xfrm>
            <a:off x="7904988" y="17556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준법·감사</a:t>
            </a:r>
            <a:endParaRPr lang="en-US" sz="1150" dirty="0"/>
          </a:p>
        </p:txBody>
      </p:sp>
      <p:sp>
        <p:nvSpPr>
          <p:cNvPr id="73" name="Text 67"/>
          <p:cNvSpPr txBox="1"/>
          <p:nvPr/>
        </p:nvSpPr>
        <p:spPr>
          <a:xfrm>
            <a:off x="7904988" y="197510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74" name="Shape 68"/>
          <p:cNvSpPr/>
          <p:nvPr/>
        </p:nvSpPr>
        <p:spPr>
          <a:xfrm>
            <a:off x="7338060" y="2359152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FF7847"/>
            </a:solidFill>
            <a:prstDash val="solid"/>
          </a:ln>
        </p:spPr>
      </p:sp>
      <p:sp>
        <p:nvSpPr>
          <p:cNvPr id="75" name="Text 69"/>
          <p:cNvSpPr txBox="1"/>
          <p:nvPr/>
        </p:nvSpPr>
        <p:spPr>
          <a:xfrm>
            <a:off x="7429500" y="237744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compliance-officer</a:t>
            </a:r>
            <a:endParaRPr lang="en-US" sz="740" dirty="0"/>
          </a:p>
        </p:txBody>
      </p:sp>
      <p:sp>
        <p:nvSpPr>
          <p:cNvPr id="76" name="Text 70"/>
          <p:cNvSpPr txBox="1"/>
          <p:nvPr/>
        </p:nvSpPr>
        <p:spPr>
          <a:xfrm>
            <a:off x="7429500" y="2532888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준법감시역</a:t>
            </a:r>
            <a:endParaRPr lang="en-US" sz="760" dirty="0"/>
          </a:p>
        </p:txBody>
      </p:sp>
      <p:sp>
        <p:nvSpPr>
          <p:cNvPr id="77" name="Text 71"/>
          <p:cNvSpPr txBox="1"/>
          <p:nvPr/>
        </p:nvSpPr>
        <p:spPr>
          <a:xfrm>
            <a:off x="8865108" y="23591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7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게이트 ①~⑦</a:t>
            </a:r>
            <a:endParaRPr lang="en-US" sz="700" dirty="0"/>
          </a:p>
        </p:txBody>
      </p:sp>
      <p:sp>
        <p:nvSpPr>
          <p:cNvPr id="78" name="Shape 72"/>
          <p:cNvSpPr/>
          <p:nvPr/>
        </p:nvSpPr>
        <p:spPr>
          <a:xfrm>
            <a:off x="7338060" y="2761488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FF7847"/>
            </a:solidFill>
            <a:prstDash val="solid"/>
          </a:ln>
        </p:spPr>
      </p:sp>
      <p:sp>
        <p:nvSpPr>
          <p:cNvPr id="79" name="Text 73"/>
          <p:cNvSpPr txBox="1"/>
          <p:nvPr/>
        </p:nvSpPr>
        <p:spPr>
          <a:xfrm>
            <a:off x="7429500" y="277977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internal-audit</a:t>
            </a:r>
            <a:endParaRPr lang="en-US" sz="740" dirty="0"/>
          </a:p>
        </p:txBody>
      </p:sp>
      <p:sp>
        <p:nvSpPr>
          <p:cNvPr id="80" name="Text 74"/>
          <p:cNvSpPr txBox="1"/>
          <p:nvPr/>
        </p:nvSpPr>
        <p:spPr>
          <a:xfrm>
            <a:off x="7429500" y="2935224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내부감사역</a:t>
            </a:r>
            <a:endParaRPr lang="en-US" sz="760" dirty="0"/>
          </a:p>
        </p:txBody>
      </p:sp>
      <p:sp>
        <p:nvSpPr>
          <p:cNvPr id="81" name="Text 75"/>
          <p:cNvSpPr txBox="1"/>
          <p:nvPr/>
        </p:nvSpPr>
        <p:spPr>
          <a:xfrm>
            <a:off x="8865108" y="276148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7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§16 사후</a:t>
            </a:r>
            <a:endParaRPr lang="en-US" sz="700" dirty="0"/>
          </a:p>
        </p:txBody>
      </p:sp>
      <p:sp>
        <p:nvSpPr>
          <p:cNvPr id="82" name="Shape 76"/>
          <p:cNvSpPr/>
          <p:nvPr/>
        </p:nvSpPr>
        <p:spPr>
          <a:xfrm>
            <a:off x="7338060" y="3163824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FF7847"/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7429500" y="318211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disclosure-control</a:t>
            </a:r>
            <a:endParaRPr lang="en-US" sz="740" dirty="0"/>
          </a:p>
        </p:txBody>
      </p:sp>
      <p:sp>
        <p:nvSpPr>
          <p:cNvPr id="84" name="Text 78"/>
          <p:cNvSpPr txBox="1"/>
          <p:nvPr/>
        </p:nvSpPr>
        <p:spPr>
          <a:xfrm>
            <a:off x="7429500" y="3337560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배포통제역</a:t>
            </a:r>
            <a:endParaRPr lang="en-US" sz="760" dirty="0"/>
          </a:p>
        </p:txBody>
      </p:sp>
      <p:sp>
        <p:nvSpPr>
          <p:cNvPr id="85" name="Text 79"/>
          <p:cNvSpPr txBox="1"/>
          <p:nvPr/>
        </p:nvSpPr>
        <p:spPr>
          <a:xfrm>
            <a:off x="8865108" y="316382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7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700" dirty="0"/>
          </a:p>
        </p:txBody>
      </p:sp>
      <p:sp>
        <p:nvSpPr>
          <p:cNvPr id="86" name="Text 80"/>
          <p:cNvSpPr txBox="1"/>
          <p:nvPr/>
        </p:nvSpPr>
        <p:spPr>
          <a:xfrm>
            <a:off x="7338060" y="3584448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거부권</a:t>
            </a:r>
            <a:endParaRPr lang="en-US" sz="850" dirty="0"/>
          </a:p>
        </p:txBody>
      </p:sp>
      <p:sp>
        <p:nvSpPr>
          <p:cNvPr id="87" name="Shape 81"/>
          <p:cNvSpPr/>
          <p:nvPr/>
        </p:nvSpPr>
        <p:spPr>
          <a:xfrm>
            <a:off x="9651492" y="1751076"/>
            <a:ext cx="2093976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8" name="Shape 82"/>
          <p:cNvSpPr/>
          <p:nvPr/>
        </p:nvSpPr>
        <p:spPr>
          <a:xfrm>
            <a:off x="9601200" y="1700784"/>
            <a:ext cx="2093976" cy="566928"/>
          </a:xfrm>
          <a:prstGeom prst="rect">
            <a:avLst/>
          </a:prstGeom>
          <a:solidFill>
            <a:srgbClr val="3DFA7E"/>
          </a:solidFill>
          <a:ln/>
        </p:spPr>
      </p:sp>
      <p:pic>
        <p:nvPicPr>
          <p:cNvPr id="8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773936"/>
            <a:ext cx="420624" cy="420624"/>
          </a:xfrm>
          <a:prstGeom prst="rect">
            <a:avLst/>
          </a:prstGeom>
        </p:spPr>
      </p:pic>
      <p:sp>
        <p:nvSpPr>
          <p:cNvPr id="90" name="Text 83"/>
          <p:cNvSpPr txBox="1"/>
          <p:nvPr/>
        </p:nvSpPr>
        <p:spPr>
          <a:xfrm>
            <a:off x="10168128" y="17556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데이터·IT</a:t>
            </a:r>
            <a:endParaRPr lang="en-US" sz="1150" dirty="0"/>
          </a:p>
        </p:txBody>
      </p:sp>
      <p:sp>
        <p:nvSpPr>
          <p:cNvPr id="91" name="Text 84"/>
          <p:cNvSpPr txBox="1"/>
          <p:nvPr/>
        </p:nvSpPr>
        <p:spPr>
          <a:xfrm>
            <a:off x="10168128" y="197510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92" name="Shape 85"/>
          <p:cNvSpPr/>
          <p:nvPr/>
        </p:nvSpPr>
        <p:spPr>
          <a:xfrm>
            <a:off x="9601200" y="2359152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93" name="Text 86"/>
          <p:cNvSpPr txBox="1"/>
          <p:nvPr/>
        </p:nvSpPr>
        <p:spPr>
          <a:xfrm>
            <a:off x="9692640" y="237744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ingest-ops</a:t>
            </a:r>
            <a:endParaRPr lang="en-US" sz="740" dirty="0"/>
          </a:p>
        </p:txBody>
      </p:sp>
      <p:sp>
        <p:nvSpPr>
          <p:cNvPr id="94" name="Text 87"/>
          <p:cNvSpPr txBox="1"/>
          <p:nvPr/>
        </p:nvSpPr>
        <p:spPr>
          <a:xfrm>
            <a:off x="9692640" y="2532888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적재운영역</a:t>
            </a:r>
            <a:endParaRPr lang="en-US" sz="760" dirty="0"/>
          </a:p>
        </p:txBody>
      </p:sp>
      <p:sp>
        <p:nvSpPr>
          <p:cNvPr id="95" name="Text 88"/>
          <p:cNvSpPr txBox="1"/>
          <p:nvPr/>
        </p:nvSpPr>
        <p:spPr>
          <a:xfrm>
            <a:off x="11128248" y="23591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원장 쓰기</a:t>
            </a:r>
            <a:endParaRPr lang="en-US" sz="700" dirty="0"/>
          </a:p>
        </p:txBody>
      </p:sp>
      <p:sp>
        <p:nvSpPr>
          <p:cNvPr id="96" name="Shape 89"/>
          <p:cNvSpPr/>
          <p:nvPr/>
        </p:nvSpPr>
        <p:spPr>
          <a:xfrm>
            <a:off x="9601200" y="2761488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97" name="Text 90"/>
          <p:cNvSpPr txBox="1"/>
          <p:nvPr/>
        </p:nvSpPr>
        <p:spPr>
          <a:xfrm>
            <a:off x="9692640" y="277977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data-quality</a:t>
            </a:r>
            <a:endParaRPr lang="en-US" sz="740" dirty="0"/>
          </a:p>
        </p:txBody>
      </p:sp>
      <p:sp>
        <p:nvSpPr>
          <p:cNvPr id="98" name="Text 91"/>
          <p:cNvSpPr txBox="1"/>
          <p:nvPr/>
        </p:nvSpPr>
        <p:spPr>
          <a:xfrm>
            <a:off x="9692640" y="2935224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품질관리역</a:t>
            </a:r>
            <a:endParaRPr lang="en-US" sz="760" dirty="0"/>
          </a:p>
        </p:txBody>
      </p:sp>
      <p:sp>
        <p:nvSpPr>
          <p:cNvPr id="99" name="Text 92"/>
          <p:cNvSpPr txBox="1"/>
          <p:nvPr/>
        </p:nvSpPr>
        <p:spPr>
          <a:xfrm>
            <a:off x="11128248" y="276148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§10</a:t>
            </a:r>
            <a:endParaRPr lang="en-US" sz="700" dirty="0"/>
          </a:p>
        </p:txBody>
      </p:sp>
      <p:sp>
        <p:nvSpPr>
          <p:cNvPr id="100" name="Shape 93"/>
          <p:cNvSpPr/>
          <p:nvPr/>
        </p:nvSpPr>
        <p:spPr>
          <a:xfrm>
            <a:off x="9601200" y="3163824"/>
            <a:ext cx="2093976" cy="347472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101" name="Text 94"/>
          <p:cNvSpPr txBox="1"/>
          <p:nvPr/>
        </p:nvSpPr>
        <p:spPr>
          <a:xfrm>
            <a:off x="9692640" y="318211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factor-librarian</a:t>
            </a:r>
            <a:endParaRPr lang="en-US" sz="740" dirty="0"/>
          </a:p>
        </p:txBody>
      </p:sp>
      <p:sp>
        <p:nvSpPr>
          <p:cNvPr id="102" name="Text 95"/>
          <p:cNvSpPr txBox="1"/>
          <p:nvPr/>
        </p:nvSpPr>
        <p:spPr>
          <a:xfrm>
            <a:off x="9692640" y="3337560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팩터관리역</a:t>
            </a:r>
            <a:endParaRPr lang="en-US" sz="760" dirty="0"/>
          </a:p>
        </p:txBody>
      </p:sp>
      <p:sp>
        <p:nvSpPr>
          <p:cNvPr id="103" name="Text 96"/>
          <p:cNvSpPr txBox="1"/>
          <p:nvPr/>
        </p:nvSpPr>
        <p:spPr>
          <a:xfrm>
            <a:off x="11128248" y="316382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논문 원장</a:t>
            </a:r>
            <a:endParaRPr lang="en-US" sz="700" dirty="0"/>
          </a:p>
        </p:txBody>
      </p:sp>
      <p:sp>
        <p:nvSpPr>
          <p:cNvPr id="104" name="Text 97"/>
          <p:cNvSpPr txBox="1"/>
          <p:nvPr/>
        </p:nvSpPr>
        <p:spPr>
          <a:xfrm>
            <a:off x="9601200" y="3584448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원장 쓰기 단독</a:t>
            </a:r>
            <a:endParaRPr lang="en-US" sz="850" dirty="0"/>
          </a:p>
        </p:txBody>
      </p:sp>
      <p:sp>
        <p:nvSpPr>
          <p:cNvPr id="105" name="Shape 98"/>
          <p:cNvSpPr/>
          <p:nvPr/>
        </p:nvSpPr>
        <p:spPr>
          <a:xfrm>
            <a:off x="598932" y="5262372"/>
            <a:ext cx="11094415" cy="6583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06" name="Shape 99"/>
          <p:cNvSpPr/>
          <p:nvPr/>
        </p:nvSpPr>
        <p:spPr>
          <a:xfrm>
            <a:off x="548640" y="5212080"/>
            <a:ext cx="11094415" cy="658368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107" name="Text 100"/>
          <p:cNvSpPr txBox="1"/>
          <p:nvPr/>
        </p:nvSpPr>
        <p:spPr>
          <a:xfrm>
            <a:off x="768096" y="5212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4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의결  ·  투자심의위원회 (IC) — 사람이 결정한다</a:t>
            </a:r>
            <a:endParaRPr lang="en-US" sz="1300" dirty="0"/>
          </a:p>
        </p:txBody>
      </p:sp>
      <p:sp>
        <p:nvSpPr>
          <p:cNvPr id="108" name="Shape 101"/>
          <p:cNvSpPr/>
          <p:nvPr/>
        </p:nvSpPr>
        <p:spPr>
          <a:xfrm>
            <a:off x="5120640" y="5340096"/>
            <a:ext cx="3108960" cy="402336"/>
          </a:xfrm>
          <a:prstGeom prst="rect">
            <a:avLst/>
          </a:prstGeom>
          <a:solidFill>
            <a:srgbClr val="2E2408"/>
          </a:solidFill>
          <a:ln/>
        </p:spPr>
      </p:sp>
      <p:sp>
        <p:nvSpPr>
          <p:cNvPr id="109" name="Text 102"/>
          <p:cNvSpPr txBox="1"/>
          <p:nvPr/>
        </p:nvSpPr>
        <p:spPr>
          <a:xfrm>
            <a:off x="5248656" y="535838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research-editor</a:t>
            </a:r>
            <a:endParaRPr lang="en-US" sz="850" dirty="0"/>
          </a:p>
        </p:txBody>
      </p:sp>
      <p:sp>
        <p:nvSpPr>
          <p:cNvPr id="110" name="Text 103"/>
          <p:cNvSpPr txBox="1"/>
          <p:nvPr/>
        </p:nvSpPr>
        <p:spPr>
          <a:xfrm>
            <a:off x="5248656" y="553212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리서치에디터 · §1 · §3</a:t>
            </a:r>
            <a:endParaRPr lang="en-US" sz="800" dirty="0"/>
          </a:p>
        </p:txBody>
      </p:sp>
      <p:sp>
        <p:nvSpPr>
          <p:cNvPr id="111" name="Shape 104"/>
          <p:cNvSpPr/>
          <p:nvPr/>
        </p:nvSpPr>
        <p:spPr>
          <a:xfrm>
            <a:off x="8412480" y="5340096"/>
            <a:ext cx="3108960" cy="402336"/>
          </a:xfrm>
          <a:prstGeom prst="rect">
            <a:avLst/>
          </a:prstGeom>
          <a:solidFill>
            <a:srgbClr val="2E2408"/>
          </a:solidFill>
          <a:ln/>
        </p:spPr>
      </p:sp>
      <p:sp>
        <p:nvSpPr>
          <p:cNvPr id="112" name="Text 105"/>
          <p:cNvSpPr txBox="1"/>
          <p:nvPr/>
        </p:nvSpPr>
        <p:spPr>
          <a:xfrm>
            <a:off x="8540496" y="535838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ic-chair</a:t>
            </a:r>
            <a:endParaRPr lang="en-US" sz="850" dirty="0"/>
          </a:p>
        </p:txBody>
      </p:sp>
      <p:sp>
        <p:nvSpPr>
          <p:cNvPr id="113" name="Text 106"/>
          <p:cNvSpPr txBox="1"/>
          <p:nvPr/>
        </p:nvSpPr>
        <p:spPr>
          <a:xfrm>
            <a:off x="8540496" y="553212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간사 · 조립 · 쟁점 정렬</a:t>
            </a:r>
            <a:endParaRPr lang="en-US" sz="800" dirty="0"/>
          </a:p>
        </p:txBody>
      </p:sp>
      <p:sp>
        <p:nvSpPr>
          <p:cNvPr id="114" name="Shape 107"/>
          <p:cNvSpPr/>
          <p:nvPr/>
        </p:nvSpPr>
        <p:spPr>
          <a:xfrm>
            <a:off x="598932" y="6030468"/>
            <a:ext cx="11094415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5" name="Shape 108"/>
          <p:cNvSpPr/>
          <p:nvPr/>
        </p:nvSpPr>
        <p:spPr>
          <a:xfrm>
            <a:off x="548640" y="5980176"/>
            <a:ext cx="11094415" cy="45720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6" name="Text 109"/>
          <p:cNvSpPr txBox="1"/>
          <p:nvPr/>
        </p:nvSpPr>
        <p:spPr>
          <a:xfrm>
            <a:off x="786384" y="5980176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→ 20 으로 늘어도 인스턴스는 늘지 않는다. </a:t>
            </a:r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소집이라 조용한 날에는 20개 중 두셋만 뜬다. 늘어나는 것은 역할이지 상시 부하가 아니다.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WHY 20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수는 CATALOG 가 정한다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 SECTIONS 18개가 선언돼 있고, CATALOG 31개 항목이 각각 어느 절로 가는지 이미 적혀 있다. 그 매핑이 곧 조직도다.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777240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395728"/>
                <a:gridCol w="2889504"/>
                <a:gridCol w="1920240"/>
              </a:tblGrid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절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무엇을 다루는가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공급 데이터 (CATALOG)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담당 데스크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포지션 현황 · 집중도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krx.bydd.close · mktcap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concentration-risk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· 벤치마크 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krx.bydd.ohlc · krx.idx.close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research-editor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 (변동성 · VaR · 상관)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krx.bydd.high/low/close · idx.close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market-risk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 요약 (XBRL)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dart.fs.revenue/op/net/assets/equity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equity-analyst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자본 구조 · 주주 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ds002.stock_total · treasury · largest_pct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capital-structure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유동성 · 실행비용 · 미시구조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krx.bydd.volume · value · kis.snap.*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liquidity-analyst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총수익률 · 배당 반영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ds002.dividend_ps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return-analyst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· 규약 · 희석 감시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ds005.cb_amount · cb_conv_price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credit-analyst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이벤트 · CAR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ds001.rcept_dt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equity-analyst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사채 만기 · 자금 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ds002.bond_balance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credit-analyst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지분 · 내부자 매매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ds004.major_holder · exec_holder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governance-analyst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감사 · 지배구조 변동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ds002.audit_opinion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governance-analyst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스코어카드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dart.fs.op/net/assets/equity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D7B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quant-researcher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72500" y="1732788"/>
            <a:ext cx="3118104" cy="21031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" name="Shape 4"/>
          <p:cNvSpPr/>
          <p:nvPr/>
        </p:nvSpPr>
        <p:spPr>
          <a:xfrm>
            <a:off x="8522208" y="1682496"/>
            <a:ext cx="3118104" cy="2103120"/>
          </a:xfrm>
          <a:prstGeom prst="rect">
            <a:avLst/>
          </a:prstGeom>
          <a:solidFill>
            <a:srgbClr val="24141B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23376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데스크를 두지 않는 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23376" y="21579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9235440" y="2139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달라진 것 — 파생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723376" y="24505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§7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2432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회수단가 갭 — 사내 데이터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723376" y="27432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23544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 — 메타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723376" y="30358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§17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펀드 지표 — 공급원 없음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723376" y="33284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§18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볼 것 — 캘린더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572500" y="3982212"/>
            <a:ext cx="3118104" cy="17007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7"/>
          <p:cNvSpPr/>
          <p:nvPr/>
        </p:nvSpPr>
        <p:spPr>
          <a:xfrm>
            <a:off x="8522208" y="3931920"/>
            <a:ext cx="3118104" cy="1700784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23376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없는 절에는 데스크를 만들지 않는다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723376" y="4553712"/>
            <a:ext cx="27614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놓으면 "뭐라도 말해야 하니까" 없는 값을 지어낸다. §17 펀드 지표는 공급원이 없으므로 비워 둔다 — 이 프로젝트가 가장 경계하는 실패다.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98932" y="5701284"/>
            <a:ext cx="11094415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1"/>
          <p:cNvSpPr/>
          <p:nvPr/>
        </p:nvSpPr>
        <p:spPr>
          <a:xfrm>
            <a:off x="548640" y="5650992"/>
            <a:ext cx="11094415" cy="56692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" y="5650992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개는 근거가 없었다. </a:t>
            </a:r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§13 사채만기 · §14 지분 · §11 희석은 각각 별도 공급 데이터를 가진 독립된 절인데, 8 데스크 체제에서는 equity-analyst 하나가 전부 뭉뚱그려 읽게 돼 있었다.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CATALOG 1/3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리서치본부 — 일곱 데스크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데스크가 한 절을 읽는다. 담당 범위 밖은 읽지 않으므로, 읽지 않은 것에 대해 말할 여지가 없다.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11094415" cy="914400"/>
        </p:xfrm>
        <a:graphic>
          <a:graphicData uri="http://schemas.openxmlformats.org/drawingml/2006/table">
            <a:tbl>
              <a:tblPr/>
              <a:tblGrid>
                <a:gridCol w="2121408"/>
                <a:gridCol w="859536"/>
                <a:gridCol w="2615184"/>
                <a:gridCol w="2706624"/>
                <a:gridCol w="27889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에이전트 · 직책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담당 절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무엇을 읽는가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무엇을 내는가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제약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equity-analyst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기업분석역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§5 · §12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dart.fs.* · ds001.rcept_dt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원문 링크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 요약 해설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이벤트 사실관계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원문만 인용. 제목 요약 금지 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발행조건은 원문에 있다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credit-analyst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크레딧분석역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§13 · §11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ds002.bond_balance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ds005.cb_amount · cb_conv_price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사채 만기 구조 · 자금 사용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 잠재주식 · 희석 감시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리픽싱 하한은 우리가 넣은 값.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조항은 증권신고서 확인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governance-analyst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지배구조분석역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§14 · §15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ds004.major_holder · exec_holder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ds002.audit_opinion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지분 변동 · 내부자 매매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감사의견 · 지배구조 변동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대량보유는 사후 보고다.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 지연 가능성을 함께 적는다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capital-structure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자본구조분석역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ds002.stock_total · treasury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largest_pct · krx.bydd.shares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발행주식총수 · 자기주식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최대주주 지분 · 완전희석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 공시라 시점차가 있다.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기준일과 경과일수를 붙인다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D7B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quant-researcher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D7B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계량분석역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ledger.factors · ledger.candles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ledger.papers (state=adopted)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팩터 해설 + limits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판정 검토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재현되지 않은 논문 인용 금지.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논문이 주장하지 않는 것을 함께 낸다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macro-strategist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매크로전략역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§4 · §18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ledger.macro (ECOS 100대)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ledger.calendar · FRED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국면 서술 (수준 아닌 분위)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금통위 · 만기 · 락업 일정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락업은 '추정' 등급 고정 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확약으로 서술하면 게이트 탈락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return-analyst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수익률분석역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ds002.dividend_ps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수정주가 계열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총수익률 · 배당 반영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벤치마크 대비 초과분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희석과 권리락을 구분한 수정주가만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쓴다. 판별 불가는 '확인 필요'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8932" y="5664708"/>
            <a:ext cx="11094415" cy="6400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614416"/>
            <a:ext cx="11094415" cy="64008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5614416"/>
            <a:ext cx="106189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일곱 데스크는 서로의 산출물을 보지 않는다. 같은 결론으로 수렴하면 교차검증의 의미가 사라지기 때문이다. 불일치는 지우지 않고 IC 간사가 쟁점으로 올린다.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CATALOG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 · 리스크관리본부 — 다섯 데스크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세 데스크는 전부 거부권을 갖는다. 숫자가 원장과 다르면 고쳐 주지 않고 돌려보낸다.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11094415" cy="914400"/>
        </p:xfrm>
        <a:graphic>
          <a:graphicData uri="http://schemas.openxmlformats.org/drawingml/2006/table">
            <a:tbl>
              <a:tblPr/>
              <a:tblGrid>
                <a:gridCol w="2121408"/>
                <a:gridCol w="859536"/>
                <a:gridCol w="2615184"/>
                <a:gridCol w="2706624"/>
                <a:gridCol w="27889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에이전트 · 직책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담당 절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무엇을 읽는가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무엇을 내는가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제약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execution-trader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집행역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§7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exit_plan.csv (사내)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 시뮬레이션 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목표회수단가 갭 · 시나리오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매도 규칙 4종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API 호출 불가 (OrderNotAllowed).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권고를 쓰지 않는다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liquidity-analyst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유동성분석역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krx.bydd.volume · value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kis.snap.* (원장에 쓰지 않음)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처분 소요일수 (평균·중앙값)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스프레드 · 비유동성 · 매물대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평균과 중앙값을 반드시 함께 낸다.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참여율 가정을 표에 적는다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4D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market-risk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4D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시장리스크심사역  (거부권)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krx.bydd.close · krx.idx.close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리서치 봉투 전량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변동성 · VaR · 상관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 스트레스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인용된 값이 원장 값과 다르면 반려.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숫자를 고쳐 주지 않는다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4D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concentration-risk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4D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집중도심사역  (거부권)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krx.bydd.mktcap · close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포지션 원장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포지션 집중도 · 업종 편중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단일종목 한도 대비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한도값은 '사내' 등급이다.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1차와 같은 표에 섞지 않는다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4D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model-risk ★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4D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모델리스크심사역  (거부권)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러너 코드 · 팩터 정의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판정 이력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설계 자체의 타당성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표본 구간 · 생존편의 점검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8데스크 체제에 없던 자리 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관문을 누가 검증하는가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8932" y="5664708"/>
            <a:ext cx="11094415" cy="6400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614416"/>
            <a:ext cx="11094415" cy="64008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5614416"/>
            <a:ext cx="106189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model-risk 는 이번 확장에서 새로 보인 자리다. 재현 관문을 넣었는데 그 재현 러너가 맞는지는 누가 보는가 — 실제 금융사에서 모델리스크관리가 준법감시와 별도로 존재하는 이유와 같다.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CATALOG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준법·감사 · 데이터·IT · 의결 — 여덟 데스크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이쪽은 새로운 해석을 만들지 않는다. 검사하고, 원장을 유지하고, 회의에 올린다.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11094415" cy="914400"/>
        </p:xfrm>
        <a:graphic>
          <a:graphicData uri="http://schemas.openxmlformats.org/drawingml/2006/table">
            <a:tbl>
              <a:tblPr/>
              <a:tblGrid>
                <a:gridCol w="2121408"/>
                <a:gridCol w="859536"/>
                <a:gridCol w="2615184"/>
                <a:gridCol w="2706624"/>
                <a:gridCol w="27889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에이전트 · 직책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담당 절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무엇을 읽는가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무엇을 내는가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제약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78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compliance-officer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78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준법감시역  (거부권)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 직전의 모든 산출물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SECTION_SOURCES · CATALOG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일곱 게이트 판정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 승인 / 반려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하나라도 걸리면 발행 중단.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조용히 통과시키는 것이 가장 위험하다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78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internal-audit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78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내부감사역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봉투 이력 · 실행 로그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스코어카드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사후 검증 · 리플레이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승격·반려 분포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차단이 아니라 사후 확인이다.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준법감시와 역할을 섞지 않는다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78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disclosure-control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78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배포통제역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· 수신자 목록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생성된 리포트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워터마크 · 배포 범위 판정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 공유 전 승인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리포트에는 포트폴리오사 실명이 있다.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라이선스보다 열람범위가 실질이다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ingest-ops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적재운영역  (쓰기 단독)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KRX·DART·ECOS·KIS·FRED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diagnose · catalog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ingest · catchup · fundamentals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그날의 유일한 원장 쓰기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해석을 만들지 않는다.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데스크만 ki.sqlite 에 쓸 수 있다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data-quality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품질관리역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.api_fields.json · stale_days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 현황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필드매핑 검증 상태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신선도 · 결측 경고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"API 가 된다"와 "내 필드가 맞다"는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문제다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factor-librarian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팩터관리역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ki.papers/2 논문 원장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판정 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· 경고 · 은퇴 상태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팩터 카탈로그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상태를 바꾸는 것은 배치이지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에이전트가 아니다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research-editor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리서치에디터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§1 · §3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통과 봉투 전량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달라진 것 · 가격 벤치마크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 일관성 · 중복 정리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문장을 다듬되 값을 바꾸지 않는다.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요약이 원문보다 세지면 반려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ic-chair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투자심의위원회 간사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통과 봉투 전량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회의자료 한 장으로 조립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데스크 간 불일치 · 결측 쟁점화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의견 · 권고를 쓰지 않는다.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5E6B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쟁점을 정렬할 뿐, 결정은 사람이 한다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8932" y="5664708"/>
            <a:ext cx="11094415" cy="6400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614416"/>
            <a:ext cx="11094415" cy="64008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5614416"/>
            <a:ext cx="106189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거부권은 실제로 발행을 멈추는 권한이다. 리스크 세 곳과 준법감시 중 하나라도 반려하면 그날 회의자료에서 해당 절이 통째로 빠지고, 그 자리에는 '반려됨 — 사유'가 남는다.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WHERE THE DATA COMES FROM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API 를 부르지 않는다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쓰는 것은 API 가 아니라 API 가 가져다 놓은 것이다. 네트워크 호출과 판단은 시각이 다르다.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11094415" cy="13167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11094415" cy="1316736"/>
          </a:xfrm>
          <a:prstGeom prst="rect">
            <a:avLst/>
          </a:prstGeom>
          <a:solidFill>
            <a:srgbClr val="13241A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19072"/>
            <a:ext cx="1371600" cy="13167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92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16:10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12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네트워크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있음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ingest-ops 단독 — 그날의 유일한 원장 쓰기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15798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KRX · DART · ECOS · KIS · FRED   ──→   ki.sqlite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45059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이때 받은 값이 기준일로 고정된다. 이후 모든 데스크가 같은 원장을 본다.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8470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price_daily</a:t>
            </a:r>
            <a:endParaRPr lang="en-US" sz="820" dirty="0"/>
          </a:p>
        </p:txBody>
      </p:sp>
      <p:sp>
        <p:nvSpPr>
          <p:cNvPr id="14" name="Text 12"/>
          <p:cNvSpPr txBox="1"/>
          <p:nvPr/>
        </p:nvSpPr>
        <p:spPr>
          <a:xfrm>
            <a:off x="9656064" y="18470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index_daily</a:t>
            </a:r>
            <a:endParaRPr lang="en-US" sz="82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2121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instruments</a:t>
            </a:r>
            <a:endParaRPr lang="en-US" sz="820" dirty="0"/>
          </a:p>
        </p:txBody>
      </p:sp>
      <p:sp>
        <p:nvSpPr>
          <p:cNvPr id="16" name="Text 14"/>
          <p:cNvSpPr txBox="1"/>
          <p:nvPr/>
        </p:nvSpPr>
        <p:spPr>
          <a:xfrm>
            <a:off x="9656064" y="2121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disclosure</a:t>
            </a:r>
            <a:endParaRPr lang="en-US" sz="82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395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fundamental</a:t>
            </a:r>
            <a:endParaRPr lang="en-US" sz="820" dirty="0"/>
          </a:p>
        </p:txBody>
      </p:sp>
      <p:sp>
        <p:nvSpPr>
          <p:cNvPr id="18" name="Text 16"/>
          <p:cNvSpPr txBox="1"/>
          <p:nvPr/>
        </p:nvSpPr>
        <p:spPr>
          <a:xfrm>
            <a:off x="9656064" y="2395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macro_daily</a:t>
            </a:r>
            <a:endParaRPr lang="en-US" sz="82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6700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alert_log</a:t>
            </a:r>
            <a:endParaRPr lang="en-US" sz="82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1455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════════════════════  하루의 경계  ════════════════════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" y="3525012"/>
            <a:ext cx="11094415" cy="14813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474720"/>
            <a:ext cx="11094415" cy="1481328"/>
          </a:xfrm>
          <a:prstGeom prst="rect">
            <a:avLst/>
          </a:prstGeom>
          <a:solidFill>
            <a:srgbClr val="171E30"/>
          </a:solidFill>
          <a:ln w="15875">
            <a:solidFill>
              <a:srgbClr val="4FC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474720"/>
            <a:ext cx="1371600" cy="14813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584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네트워크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없음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3602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19개 — 원장만 읽는다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103120" y="3950208"/>
            <a:ext cx="2286000" cy="25603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194560" y="3950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ledger.facts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4498848" y="3950208"/>
            <a:ext cx="2286000" cy="25603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90288" y="3950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ledger.candles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894576" y="3950208"/>
            <a:ext cx="2286000" cy="25603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86016" y="3950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ledger.factors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9290304" y="3950208"/>
            <a:ext cx="2286000" cy="25603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381744" y="3950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ledger.calendar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2103120" y="4261104"/>
            <a:ext cx="2286000" cy="25603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19456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ledger.macro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4498848" y="4261104"/>
            <a:ext cx="2286000" cy="25603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90288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ledger.disclosure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6894576" y="4261104"/>
            <a:ext cx="2286000" cy="25603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986016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ledger.quality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9290304" y="4261104"/>
            <a:ext cx="2286000" cy="25603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381744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ledger.papers</a:t>
            </a:r>
            <a:endParaRPr lang="en-US" sz="840" dirty="0"/>
          </a:p>
        </p:txBody>
      </p:sp>
      <p:sp>
        <p:nvSpPr>
          <p:cNvPr id="43" name="Text 41"/>
          <p:cNvSpPr txBox="1"/>
          <p:nvPr/>
        </p:nvSpPr>
        <p:spPr>
          <a:xfrm>
            <a:off x="2103120" y="460857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계산은 이미 끝나 있다 — 데스크는 읽고 서술할 뿐, 숫자를 만들지 않는다.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8932" y="5189220"/>
            <a:ext cx="4114800" cy="109728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5138928"/>
            <a:ext cx="4114800" cy="1097280"/>
          </a:xfrm>
          <a:prstGeom prst="rect">
            <a:avLst/>
          </a:prstGeom>
          <a:solidFill>
            <a:srgbClr val="241E1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1520" y="5248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예외 — DART 원문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31520" y="5522976"/>
            <a:ext cx="3785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원장에는 접수번호와 제목까지만 있다. 발행조건·전환가·리픽싱 조항은 원문에 있으므로, 접수번호로 지정된 그 문서 한 건만 연다. 검색이 아니라 지정 조회다.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4914900" y="5189220"/>
            <a:ext cx="3291840" cy="49377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9" name="Shape 47"/>
          <p:cNvSpPr/>
          <p:nvPr/>
        </p:nvSpPr>
        <p:spPr>
          <a:xfrm>
            <a:off x="4864608" y="5138928"/>
            <a:ext cx="3291840" cy="493776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624" y="5312664"/>
            <a:ext cx="146304" cy="146304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5212080" y="513892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재생 가능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13892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 → 같은 봉투</a:t>
            </a:r>
            <a:endParaRPr lang="en-US" sz="860" dirty="0"/>
          </a:p>
        </p:txBody>
      </p:sp>
      <p:sp>
        <p:nvSpPr>
          <p:cNvPr id="53" name="Shape 50"/>
          <p:cNvSpPr/>
          <p:nvPr/>
        </p:nvSpPr>
        <p:spPr>
          <a:xfrm>
            <a:off x="8334756" y="5189220"/>
            <a:ext cx="3291840" cy="49377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4" name="Shape 51"/>
          <p:cNvSpPr/>
          <p:nvPr/>
        </p:nvSpPr>
        <p:spPr>
          <a:xfrm>
            <a:off x="8284464" y="5138928"/>
            <a:ext cx="3291840" cy="493776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5312664"/>
            <a:ext cx="146304" cy="146304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8631936" y="513892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기준일 고정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9656064" y="513892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데스크가 같은 날을 본다</a:t>
            </a:r>
            <a:endParaRPr lang="en-US" sz="860" dirty="0"/>
          </a:p>
        </p:txBody>
      </p:sp>
      <p:sp>
        <p:nvSpPr>
          <p:cNvPr id="58" name="Shape 54"/>
          <p:cNvSpPr/>
          <p:nvPr/>
        </p:nvSpPr>
        <p:spPr>
          <a:xfrm>
            <a:off x="4914900" y="5756148"/>
            <a:ext cx="3291840" cy="49377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9" name="Shape 55"/>
          <p:cNvSpPr/>
          <p:nvPr/>
        </p:nvSpPr>
        <p:spPr>
          <a:xfrm>
            <a:off x="4864608" y="5705856"/>
            <a:ext cx="3291840" cy="493776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5879592"/>
            <a:ext cx="146304" cy="146304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5212080" y="570585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오염 차단</a:t>
            </a:r>
            <a:endParaRPr lang="en-US" sz="900" dirty="0"/>
          </a:p>
        </p:txBody>
      </p:sp>
      <p:sp>
        <p:nvSpPr>
          <p:cNvPr id="62" name="Text 57"/>
          <p:cNvSpPr txBox="1"/>
          <p:nvPr/>
        </p:nvSpPr>
        <p:spPr>
          <a:xfrm>
            <a:off x="6236208" y="57058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장중 값이 일봉에 안 섞인다</a:t>
            </a:r>
            <a:endParaRPr lang="en-US" sz="860" dirty="0"/>
          </a:p>
        </p:txBody>
      </p:sp>
      <p:sp>
        <p:nvSpPr>
          <p:cNvPr id="63" name="Shape 58"/>
          <p:cNvSpPr/>
          <p:nvPr/>
        </p:nvSpPr>
        <p:spPr>
          <a:xfrm>
            <a:off x="8334756" y="5756148"/>
            <a:ext cx="3291840" cy="49377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4" name="Shape 59"/>
          <p:cNvSpPr/>
          <p:nvPr/>
        </p:nvSpPr>
        <p:spPr>
          <a:xfrm>
            <a:off x="8284464" y="5705856"/>
            <a:ext cx="3291840" cy="493776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5879592"/>
            <a:ext cx="146304" cy="146304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8631936" y="570585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감사 가능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9656064" y="57058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어디서 왔는지 남는다</a:t>
            </a:r>
            <a:endParaRPr lang="en-US" sz="860" dirty="0"/>
          </a:p>
        </p:txBody>
      </p:sp>
      <p:sp>
        <p:nvSpPr>
          <p:cNvPr id="68" name="Text 62"/>
          <p:cNvSpPr txBox="1"/>
          <p:nvPr/>
        </p:nvSpPr>
        <p:spPr>
          <a:xfrm>
            <a:off x="4864608" y="629107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숫자는 원장에서, 원문은 링크로.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DYNAMIC AGENTS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상설은 다섯뿐이다. 나머지 열다섯은 불릴 때만 온다.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조직도를 고정하지 않는다. 스무 데스크를 매일 전부 돌리는 대신, 그날 실제로 무언가 일어난 곳에만 에이전트를 띄운다.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14500"/>
            <a:ext cx="4023360" cy="3931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64208"/>
            <a:ext cx="4023360" cy="3931920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10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STANDING  ·  상설 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0665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떠 있다. 하루의 리듬을 만든다.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2377440"/>
            <a:ext cx="3621024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459736"/>
            <a:ext cx="402336" cy="40233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16736" y="24323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ingest-ops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316736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적재 — 그날의 유일한 쓰기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23774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쓰기 단독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49808" y="3017520"/>
            <a:ext cx="3621024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099816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16736" y="3072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data-quality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316736" y="3273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· 결측 · 필드매핑 감시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3493008" y="301752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§10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49808" y="3657600"/>
            <a:ext cx="3621024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39896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16736" y="37124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factor-librarian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316736" y="3913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원장 상태 관리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3493008" y="365760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배치와 함께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749808" y="4297680"/>
            <a:ext cx="3621024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379976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16736" y="4352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compliance-officer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316736" y="45537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판정 · 발행 승인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3493008" y="429768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7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거부권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749808" y="4937760"/>
            <a:ext cx="3621024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020056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316736" y="49926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ic-chair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316736" y="51937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 수집 · 쟁점 정렬</a:t>
            </a:r>
            <a:endParaRPr 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3493008" y="493776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조립만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4914900" y="1714500"/>
            <a:ext cx="6775704" cy="3931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5" name="Shape 28"/>
          <p:cNvSpPr/>
          <p:nvPr/>
        </p:nvSpPr>
        <p:spPr>
          <a:xfrm>
            <a:off x="4864608" y="1664208"/>
            <a:ext cx="6775704" cy="3931920"/>
          </a:xfrm>
          <a:prstGeom prst="rect">
            <a:avLst/>
          </a:prstGeom>
          <a:solidFill>
            <a:srgbClr val="171E3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084064" y="1810512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SPAWNED  ·  이벤트 소집 15 역할 × N 인스턴스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5084064" y="2066544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트리거가 뜰 때만 인스턴스가 생기고, 봉투를 내면 사라진다. 상태를 들고 있지 않으므로 같은 입력이면 같은 결과가 나온다.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084064" y="237744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5175504" y="2505456"/>
            <a:ext cx="91440" cy="31089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5340096" y="24323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equity-analyst</a:t>
            </a:r>
            <a:endParaRPr lang="en-US" sz="740" dirty="0"/>
          </a:p>
        </p:txBody>
      </p:sp>
      <p:sp>
        <p:nvSpPr>
          <p:cNvPr id="41" name="Text 34"/>
          <p:cNvSpPr txBox="1"/>
          <p:nvPr/>
        </p:nvSpPr>
        <p:spPr>
          <a:xfrm>
            <a:off x="5340096" y="263347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1건</a:t>
            </a:r>
            <a:endParaRPr lang="en-US" sz="800" dirty="0"/>
          </a:p>
        </p:txBody>
      </p:sp>
      <p:sp>
        <p:nvSpPr>
          <p:cNvPr id="42" name="Text 35"/>
          <p:cNvSpPr txBox="1"/>
          <p:nvPr/>
        </p:nvSpPr>
        <p:spPr>
          <a:xfrm>
            <a:off x="6729984" y="237744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7242048" y="237744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7333488" y="2505456"/>
            <a:ext cx="91440" cy="31089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7498080" y="24323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credit-analyst</a:t>
            </a:r>
            <a:endParaRPr lang="en-US" sz="740" dirty="0"/>
          </a:p>
        </p:txBody>
      </p:sp>
      <p:sp>
        <p:nvSpPr>
          <p:cNvPr id="46" name="Text 39"/>
          <p:cNvSpPr txBox="1"/>
          <p:nvPr/>
        </p:nvSpPr>
        <p:spPr>
          <a:xfrm>
            <a:off x="7498080" y="263347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사채·CB 공시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8887968" y="237744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9400032" y="237744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9491472" y="2505456"/>
            <a:ext cx="91440" cy="31089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0" name="Text 43"/>
          <p:cNvSpPr txBox="1"/>
          <p:nvPr/>
        </p:nvSpPr>
        <p:spPr>
          <a:xfrm>
            <a:off x="9656064" y="24323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governance-analyst</a:t>
            </a:r>
            <a:endParaRPr lang="en-US" sz="740" dirty="0"/>
          </a:p>
        </p:txBody>
      </p:sp>
      <p:sp>
        <p:nvSpPr>
          <p:cNvPr id="51" name="Text 44"/>
          <p:cNvSpPr txBox="1"/>
          <p:nvPr/>
        </p:nvSpPr>
        <p:spPr>
          <a:xfrm>
            <a:off x="9656064" y="263347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지분 공시</a:t>
            </a:r>
            <a:endParaRPr lang="en-US" sz="800" dirty="0"/>
          </a:p>
        </p:txBody>
      </p:sp>
      <p:sp>
        <p:nvSpPr>
          <p:cNvPr id="52" name="Text 45"/>
          <p:cNvSpPr txBox="1"/>
          <p:nvPr/>
        </p:nvSpPr>
        <p:spPr>
          <a:xfrm>
            <a:off x="11045952" y="237744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5084064" y="301752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5175504" y="3145536"/>
            <a:ext cx="91440" cy="31089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5" name="Text 48"/>
          <p:cNvSpPr txBox="1"/>
          <p:nvPr/>
        </p:nvSpPr>
        <p:spPr>
          <a:xfrm>
            <a:off x="5340096" y="30723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capital-structure</a:t>
            </a:r>
            <a:endParaRPr lang="en-US" sz="740" dirty="0"/>
          </a:p>
        </p:txBody>
      </p:sp>
      <p:sp>
        <p:nvSpPr>
          <p:cNvPr id="56" name="Text 49"/>
          <p:cNvSpPr txBox="1"/>
          <p:nvPr/>
        </p:nvSpPr>
        <p:spPr>
          <a:xfrm>
            <a:off x="5340096" y="327355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공시</a:t>
            </a:r>
            <a:endParaRPr lang="en-US" sz="800" dirty="0"/>
          </a:p>
        </p:txBody>
      </p:sp>
      <p:sp>
        <p:nvSpPr>
          <p:cNvPr id="57" name="Text 50"/>
          <p:cNvSpPr txBox="1"/>
          <p:nvPr/>
        </p:nvSpPr>
        <p:spPr>
          <a:xfrm>
            <a:off x="6729984" y="301752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7242048" y="301752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7333488" y="3145536"/>
            <a:ext cx="91440" cy="310896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60" name="Text 53"/>
          <p:cNvSpPr txBox="1"/>
          <p:nvPr/>
        </p:nvSpPr>
        <p:spPr>
          <a:xfrm>
            <a:off x="7498080" y="30723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quant-researcher</a:t>
            </a:r>
            <a:endParaRPr lang="en-US" sz="740" dirty="0"/>
          </a:p>
        </p:txBody>
      </p:sp>
      <p:sp>
        <p:nvSpPr>
          <p:cNvPr id="61" name="Text 54"/>
          <p:cNvSpPr txBox="1"/>
          <p:nvPr/>
        </p:nvSpPr>
        <p:spPr>
          <a:xfrm>
            <a:off x="7498080" y="327355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1편</a:t>
            </a:r>
            <a:endParaRPr lang="en-US" sz="800" dirty="0"/>
          </a:p>
        </p:txBody>
      </p:sp>
      <p:sp>
        <p:nvSpPr>
          <p:cNvPr id="62" name="Text 55"/>
          <p:cNvSpPr txBox="1"/>
          <p:nvPr/>
        </p:nvSpPr>
        <p:spPr>
          <a:xfrm>
            <a:off x="8887968" y="301752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9400032" y="301752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9491472" y="3145536"/>
            <a:ext cx="91440" cy="31089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65" name="Text 58"/>
          <p:cNvSpPr txBox="1"/>
          <p:nvPr/>
        </p:nvSpPr>
        <p:spPr>
          <a:xfrm>
            <a:off x="9656064" y="307238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macro-strategist</a:t>
            </a:r>
            <a:endParaRPr lang="en-US" sz="740" dirty="0"/>
          </a:p>
        </p:txBody>
      </p:sp>
      <p:sp>
        <p:nvSpPr>
          <p:cNvPr id="66" name="Text 59"/>
          <p:cNvSpPr txBox="1"/>
          <p:nvPr/>
        </p:nvSpPr>
        <p:spPr>
          <a:xfrm>
            <a:off x="9656064" y="327355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갱신</a:t>
            </a:r>
            <a:endParaRPr lang="en-US" sz="800" dirty="0"/>
          </a:p>
        </p:txBody>
      </p:sp>
      <p:sp>
        <p:nvSpPr>
          <p:cNvPr id="67" name="Text 60"/>
          <p:cNvSpPr txBox="1"/>
          <p:nvPr/>
        </p:nvSpPr>
        <p:spPr>
          <a:xfrm>
            <a:off x="11045952" y="301752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68" name="Shape 61"/>
          <p:cNvSpPr/>
          <p:nvPr/>
        </p:nvSpPr>
        <p:spPr>
          <a:xfrm>
            <a:off x="5084064" y="365760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5175504" y="3785616"/>
            <a:ext cx="91440" cy="31089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0" name="Text 63"/>
          <p:cNvSpPr txBox="1"/>
          <p:nvPr/>
        </p:nvSpPr>
        <p:spPr>
          <a:xfrm>
            <a:off x="5340096" y="37124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return-analyst</a:t>
            </a:r>
            <a:endParaRPr lang="en-US" sz="740" dirty="0"/>
          </a:p>
        </p:txBody>
      </p:sp>
      <p:sp>
        <p:nvSpPr>
          <p:cNvPr id="71" name="Text 64"/>
          <p:cNvSpPr txBox="1"/>
          <p:nvPr/>
        </p:nvSpPr>
        <p:spPr>
          <a:xfrm>
            <a:off x="5340096" y="39136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 공시</a:t>
            </a:r>
            <a:endParaRPr lang="en-US" sz="800" dirty="0"/>
          </a:p>
        </p:txBody>
      </p:sp>
      <p:sp>
        <p:nvSpPr>
          <p:cNvPr id="72" name="Text 65"/>
          <p:cNvSpPr txBox="1"/>
          <p:nvPr/>
        </p:nvSpPr>
        <p:spPr>
          <a:xfrm>
            <a:off x="6729984" y="365760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73" name="Shape 66"/>
          <p:cNvSpPr/>
          <p:nvPr/>
        </p:nvSpPr>
        <p:spPr>
          <a:xfrm>
            <a:off x="7242048" y="365760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7333488" y="3785616"/>
            <a:ext cx="91440" cy="31089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5" name="Text 68"/>
          <p:cNvSpPr txBox="1"/>
          <p:nvPr/>
        </p:nvSpPr>
        <p:spPr>
          <a:xfrm>
            <a:off x="7498080" y="37124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execution-trader</a:t>
            </a:r>
            <a:endParaRPr lang="en-US" sz="740" dirty="0"/>
          </a:p>
        </p:txBody>
      </p:sp>
      <p:sp>
        <p:nvSpPr>
          <p:cNvPr id="76" name="Text 69"/>
          <p:cNvSpPr txBox="1"/>
          <p:nvPr/>
        </p:nvSpPr>
        <p:spPr>
          <a:xfrm>
            <a:off x="7498080" y="39136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변동</a:t>
            </a:r>
            <a:endParaRPr lang="en-US" sz="800" dirty="0"/>
          </a:p>
        </p:txBody>
      </p:sp>
      <p:sp>
        <p:nvSpPr>
          <p:cNvPr id="77" name="Text 70"/>
          <p:cNvSpPr txBox="1"/>
          <p:nvPr/>
        </p:nvSpPr>
        <p:spPr>
          <a:xfrm>
            <a:off x="8887968" y="365760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78" name="Shape 71"/>
          <p:cNvSpPr/>
          <p:nvPr/>
        </p:nvSpPr>
        <p:spPr>
          <a:xfrm>
            <a:off x="9400032" y="365760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9491472" y="3785616"/>
            <a:ext cx="91440" cy="31089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0" name="Text 73"/>
          <p:cNvSpPr txBox="1"/>
          <p:nvPr/>
        </p:nvSpPr>
        <p:spPr>
          <a:xfrm>
            <a:off x="9656064" y="37124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liquidity-analyst</a:t>
            </a:r>
            <a:endParaRPr lang="en-US" sz="740" dirty="0"/>
          </a:p>
        </p:txBody>
      </p:sp>
      <p:sp>
        <p:nvSpPr>
          <p:cNvPr id="81" name="Text 74"/>
          <p:cNvSpPr txBox="1"/>
          <p:nvPr/>
        </p:nvSpPr>
        <p:spPr>
          <a:xfrm>
            <a:off x="9656064" y="39136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±8% 변동</a:t>
            </a:r>
            <a:endParaRPr lang="en-US" sz="800" dirty="0"/>
          </a:p>
        </p:txBody>
      </p:sp>
      <p:sp>
        <p:nvSpPr>
          <p:cNvPr id="82" name="Text 75"/>
          <p:cNvSpPr txBox="1"/>
          <p:nvPr/>
        </p:nvSpPr>
        <p:spPr>
          <a:xfrm>
            <a:off x="11045952" y="365760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83" name="Shape 76"/>
          <p:cNvSpPr/>
          <p:nvPr/>
        </p:nvSpPr>
        <p:spPr>
          <a:xfrm>
            <a:off x="5084064" y="429768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5175504" y="4425696"/>
            <a:ext cx="91440" cy="31089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85" name="Text 78"/>
          <p:cNvSpPr txBox="1"/>
          <p:nvPr/>
        </p:nvSpPr>
        <p:spPr>
          <a:xfrm>
            <a:off x="5340096" y="43525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market-risk</a:t>
            </a:r>
            <a:endParaRPr lang="en-US" sz="740" dirty="0"/>
          </a:p>
        </p:txBody>
      </p:sp>
      <p:sp>
        <p:nvSpPr>
          <p:cNvPr id="86" name="Text 79"/>
          <p:cNvSpPr txBox="1"/>
          <p:nvPr/>
        </p:nvSpPr>
        <p:spPr>
          <a:xfrm>
            <a:off x="5340096" y="455371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 묶음</a:t>
            </a:r>
            <a:endParaRPr lang="en-US" sz="800" dirty="0"/>
          </a:p>
        </p:txBody>
      </p:sp>
      <p:sp>
        <p:nvSpPr>
          <p:cNvPr id="87" name="Text 80"/>
          <p:cNvSpPr txBox="1"/>
          <p:nvPr/>
        </p:nvSpPr>
        <p:spPr>
          <a:xfrm>
            <a:off x="6729984" y="42976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88" name="Shape 81"/>
          <p:cNvSpPr/>
          <p:nvPr/>
        </p:nvSpPr>
        <p:spPr>
          <a:xfrm>
            <a:off x="7242048" y="429768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7333488" y="4425696"/>
            <a:ext cx="91440" cy="31089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90" name="Text 83"/>
          <p:cNvSpPr txBox="1"/>
          <p:nvPr/>
        </p:nvSpPr>
        <p:spPr>
          <a:xfrm>
            <a:off x="7498080" y="43525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concentration-risk</a:t>
            </a:r>
            <a:endParaRPr lang="en-US" sz="740" dirty="0"/>
          </a:p>
        </p:txBody>
      </p:sp>
      <p:sp>
        <p:nvSpPr>
          <p:cNvPr id="91" name="Text 84"/>
          <p:cNvSpPr txBox="1"/>
          <p:nvPr/>
        </p:nvSpPr>
        <p:spPr>
          <a:xfrm>
            <a:off x="7498080" y="455371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포지션 변동</a:t>
            </a:r>
            <a:endParaRPr lang="en-US" sz="800" dirty="0"/>
          </a:p>
        </p:txBody>
      </p:sp>
      <p:sp>
        <p:nvSpPr>
          <p:cNvPr id="92" name="Text 85"/>
          <p:cNvSpPr txBox="1"/>
          <p:nvPr/>
        </p:nvSpPr>
        <p:spPr>
          <a:xfrm>
            <a:off x="8887968" y="42976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93" name="Shape 86"/>
          <p:cNvSpPr/>
          <p:nvPr/>
        </p:nvSpPr>
        <p:spPr>
          <a:xfrm>
            <a:off x="9400032" y="429768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>
            <a:off x="9491472" y="4425696"/>
            <a:ext cx="91440" cy="31089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95" name="Text 88"/>
          <p:cNvSpPr txBox="1"/>
          <p:nvPr/>
        </p:nvSpPr>
        <p:spPr>
          <a:xfrm>
            <a:off x="9656064" y="43525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model-risk ★</a:t>
            </a:r>
            <a:endParaRPr lang="en-US" sz="740" dirty="0"/>
          </a:p>
        </p:txBody>
      </p:sp>
      <p:sp>
        <p:nvSpPr>
          <p:cNvPr id="96" name="Text 89"/>
          <p:cNvSpPr txBox="1"/>
          <p:nvPr/>
        </p:nvSpPr>
        <p:spPr>
          <a:xfrm>
            <a:off x="9656064" y="455371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설계</a:t>
            </a:r>
            <a:endParaRPr lang="en-US" sz="800" dirty="0"/>
          </a:p>
        </p:txBody>
      </p:sp>
      <p:sp>
        <p:nvSpPr>
          <p:cNvPr id="97" name="Text 90"/>
          <p:cNvSpPr txBox="1"/>
          <p:nvPr/>
        </p:nvSpPr>
        <p:spPr>
          <a:xfrm>
            <a:off x="11045952" y="42976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98" name="Shape 91"/>
          <p:cNvSpPr/>
          <p:nvPr/>
        </p:nvSpPr>
        <p:spPr>
          <a:xfrm>
            <a:off x="5084064" y="493776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>
            <a:off x="5175504" y="5065776"/>
            <a:ext cx="91440" cy="310896"/>
          </a:xfrm>
          <a:prstGeom prst="rect">
            <a:avLst/>
          </a:prstGeom>
          <a:solidFill>
            <a:srgbClr val="FF7847"/>
          </a:solidFill>
          <a:ln/>
        </p:spPr>
      </p:sp>
      <p:sp>
        <p:nvSpPr>
          <p:cNvPr id="100" name="Text 93"/>
          <p:cNvSpPr txBox="1"/>
          <p:nvPr/>
        </p:nvSpPr>
        <p:spPr>
          <a:xfrm>
            <a:off x="5340096" y="499262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internal-audit</a:t>
            </a:r>
            <a:endParaRPr lang="en-US" sz="740" dirty="0"/>
          </a:p>
        </p:txBody>
      </p:sp>
      <p:sp>
        <p:nvSpPr>
          <p:cNvPr id="101" name="Text 94"/>
          <p:cNvSpPr txBox="1"/>
          <p:nvPr/>
        </p:nvSpPr>
        <p:spPr>
          <a:xfrm>
            <a:off x="5340096" y="519379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</a:t>
            </a:r>
            <a:endParaRPr lang="en-US" sz="800" dirty="0"/>
          </a:p>
        </p:txBody>
      </p:sp>
      <p:sp>
        <p:nvSpPr>
          <p:cNvPr id="102" name="Text 95"/>
          <p:cNvSpPr txBox="1"/>
          <p:nvPr/>
        </p:nvSpPr>
        <p:spPr>
          <a:xfrm>
            <a:off x="6729984" y="493776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7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103" name="Shape 96"/>
          <p:cNvSpPr/>
          <p:nvPr/>
        </p:nvSpPr>
        <p:spPr>
          <a:xfrm>
            <a:off x="7242048" y="493776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7333488" y="5065776"/>
            <a:ext cx="91440" cy="310896"/>
          </a:xfrm>
          <a:prstGeom prst="rect">
            <a:avLst/>
          </a:prstGeom>
          <a:solidFill>
            <a:srgbClr val="FF7847"/>
          </a:solidFill>
          <a:ln/>
        </p:spPr>
      </p:sp>
      <p:sp>
        <p:nvSpPr>
          <p:cNvPr id="105" name="Text 98"/>
          <p:cNvSpPr txBox="1"/>
          <p:nvPr/>
        </p:nvSpPr>
        <p:spPr>
          <a:xfrm>
            <a:off x="7498080" y="499262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disclosure-control</a:t>
            </a:r>
            <a:endParaRPr lang="en-US" sz="740" dirty="0"/>
          </a:p>
        </p:txBody>
      </p:sp>
      <p:sp>
        <p:nvSpPr>
          <p:cNvPr id="106" name="Text 99"/>
          <p:cNvSpPr txBox="1"/>
          <p:nvPr/>
        </p:nvSpPr>
        <p:spPr>
          <a:xfrm>
            <a:off x="7498080" y="519379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직전</a:t>
            </a:r>
            <a:endParaRPr lang="en-US" sz="800" dirty="0"/>
          </a:p>
        </p:txBody>
      </p:sp>
      <p:sp>
        <p:nvSpPr>
          <p:cNvPr id="107" name="Text 100"/>
          <p:cNvSpPr txBox="1"/>
          <p:nvPr/>
        </p:nvSpPr>
        <p:spPr>
          <a:xfrm>
            <a:off x="8887968" y="493776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7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108" name="Shape 101"/>
          <p:cNvSpPr/>
          <p:nvPr/>
        </p:nvSpPr>
        <p:spPr>
          <a:xfrm>
            <a:off x="9400032" y="4937760"/>
            <a:ext cx="2029968" cy="56692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9491472" y="5065776"/>
            <a:ext cx="91440" cy="310896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110" name="Text 103"/>
          <p:cNvSpPr txBox="1"/>
          <p:nvPr/>
        </p:nvSpPr>
        <p:spPr>
          <a:xfrm>
            <a:off x="9656064" y="499262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research-editor</a:t>
            </a:r>
            <a:endParaRPr lang="en-US" sz="740" dirty="0"/>
          </a:p>
        </p:txBody>
      </p:sp>
      <p:sp>
        <p:nvSpPr>
          <p:cNvPr id="111" name="Text 104"/>
          <p:cNvSpPr txBox="1"/>
          <p:nvPr/>
        </p:nvSpPr>
        <p:spPr>
          <a:xfrm>
            <a:off x="9656064" y="519379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직전</a:t>
            </a:r>
            <a:endParaRPr lang="en-US" sz="800" dirty="0"/>
          </a:p>
        </p:txBody>
      </p:sp>
      <p:sp>
        <p:nvSpPr>
          <p:cNvPr id="112" name="Text 105"/>
          <p:cNvSpPr txBox="1"/>
          <p:nvPr/>
        </p:nvSpPr>
        <p:spPr>
          <a:xfrm>
            <a:off x="11045952" y="493776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900" dirty="0"/>
          </a:p>
        </p:txBody>
      </p:sp>
      <p:sp>
        <p:nvSpPr>
          <p:cNvPr id="113" name="Shape 106"/>
          <p:cNvSpPr/>
          <p:nvPr/>
        </p:nvSpPr>
        <p:spPr>
          <a:xfrm>
            <a:off x="598932" y="5792724"/>
            <a:ext cx="11094415" cy="5486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4" name="Shape 107"/>
          <p:cNvSpPr/>
          <p:nvPr/>
        </p:nvSpPr>
        <p:spPr>
          <a:xfrm>
            <a:off x="548640" y="5742432"/>
            <a:ext cx="11094415" cy="54864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5" name="Text 108"/>
          <p:cNvSpPr txBox="1"/>
          <p:nvPr/>
        </p:nvSpPr>
        <p:spPr>
          <a:xfrm>
            <a:off x="786384" y="5742432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소집인가 — 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20개로 늘면 전수 실행은 더 나빠진다 — 85종목 × 종목단위 7데스크 = 595회다. 어제와 달라진 것이 없는 종목을 다시 읽는 것은 같은 답을 다시 사는 일이다. 역할을 늘릴수록 소집이 더 중요해진다.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소집 → 작업 → 봉투 → 소멸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세션을 갖지 않는다. 기억을 들고 있지 않으므로, 어제의 오해가 오늘로 넘어오지 않는다.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2615184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2615184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1901952"/>
            <a:ext cx="731520" cy="731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" y="276148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30175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소집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트리거가 입력을 확정해서 넘긴다.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 · 공시 접수번호 · 기준일.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밖의 것은 볼 수 없다.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33933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2" name="Shape 9"/>
          <p:cNvSpPr/>
          <p:nvPr/>
        </p:nvSpPr>
        <p:spPr>
          <a:xfrm>
            <a:off x="937260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3" name="Shape 10"/>
          <p:cNvSpPr/>
          <p:nvPr/>
        </p:nvSpPr>
        <p:spPr>
          <a:xfrm>
            <a:off x="1040587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4" name="Shape 11"/>
          <p:cNvSpPr/>
          <p:nvPr/>
        </p:nvSpPr>
        <p:spPr>
          <a:xfrm>
            <a:off x="1143914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Shape 12"/>
          <p:cNvSpPr/>
          <p:nvPr/>
        </p:nvSpPr>
        <p:spPr>
          <a:xfrm>
            <a:off x="1247242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Shape 13"/>
          <p:cNvSpPr/>
          <p:nvPr/>
        </p:nvSpPr>
        <p:spPr>
          <a:xfrm>
            <a:off x="1350569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7" name="Shape 14"/>
          <p:cNvSpPr/>
          <p:nvPr/>
        </p:nvSpPr>
        <p:spPr>
          <a:xfrm>
            <a:off x="1453896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8" name="Shape 15"/>
          <p:cNvSpPr/>
          <p:nvPr/>
        </p:nvSpPr>
        <p:spPr>
          <a:xfrm>
            <a:off x="1557223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9" name="Shape 16"/>
          <p:cNvSpPr/>
          <p:nvPr/>
        </p:nvSpPr>
        <p:spPr>
          <a:xfrm>
            <a:off x="1660550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0" name="Shape 17"/>
          <p:cNvSpPr/>
          <p:nvPr/>
        </p:nvSpPr>
        <p:spPr>
          <a:xfrm>
            <a:off x="1763878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1" name="Shape 18"/>
          <p:cNvSpPr/>
          <p:nvPr/>
        </p:nvSpPr>
        <p:spPr>
          <a:xfrm>
            <a:off x="1867205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2" name="Shape 19"/>
          <p:cNvSpPr/>
          <p:nvPr/>
        </p:nvSpPr>
        <p:spPr>
          <a:xfrm>
            <a:off x="1970532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3" name="Shape 20"/>
          <p:cNvSpPr/>
          <p:nvPr/>
        </p:nvSpPr>
        <p:spPr>
          <a:xfrm>
            <a:off x="2073859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4" name="Shape 21"/>
          <p:cNvSpPr/>
          <p:nvPr/>
        </p:nvSpPr>
        <p:spPr>
          <a:xfrm>
            <a:off x="2177186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5" name="Shape 22"/>
          <p:cNvSpPr/>
          <p:nvPr/>
        </p:nvSpPr>
        <p:spPr>
          <a:xfrm>
            <a:off x="2280514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6" name="Shape 23"/>
          <p:cNvSpPr/>
          <p:nvPr/>
        </p:nvSpPr>
        <p:spPr>
          <a:xfrm>
            <a:off x="2383841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7" name="Shape 24"/>
          <p:cNvSpPr/>
          <p:nvPr/>
        </p:nvSpPr>
        <p:spPr>
          <a:xfrm>
            <a:off x="2487168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8" name="Shape 25"/>
          <p:cNvSpPr/>
          <p:nvPr/>
        </p:nvSpPr>
        <p:spPr>
          <a:xfrm>
            <a:off x="2590495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9" name="Shape 26"/>
          <p:cNvSpPr/>
          <p:nvPr/>
        </p:nvSpPr>
        <p:spPr>
          <a:xfrm>
            <a:off x="2693822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30" name="Shape 27"/>
          <p:cNvSpPr/>
          <p:nvPr/>
        </p:nvSpPr>
        <p:spPr>
          <a:xfrm>
            <a:off x="2797150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139696"/>
            <a:ext cx="274320" cy="173736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451860" y="1769364"/>
            <a:ext cx="2615184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3" name="Shape 29"/>
          <p:cNvSpPr/>
          <p:nvPr/>
        </p:nvSpPr>
        <p:spPr>
          <a:xfrm>
            <a:off x="3401568" y="1719072"/>
            <a:ext cx="2615184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343400" y="1901952"/>
            <a:ext cx="731520" cy="73152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547872" y="276148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endParaRPr lang="en-US" sz="1050" dirty="0"/>
          </a:p>
        </p:txBody>
      </p:sp>
      <p:sp>
        <p:nvSpPr>
          <p:cNvPr id="36" name="Text 31"/>
          <p:cNvSpPr txBox="1"/>
          <p:nvPr/>
        </p:nvSpPr>
        <p:spPr>
          <a:xfrm>
            <a:off x="3547872" y="30175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3566160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MCP 읽기 도구만 부른다.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예산(토큰·호출수)이 정해져 있고,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넘으면 그대로 중단된다.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686861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9" name="Shape 34"/>
          <p:cNvSpPr/>
          <p:nvPr/>
        </p:nvSpPr>
        <p:spPr>
          <a:xfrm>
            <a:off x="3790188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0" name="Shape 35"/>
          <p:cNvSpPr/>
          <p:nvPr/>
        </p:nvSpPr>
        <p:spPr>
          <a:xfrm>
            <a:off x="3893515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1" name="Shape 36"/>
          <p:cNvSpPr/>
          <p:nvPr/>
        </p:nvSpPr>
        <p:spPr>
          <a:xfrm>
            <a:off x="3996842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2" name="Shape 37"/>
          <p:cNvSpPr/>
          <p:nvPr/>
        </p:nvSpPr>
        <p:spPr>
          <a:xfrm>
            <a:off x="4100170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3" name="Shape 38"/>
          <p:cNvSpPr/>
          <p:nvPr/>
        </p:nvSpPr>
        <p:spPr>
          <a:xfrm>
            <a:off x="4203497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4" name="Shape 39"/>
          <p:cNvSpPr/>
          <p:nvPr/>
        </p:nvSpPr>
        <p:spPr>
          <a:xfrm>
            <a:off x="4306824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5" name="Shape 40"/>
          <p:cNvSpPr/>
          <p:nvPr/>
        </p:nvSpPr>
        <p:spPr>
          <a:xfrm>
            <a:off x="4410151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6" name="Shape 41"/>
          <p:cNvSpPr/>
          <p:nvPr/>
        </p:nvSpPr>
        <p:spPr>
          <a:xfrm>
            <a:off x="4513478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7" name="Shape 42"/>
          <p:cNvSpPr/>
          <p:nvPr/>
        </p:nvSpPr>
        <p:spPr>
          <a:xfrm>
            <a:off x="4616806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8" name="Shape 43"/>
          <p:cNvSpPr/>
          <p:nvPr/>
        </p:nvSpPr>
        <p:spPr>
          <a:xfrm>
            <a:off x="4720133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9" name="Shape 44"/>
          <p:cNvSpPr/>
          <p:nvPr/>
        </p:nvSpPr>
        <p:spPr>
          <a:xfrm>
            <a:off x="4823460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0" name="Shape 45"/>
          <p:cNvSpPr/>
          <p:nvPr/>
        </p:nvSpPr>
        <p:spPr>
          <a:xfrm>
            <a:off x="4926787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1" name="Shape 46"/>
          <p:cNvSpPr/>
          <p:nvPr/>
        </p:nvSpPr>
        <p:spPr>
          <a:xfrm>
            <a:off x="5030114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2" name="Shape 47"/>
          <p:cNvSpPr/>
          <p:nvPr/>
        </p:nvSpPr>
        <p:spPr>
          <a:xfrm>
            <a:off x="5133442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3" name="Shape 48"/>
          <p:cNvSpPr/>
          <p:nvPr/>
        </p:nvSpPr>
        <p:spPr>
          <a:xfrm>
            <a:off x="5236769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4" name="Shape 49"/>
          <p:cNvSpPr/>
          <p:nvPr/>
        </p:nvSpPr>
        <p:spPr>
          <a:xfrm>
            <a:off x="5340096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5" name="Shape 50"/>
          <p:cNvSpPr/>
          <p:nvPr/>
        </p:nvSpPr>
        <p:spPr>
          <a:xfrm>
            <a:off x="5443423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6" name="Shape 51"/>
          <p:cNvSpPr/>
          <p:nvPr/>
        </p:nvSpPr>
        <p:spPr>
          <a:xfrm>
            <a:off x="5546750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7" name="Shape 52"/>
          <p:cNvSpPr/>
          <p:nvPr/>
        </p:nvSpPr>
        <p:spPr>
          <a:xfrm>
            <a:off x="5650078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139696"/>
            <a:ext cx="274320" cy="173736"/>
          </a:xfrm>
          <a:prstGeom prst="rect">
            <a:avLst/>
          </a:prstGeom>
        </p:spPr>
      </p:pic>
      <p:sp>
        <p:nvSpPr>
          <p:cNvPr id="59" name="Shape 53"/>
          <p:cNvSpPr/>
          <p:nvPr/>
        </p:nvSpPr>
        <p:spPr>
          <a:xfrm>
            <a:off x="6304788" y="1769364"/>
            <a:ext cx="2615184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0" name="Shape 54"/>
          <p:cNvSpPr/>
          <p:nvPr/>
        </p:nvSpPr>
        <p:spPr>
          <a:xfrm>
            <a:off x="6254496" y="1719072"/>
            <a:ext cx="2615184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196328" y="1901952"/>
            <a:ext cx="731520" cy="731520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6400800" y="276148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ENVELOPE</a:t>
            </a:r>
            <a:endParaRPr lang="en-US" sz="1050" dirty="0"/>
          </a:p>
        </p:txBody>
      </p:sp>
      <p:sp>
        <p:nvSpPr>
          <p:cNvPr id="63" name="Text 56"/>
          <p:cNvSpPr txBox="1"/>
          <p:nvPr/>
        </p:nvSpPr>
        <p:spPr>
          <a:xfrm>
            <a:off x="6400800" y="30175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</a:t>
            </a:r>
            <a:endParaRPr lang="en-US" sz="1800" dirty="0"/>
          </a:p>
        </p:txBody>
      </p:sp>
      <p:sp>
        <p:nvSpPr>
          <p:cNvPr id="64" name="Text 57"/>
          <p:cNvSpPr txBox="1"/>
          <p:nvPr/>
        </p:nvSpPr>
        <p:spPr>
          <a:xfrm>
            <a:off x="6419088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 + 등급 + 가정 + 한계.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스키마를 못 맞추면 산출이 아니라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실패로 기록된다.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6539789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6" name="Shape 59"/>
          <p:cNvSpPr/>
          <p:nvPr/>
        </p:nvSpPr>
        <p:spPr>
          <a:xfrm>
            <a:off x="6643116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7" name="Shape 60"/>
          <p:cNvSpPr/>
          <p:nvPr/>
        </p:nvSpPr>
        <p:spPr>
          <a:xfrm>
            <a:off x="6746443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8" name="Shape 61"/>
          <p:cNvSpPr/>
          <p:nvPr/>
        </p:nvSpPr>
        <p:spPr>
          <a:xfrm>
            <a:off x="6849770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9" name="Shape 62"/>
          <p:cNvSpPr/>
          <p:nvPr/>
        </p:nvSpPr>
        <p:spPr>
          <a:xfrm>
            <a:off x="6953098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0" name="Shape 63"/>
          <p:cNvSpPr/>
          <p:nvPr/>
        </p:nvSpPr>
        <p:spPr>
          <a:xfrm>
            <a:off x="7056425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1" name="Shape 64"/>
          <p:cNvSpPr/>
          <p:nvPr/>
        </p:nvSpPr>
        <p:spPr>
          <a:xfrm>
            <a:off x="7159752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2" name="Shape 65"/>
          <p:cNvSpPr/>
          <p:nvPr/>
        </p:nvSpPr>
        <p:spPr>
          <a:xfrm>
            <a:off x="7263079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3" name="Shape 66"/>
          <p:cNvSpPr/>
          <p:nvPr/>
        </p:nvSpPr>
        <p:spPr>
          <a:xfrm>
            <a:off x="7366406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4" name="Shape 67"/>
          <p:cNvSpPr/>
          <p:nvPr/>
        </p:nvSpPr>
        <p:spPr>
          <a:xfrm>
            <a:off x="7469734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5" name="Shape 68"/>
          <p:cNvSpPr/>
          <p:nvPr/>
        </p:nvSpPr>
        <p:spPr>
          <a:xfrm>
            <a:off x="7573061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6" name="Shape 69"/>
          <p:cNvSpPr/>
          <p:nvPr/>
        </p:nvSpPr>
        <p:spPr>
          <a:xfrm>
            <a:off x="7676388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7" name="Shape 70"/>
          <p:cNvSpPr/>
          <p:nvPr/>
        </p:nvSpPr>
        <p:spPr>
          <a:xfrm>
            <a:off x="7779715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8" name="Shape 71"/>
          <p:cNvSpPr/>
          <p:nvPr/>
        </p:nvSpPr>
        <p:spPr>
          <a:xfrm>
            <a:off x="7883042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9" name="Shape 72"/>
          <p:cNvSpPr/>
          <p:nvPr/>
        </p:nvSpPr>
        <p:spPr>
          <a:xfrm>
            <a:off x="7986370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80" name="Shape 73"/>
          <p:cNvSpPr/>
          <p:nvPr/>
        </p:nvSpPr>
        <p:spPr>
          <a:xfrm>
            <a:off x="8089697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81" name="Shape 74"/>
          <p:cNvSpPr/>
          <p:nvPr/>
        </p:nvSpPr>
        <p:spPr>
          <a:xfrm>
            <a:off x="8193024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82" name="Shape 75"/>
          <p:cNvSpPr/>
          <p:nvPr/>
        </p:nvSpPr>
        <p:spPr>
          <a:xfrm>
            <a:off x="8296351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83" name="Shape 76"/>
          <p:cNvSpPr/>
          <p:nvPr/>
        </p:nvSpPr>
        <p:spPr>
          <a:xfrm>
            <a:off x="8399678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84" name="Shape 77"/>
          <p:cNvSpPr/>
          <p:nvPr/>
        </p:nvSpPr>
        <p:spPr>
          <a:xfrm>
            <a:off x="8503006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pic>
        <p:nvPicPr>
          <p:cNvPr id="8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2139696"/>
            <a:ext cx="274320" cy="173736"/>
          </a:xfrm>
          <a:prstGeom prst="rect">
            <a:avLst/>
          </a:prstGeom>
        </p:spPr>
      </p:pic>
      <p:sp>
        <p:nvSpPr>
          <p:cNvPr id="86" name="Shape 78"/>
          <p:cNvSpPr/>
          <p:nvPr/>
        </p:nvSpPr>
        <p:spPr>
          <a:xfrm>
            <a:off x="9157716" y="1769364"/>
            <a:ext cx="2615184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7" name="Shape 79"/>
          <p:cNvSpPr/>
          <p:nvPr/>
        </p:nvSpPr>
        <p:spPr>
          <a:xfrm>
            <a:off x="9107424" y="1719072"/>
            <a:ext cx="2615184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88" name="Image 6" descr="preencoded.png">    </p:cNvPr>
          <p:cNvPicPr>
            <a:picLocks noChangeAspect="1"/>
          </p:cNvPicPr>
          <p:nvPr/>
        </p:nvPicPr>
        <p:blipFill>
          <a:blip r:embed="rId7">
            <a:alphaModFix amt="15000"/>
          </a:blip>
          <a:stretch>
            <a:fillRect/>
          </a:stretch>
        </p:blipFill>
        <p:spPr>
          <a:xfrm>
            <a:off x="10049256" y="1901952"/>
            <a:ext cx="731520" cy="731520"/>
          </a:xfrm>
          <a:prstGeom prst="rect">
            <a:avLst/>
          </a:prstGeom>
        </p:spPr>
      </p:pic>
      <p:sp>
        <p:nvSpPr>
          <p:cNvPr id="89" name="Text 80"/>
          <p:cNvSpPr txBox="1"/>
          <p:nvPr/>
        </p:nvSpPr>
        <p:spPr>
          <a:xfrm>
            <a:off x="9253728" y="276148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DISSOLVE</a:t>
            </a:r>
            <a:endParaRPr lang="en-US" sz="1050" dirty="0"/>
          </a:p>
        </p:txBody>
      </p:sp>
      <p:sp>
        <p:nvSpPr>
          <p:cNvPr id="90" name="Text 81"/>
          <p:cNvSpPr txBox="1"/>
          <p:nvPr/>
        </p:nvSpPr>
        <p:spPr>
          <a:xfrm>
            <a:off x="9253728" y="30175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소멸</a:t>
            </a:r>
            <a:endParaRPr lang="en-US" sz="1800" dirty="0"/>
          </a:p>
        </p:txBody>
      </p:sp>
      <p:sp>
        <p:nvSpPr>
          <p:cNvPr id="91" name="Text 82"/>
          <p:cNvSpPr txBox="1"/>
          <p:nvPr/>
        </p:nvSpPr>
        <p:spPr>
          <a:xfrm>
            <a:off x="9272016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인스턴스가 사라진다.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것은 봉투와 실행 로그뿐 —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재생 가능하다.</a:t>
            </a:r>
            <a:endParaRPr lang="en-US" sz="1000" dirty="0"/>
          </a:p>
        </p:txBody>
      </p:sp>
      <p:sp>
        <p:nvSpPr>
          <p:cNvPr id="92" name="Shape 83"/>
          <p:cNvSpPr/>
          <p:nvPr/>
        </p:nvSpPr>
        <p:spPr>
          <a:xfrm>
            <a:off x="9392717" y="4590288"/>
            <a:ext cx="81382" cy="109728"/>
          </a:xfrm>
          <a:prstGeom prst="rect">
            <a:avLst/>
          </a:prstGeom>
          <a:solidFill>
            <a:srgbClr val="5E6B87"/>
          </a:solidFill>
          <a:ln/>
        </p:spPr>
      </p:sp>
      <p:sp>
        <p:nvSpPr>
          <p:cNvPr id="93" name="Shape 84"/>
          <p:cNvSpPr/>
          <p:nvPr/>
        </p:nvSpPr>
        <p:spPr>
          <a:xfrm>
            <a:off x="9496044" y="4590288"/>
            <a:ext cx="81382" cy="109728"/>
          </a:xfrm>
          <a:prstGeom prst="rect">
            <a:avLst/>
          </a:prstGeom>
          <a:solidFill>
            <a:srgbClr val="5E6B87"/>
          </a:solidFill>
          <a:ln/>
        </p:spPr>
      </p:sp>
      <p:sp>
        <p:nvSpPr>
          <p:cNvPr id="94" name="Shape 85"/>
          <p:cNvSpPr/>
          <p:nvPr/>
        </p:nvSpPr>
        <p:spPr>
          <a:xfrm>
            <a:off x="9599371" y="4590288"/>
            <a:ext cx="81382" cy="109728"/>
          </a:xfrm>
          <a:prstGeom prst="rect">
            <a:avLst/>
          </a:prstGeom>
          <a:solidFill>
            <a:srgbClr val="5E6B87"/>
          </a:solidFill>
          <a:ln/>
        </p:spPr>
      </p:sp>
      <p:sp>
        <p:nvSpPr>
          <p:cNvPr id="95" name="Shape 86"/>
          <p:cNvSpPr/>
          <p:nvPr/>
        </p:nvSpPr>
        <p:spPr>
          <a:xfrm>
            <a:off x="9702698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6" name="Shape 87"/>
          <p:cNvSpPr/>
          <p:nvPr/>
        </p:nvSpPr>
        <p:spPr>
          <a:xfrm>
            <a:off x="9806026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7" name="Shape 88"/>
          <p:cNvSpPr/>
          <p:nvPr/>
        </p:nvSpPr>
        <p:spPr>
          <a:xfrm>
            <a:off x="9909353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8" name="Shape 89"/>
          <p:cNvSpPr/>
          <p:nvPr/>
        </p:nvSpPr>
        <p:spPr>
          <a:xfrm>
            <a:off x="10012680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9" name="Shape 90"/>
          <p:cNvSpPr/>
          <p:nvPr/>
        </p:nvSpPr>
        <p:spPr>
          <a:xfrm>
            <a:off x="10116007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0" name="Shape 91"/>
          <p:cNvSpPr/>
          <p:nvPr/>
        </p:nvSpPr>
        <p:spPr>
          <a:xfrm>
            <a:off x="10219334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1" name="Shape 92"/>
          <p:cNvSpPr/>
          <p:nvPr/>
        </p:nvSpPr>
        <p:spPr>
          <a:xfrm>
            <a:off x="10322662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2" name="Shape 93"/>
          <p:cNvSpPr/>
          <p:nvPr/>
        </p:nvSpPr>
        <p:spPr>
          <a:xfrm>
            <a:off x="10425989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3" name="Shape 94"/>
          <p:cNvSpPr/>
          <p:nvPr/>
        </p:nvSpPr>
        <p:spPr>
          <a:xfrm>
            <a:off x="10529316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4" name="Shape 95"/>
          <p:cNvSpPr/>
          <p:nvPr/>
        </p:nvSpPr>
        <p:spPr>
          <a:xfrm>
            <a:off x="10632643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5" name="Shape 96"/>
          <p:cNvSpPr/>
          <p:nvPr/>
        </p:nvSpPr>
        <p:spPr>
          <a:xfrm>
            <a:off x="10735970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6" name="Shape 97"/>
          <p:cNvSpPr/>
          <p:nvPr/>
        </p:nvSpPr>
        <p:spPr>
          <a:xfrm>
            <a:off x="10839298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7" name="Shape 98"/>
          <p:cNvSpPr/>
          <p:nvPr/>
        </p:nvSpPr>
        <p:spPr>
          <a:xfrm>
            <a:off x="10942625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8" name="Shape 99"/>
          <p:cNvSpPr/>
          <p:nvPr/>
        </p:nvSpPr>
        <p:spPr>
          <a:xfrm>
            <a:off x="11045952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9" name="Shape 100"/>
          <p:cNvSpPr/>
          <p:nvPr/>
        </p:nvSpPr>
        <p:spPr>
          <a:xfrm>
            <a:off x="11149279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10" name="Shape 101"/>
          <p:cNvSpPr/>
          <p:nvPr/>
        </p:nvSpPr>
        <p:spPr>
          <a:xfrm>
            <a:off x="11252606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11" name="Shape 102"/>
          <p:cNvSpPr/>
          <p:nvPr/>
        </p:nvSpPr>
        <p:spPr>
          <a:xfrm>
            <a:off x="11355934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12" name="Shape 103"/>
          <p:cNvSpPr/>
          <p:nvPr/>
        </p:nvSpPr>
        <p:spPr>
          <a:xfrm>
            <a:off x="598932" y="5134356"/>
            <a:ext cx="2615184" cy="11704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3" name="Shape 104"/>
          <p:cNvSpPr/>
          <p:nvPr/>
        </p:nvSpPr>
        <p:spPr>
          <a:xfrm>
            <a:off x="548640" y="5084064"/>
            <a:ext cx="2615184" cy="117043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4" name="Text 105"/>
          <p:cNvSpPr txBox="1"/>
          <p:nvPr/>
        </p:nvSpPr>
        <p:spPr>
          <a:xfrm>
            <a:off x="713232" y="5212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무상태 (stateless)</a:t>
            </a:r>
            <a:endParaRPr lang="en-US" sz="1150" dirty="0"/>
          </a:p>
        </p:txBody>
      </p:sp>
      <p:sp>
        <p:nvSpPr>
          <p:cNvPr id="115" name="Text 106"/>
          <p:cNvSpPr txBox="1"/>
          <p:nvPr/>
        </p:nvSpPr>
        <p:spPr>
          <a:xfrm>
            <a:off x="713232" y="546811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 → 같은 봉투. 어제 무엇을 봤는지 기억하지 않는다.</a:t>
            </a:r>
            <a:endParaRPr lang="en-US" sz="950" dirty="0"/>
          </a:p>
        </p:txBody>
      </p:sp>
      <p:sp>
        <p:nvSpPr>
          <p:cNvPr id="116" name="Shape 107"/>
          <p:cNvSpPr/>
          <p:nvPr/>
        </p:nvSpPr>
        <p:spPr>
          <a:xfrm>
            <a:off x="3451860" y="5134356"/>
            <a:ext cx="2615184" cy="11704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7" name="Shape 108"/>
          <p:cNvSpPr/>
          <p:nvPr/>
        </p:nvSpPr>
        <p:spPr>
          <a:xfrm>
            <a:off x="3401568" y="5084064"/>
            <a:ext cx="2615184" cy="117043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8" name="Text 109"/>
          <p:cNvSpPr txBox="1"/>
          <p:nvPr/>
        </p:nvSpPr>
        <p:spPr>
          <a:xfrm>
            <a:off x="3566160" y="5212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제한</a:t>
            </a:r>
            <a:endParaRPr lang="en-US" sz="1150" dirty="0"/>
          </a:p>
        </p:txBody>
      </p:sp>
      <p:sp>
        <p:nvSpPr>
          <p:cNvPr id="119" name="Text 110"/>
          <p:cNvSpPr txBox="1"/>
          <p:nvPr/>
        </p:nvSpPr>
        <p:spPr>
          <a:xfrm>
            <a:off x="3566160" y="546811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인스턴스마다 호출·토큰 상한. 초과하면 '미완'으로 끝나지 조용히 넘어가지 않는다.</a:t>
            </a:r>
            <a:endParaRPr lang="en-US" sz="950" dirty="0"/>
          </a:p>
        </p:txBody>
      </p:sp>
      <p:sp>
        <p:nvSpPr>
          <p:cNvPr id="120" name="Shape 111"/>
          <p:cNvSpPr/>
          <p:nvPr/>
        </p:nvSpPr>
        <p:spPr>
          <a:xfrm>
            <a:off x="6304788" y="5134356"/>
            <a:ext cx="2615184" cy="11704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1" name="Shape 112"/>
          <p:cNvSpPr/>
          <p:nvPr/>
        </p:nvSpPr>
        <p:spPr>
          <a:xfrm>
            <a:off x="6254496" y="5084064"/>
            <a:ext cx="2615184" cy="117043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2" name="Text 113"/>
          <p:cNvSpPr txBox="1"/>
          <p:nvPr/>
        </p:nvSpPr>
        <p:spPr>
          <a:xfrm>
            <a:off x="6419088" y="5212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</a:t>
            </a:r>
            <a:endParaRPr lang="en-US" sz="1150" dirty="0"/>
          </a:p>
        </p:txBody>
      </p:sp>
      <p:sp>
        <p:nvSpPr>
          <p:cNvPr id="123" name="Text 114"/>
          <p:cNvSpPr txBox="1"/>
          <p:nvPr/>
        </p:nvSpPr>
        <p:spPr>
          <a:xfrm>
            <a:off x="6419088" y="546811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인스턴스의 산출을 보지 않는다. 수렴하면 교차검증의 의미가 사라진다.</a:t>
            </a:r>
            <a:endParaRPr lang="en-US" sz="950" dirty="0"/>
          </a:p>
        </p:txBody>
      </p:sp>
      <p:sp>
        <p:nvSpPr>
          <p:cNvPr id="124" name="Shape 115"/>
          <p:cNvSpPr/>
          <p:nvPr/>
        </p:nvSpPr>
        <p:spPr>
          <a:xfrm>
            <a:off x="9157716" y="5134356"/>
            <a:ext cx="2615184" cy="11704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5" name="Shape 116"/>
          <p:cNvSpPr/>
          <p:nvPr/>
        </p:nvSpPr>
        <p:spPr>
          <a:xfrm>
            <a:off x="9107424" y="5084064"/>
            <a:ext cx="2615184" cy="117043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6" name="Text 117"/>
          <p:cNvSpPr txBox="1"/>
          <p:nvPr/>
        </p:nvSpPr>
        <p:spPr>
          <a:xfrm>
            <a:off x="9272016" y="5212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 가능</a:t>
            </a:r>
            <a:endParaRPr lang="en-US" sz="1150" dirty="0"/>
          </a:p>
        </p:txBody>
      </p:sp>
      <p:sp>
        <p:nvSpPr>
          <p:cNvPr id="127" name="Text 118"/>
          <p:cNvSpPr txBox="1"/>
          <p:nvPr/>
        </p:nvSpPr>
        <p:spPr>
          <a:xfrm>
            <a:off x="9272016" y="546811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로그로 같은 인스턴스를 다시 띄워 결과를 대조할 수 있다.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TRIGGERS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누구를 부르는가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트리거는 원장의 변화에서 나온다. 사람이 부르는 것이 아니라 데이터가 부른다.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11094415" cy="914400"/>
        </p:xfrm>
        <a:graphic>
          <a:graphicData uri="http://schemas.openxmlformats.org/drawingml/2006/table">
            <a:tbl>
              <a:tblPr/>
              <a:tblGrid>
                <a:gridCol w="2432304"/>
                <a:gridCol w="2487168"/>
                <a:gridCol w="1773936"/>
                <a:gridCol w="960120"/>
                <a:gridCol w="343814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트리거 (원장의 변화)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소집되는 에이전트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넘겨받는 입력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인스턴스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산출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신규 공시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equity · credit · governance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접수번호 1건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공시당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종류로 분기 · 원문 링크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종가 ±8% 이상 변동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liquidity · concentration-risk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종목코드 · 기준일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종목당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처분여건 재계산 · 집중도 재점검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회수계획 진척 변동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execution-trader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exit_plan 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종목당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§7 집행 시뮬 재실행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재검 기한 도래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quant-researcher · model-risk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키 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1편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판정 + 설계 검증 + 원장 append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ECOS·캘린더 갱신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macro-strategist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· 일정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§4·§7 국면 서술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락업 만료 D-30 진입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execution · macro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종목코드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종목당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물량 압력 · 시점 코멘트 (등급 '추정')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봉투 묶음 완성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market-risk · concentration-risk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그날 봉투 전량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재검산 · 반려 또는 통과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통과분 확정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research-editor · ic-chair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봉투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정리 → 조립 · 쟁점 정렬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8932" y="5664708"/>
            <a:ext cx="11094415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614416"/>
            <a:ext cx="11094415" cy="56692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5614416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트리거가 없으면 아무도 소집되지 않는다.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날은 조용한 것이 정상이다 — 할 말이 없는데 데스크를 돌려 말을 만들게 하는 것이 이 구조가 막으려는 실패다.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LOAD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실행 대비 실제 부하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20영업일 시뮬레이션. 전수 방식은 종목수에 고정으로 묶이고, 이벤트 방식은 그날 일어난 일의 수만큼만 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32788"/>
            <a:ext cx="7589520" cy="3931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82496"/>
            <a:ext cx="7589520" cy="39319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에이전트 인스턴스 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084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— 감시 85종목 · 종목단위 데스크 7 · 공시 발생률 6% · ±8% 변동 발생률 4%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377440"/>
          <a:ext cx="7223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389620" y="1732788"/>
            <a:ext cx="3300984" cy="9052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" name="Shape 8"/>
          <p:cNvSpPr/>
          <p:nvPr/>
        </p:nvSpPr>
        <p:spPr>
          <a:xfrm>
            <a:off x="8339328" y="1682496"/>
            <a:ext cx="3300984" cy="9052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40496" y="17922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3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11,900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540496" y="2176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· 20일 누계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40496" y="23591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389620" y="2747772"/>
            <a:ext cx="3300984" cy="9052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3"/>
          <p:cNvSpPr/>
          <p:nvPr/>
        </p:nvSpPr>
        <p:spPr>
          <a:xfrm>
            <a:off x="8339328" y="2697480"/>
            <a:ext cx="3300984" cy="9052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40496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A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1,821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540496" y="31912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· 20일 누계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33741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389620" y="3762756"/>
            <a:ext cx="3300984" cy="9052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1" name="Shape 18"/>
          <p:cNvSpPr/>
          <p:nvPr/>
        </p:nvSpPr>
        <p:spPr>
          <a:xfrm>
            <a:off x="8339328" y="3712464"/>
            <a:ext cx="3300984" cy="9052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40496" y="3822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-85%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4206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감소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40496" y="4389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커버리지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89620" y="4777740"/>
            <a:ext cx="3300984" cy="9052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3"/>
          <p:cNvSpPr/>
          <p:nvPr/>
        </p:nvSpPr>
        <p:spPr>
          <a:xfrm>
            <a:off x="8339328" y="4727448"/>
            <a:ext cx="3300984" cy="9052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40496" y="4837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8540496" y="52212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피크일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40496" y="54041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D18 · 공시 집중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98932" y="5811012"/>
            <a:ext cx="11094415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1" name="Shape 28"/>
          <p:cNvSpPr/>
          <p:nvPr/>
        </p:nvSpPr>
        <p:spPr>
          <a:xfrm>
            <a:off x="548640" y="5760720"/>
            <a:ext cx="11094415" cy="53035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86384" y="5760720"/>
            <a:ext cx="106189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절감이 아니라 피크다.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방식은 조용한 날에도 595를 쓰느라, 정작 공시가 몰린 날(D18)에 더 깊이 볼 여력이 없다. 이벤트 방식은 그날 예산을 그날 일에 쓴다.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발생률은 가정값이다. 실측은 Phase 1 에서 원장의 공시·변동 이력으로 역산한다.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3 · ESCALATION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일에 비싼 모델을 쓰지 않는다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인스턴스가 같은 급일 필요는 없다. 아래에서 시작해, 걸리는 것만 위로 올린다.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7498080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7498080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83664"/>
            <a:ext cx="822960" cy="822960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8836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00784" y="1865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 ·  정형 추출 · 분류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00784" y="217627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제목에서 종류 판별, 값 파싱, 스키마 채우기처럼 답이 하나로 정해지는 일.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11757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9501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3" name="Shape 11"/>
          <p:cNvSpPr/>
          <p:nvPr/>
        </p:nvSpPr>
        <p:spPr>
          <a:xfrm>
            <a:off x="2187245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4" name="Shape 12"/>
          <p:cNvSpPr/>
          <p:nvPr/>
        </p:nvSpPr>
        <p:spPr>
          <a:xfrm>
            <a:off x="2424989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Shape 13"/>
          <p:cNvSpPr/>
          <p:nvPr/>
        </p:nvSpPr>
        <p:spPr>
          <a:xfrm>
            <a:off x="2662733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Shape 14"/>
          <p:cNvSpPr/>
          <p:nvPr/>
        </p:nvSpPr>
        <p:spPr>
          <a:xfrm>
            <a:off x="2900477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7" name="Shape 15"/>
          <p:cNvSpPr/>
          <p:nvPr/>
        </p:nvSpPr>
        <p:spPr>
          <a:xfrm>
            <a:off x="3138221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375965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613709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851453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089197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26941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564685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2429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5" name="Shape 23"/>
          <p:cNvSpPr/>
          <p:nvPr/>
        </p:nvSpPr>
        <p:spPr>
          <a:xfrm>
            <a:off x="5040173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6" name="Shape 24"/>
          <p:cNvSpPr/>
          <p:nvPr/>
        </p:nvSpPr>
        <p:spPr>
          <a:xfrm>
            <a:off x="5277917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7" name="Shape 25"/>
          <p:cNvSpPr/>
          <p:nvPr/>
        </p:nvSpPr>
        <p:spPr>
          <a:xfrm>
            <a:off x="5515661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8" name="Shape 26"/>
          <p:cNvSpPr/>
          <p:nvPr/>
        </p:nvSpPr>
        <p:spPr>
          <a:xfrm>
            <a:off x="5753405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9" name="Shape 27"/>
          <p:cNvSpPr/>
          <p:nvPr/>
        </p:nvSpPr>
        <p:spPr>
          <a:xfrm>
            <a:off x="5991149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228893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전체의 ~70%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932" y="3049524"/>
            <a:ext cx="7498080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2999232"/>
            <a:ext cx="7498080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3182112"/>
            <a:ext cx="822960" cy="822960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" y="3182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700784" y="3163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 ·  해석 · 서술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700784" y="3474720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측정값을 읽고 §5·§6 초안을 쓰는 일. 대부분의 데스크 산출이 여기서 나온다.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711757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9" name="Shape 37"/>
          <p:cNvSpPr/>
          <p:nvPr/>
        </p:nvSpPr>
        <p:spPr>
          <a:xfrm>
            <a:off x="1949501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0" name="Shape 38"/>
          <p:cNvSpPr/>
          <p:nvPr/>
        </p:nvSpPr>
        <p:spPr>
          <a:xfrm>
            <a:off x="2187245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1" name="Shape 39"/>
          <p:cNvSpPr/>
          <p:nvPr/>
        </p:nvSpPr>
        <p:spPr>
          <a:xfrm>
            <a:off x="2424989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2" name="Shape 40"/>
          <p:cNvSpPr/>
          <p:nvPr/>
        </p:nvSpPr>
        <p:spPr>
          <a:xfrm>
            <a:off x="2662733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3" name="Shape 41"/>
          <p:cNvSpPr/>
          <p:nvPr/>
        </p:nvSpPr>
        <p:spPr>
          <a:xfrm>
            <a:off x="2900477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4" name="Shape 42"/>
          <p:cNvSpPr/>
          <p:nvPr/>
        </p:nvSpPr>
        <p:spPr>
          <a:xfrm>
            <a:off x="3138221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5" name="Shape 43"/>
          <p:cNvSpPr/>
          <p:nvPr/>
        </p:nvSpPr>
        <p:spPr>
          <a:xfrm>
            <a:off x="3375965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6" name="Shape 44"/>
          <p:cNvSpPr/>
          <p:nvPr/>
        </p:nvSpPr>
        <p:spPr>
          <a:xfrm>
            <a:off x="3613709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7" name="Shape 45"/>
          <p:cNvSpPr/>
          <p:nvPr/>
        </p:nvSpPr>
        <p:spPr>
          <a:xfrm>
            <a:off x="3851453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8" name="Shape 46"/>
          <p:cNvSpPr/>
          <p:nvPr/>
        </p:nvSpPr>
        <p:spPr>
          <a:xfrm>
            <a:off x="4089197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9" name="Shape 47"/>
          <p:cNvSpPr/>
          <p:nvPr/>
        </p:nvSpPr>
        <p:spPr>
          <a:xfrm>
            <a:off x="4326941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50" name="Shape 48"/>
          <p:cNvSpPr/>
          <p:nvPr/>
        </p:nvSpPr>
        <p:spPr>
          <a:xfrm>
            <a:off x="4564685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1" name="Shape 49"/>
          <p:cNvSpPr/>
          <p:nvPr/>
        </p:nvSpPr>
        <p:spPr>
          <a:xfrm>
            <a:off x="4802429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2" name="Shape 50"/>
          <p:cNvSpPr/>
          <p:nvPr/>
        </p:nvSpPr>
        <p:spPr>
          <a:xfrm>
            <a:off x="5040173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3" name="Shape 51"/>
          <p:cNvSpPr/>
          <p:nvPr/>
        </p:nvSpPr>
        <p:spPr>
          <a:xfrm>
            <a:off x="5277917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4" name="Shape 52"/>
          <p:cNvSpPr/>
          <p:nvPr/>
        </p:nvSpPr>
        <p:spPr>
          <a:xfrm>
            <a:off x="5515661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5" name="Shape 53"/>
          <p:cNvSpPr/>
          <p:nvPr/>
        </p:nvSpPr>
        <p:spPr>
          <a:xfrm>
            <a:off x="5753405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6" name="Shape 54"/>
          <p:cNvSpPr/>
          <p:nvPr/>
        </p:nvSpPr>
        <p:spPr>
          <a:xfrm>
            <a:off x="5991149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7" name="Shape 55"/>
          <p:cNvSpPr/>
          <p:nvPr/>
        </p:nvSpPr>
        <p:spPr>
          <a:xfrm>
            <a:off x="6228893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583680" y="38587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전체의 ~25%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98932" y="4347972"/>
            <a:ext cx="7498080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0" name="Shape 58"/>
          <p:cNvSpPr/>
          <p:nvPr/>
        </p:nvSpPr>
        <p:spPr>
          <a:xfrm>
            <a:off x="548640" y="4297680"/>
            <a:ext cx="7498080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" y="4480560"/>
            <a:ext cx="822960" cy="82296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13232" y="4480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2200" dirty="0"/>
          </a:p>
        </p:txBody>
      </p:sp>
      <p:sp>
        <p:nvSpPr>
          <p:cNvPr id="63" name="Text 61"/>
          <p:cNvSpPr txBox="1"/>
          <p:nvPr/>
        </p:nvSpPr>
        <p:spPr>
          <a:xfrm>
            <a:off x="1700784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 ·  이견 · 이상치 · 재현 설계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1700784" y="4773168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간 판정이 갈리거나, 재현 관문 설계처럼 틀리면 비싼 일.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711757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6" name="Shape 64"/>
          <p:cNvSpPr/>
          <p:nvPr/>
        </p:nvSpPr>
        <p:spPr>
          <a:xfrm>
            <a:off x="1949501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7" name="Shape 65"/>
          <p:cNvSpPr/>
          <p:nvPr/>
        </p:nvSpPr>
        <p:spPr>
          <a:xfrm>
            <a:off x="2187245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8" name="Shape 66"/>
          <p:cNvSpPr/>
          <p:nvPr/>
        </p:nvSpPr>
        <p:spPr>
          <a:xfrm>
            <a:off x="2424989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9" name="Shape 67"/>
          <p:cNvSpPr/>
          <p:nvPr/>
        </p:nvSpPr>
        <p:spPr>
          <a:xfrm>
            <a:off x="2662733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0" name="Shape 68"/>
          <p:cNvSpPr/>
          <p:nvPr/>
        </p:nvSpPr>
        <p:spPr>
          <a:xfrm>
            <a:off x="2900477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1" name="Shape 69"/>
          <p:cNvSpPr/>
          <p:nvPr/>
        </p:nvSpPr>
        <p:spPr>
          <a:xfrm>
            <a:off x="3138221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2" name="Shape 70"/>
          <p:cNvSpPr/>
          <p:nvPr/>
        </p:nvSpPr>
        <p:spPr>
          <a:xfrm>
            <a:off x="3375965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3" name="Shape 71"/>
          <p:cNvSpPr/>
          <p:nvPr/>
        </p:nvSpPr>
        <p:spPr>
          <a:xfrm>
            <a:off x="3613709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4" name="Shape 72"/>
          <p:cNvSpPr/>
          <p:nvPr/>
        </p:nvSpPr>
        <p:spPr>
          <a:xfrm>
            <a:off x="3851453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5" name="Shape 73"/>
          <p:cNvSpPr/>
          <p:nvPr/>
        </p:nvSpPr>
        <p:spPr>
          <a:xfrm>
            <a:off x="4089197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6" name="Shape 74"/>
          <p:cNvSpPr/>
          <p:nvPr/>
        </p:nvSpPr>
        <p:spPr>
          <a:xfrm>
            <a:off x="4326941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7" name="Shape 75"/>
          <p:cNvSpPr/>
          <p:nvPr/>
        </p:nvSpPr>
        <p:spPr>
          <a:xfrm>
            <a:off x="4564685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8" name="Shape 76"/>
          <p:cNvSpPr/>
          <p:nvPr/>
        </p:nvSpPr>
        <p:spPr>
          <a:xfrm>
            <a:off x="4802429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9" name="Shape 77"/>
          <p:cNvSpPr/>
          <p:nvPr/>
        </p:nvSpPr>
        <p:spPr>
          <a:xfrm>
            <a:off x="5040173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0" name="Shape 78"/>
          <p:cNvSpPr/>
          <p:nvPr/>
        </p:nvSpPr>
        <p:spPr>
          <a:xfrm>
            <a:off x="5277917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1" name="Shape 79"/>
          <p:cNvSpPr/>
          <p:nvPr/>
        </p:nvSpPr>
        <p:spPr>
          <a:xfrm>
            <a:off x="5515661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2" name="Shape 80"/>
          <p:cNvSpPr/>
          <p:nvPr/>
        </p:nvSpPr>
        <p:spPr>
          <a:xfrm>
            <a:off x="5753405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3" name="Shape 81"/>
          <p:cNvSpPr/>
          <p:nvPr/>
        </p:nvSpPr>
        <p:spPr>
          <a:xfrm>
            <a:off x="5991149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4" name="Shape 82"/>
          <p:cNvSpPr/>
          <p:nvPr/>
        </p:nvSpPr>
        <p:spPr>
          <a:xfrm>
            <a:off x="6228893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6583680" y="51572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전체의 ~5%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298180" y="1751076"/>
            <a:ext cx="339242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7" name="Shape 85"/>
          <p:cNvSpPr/>
          <p:nvPr/>
        </p:nvSpPr>
        <p:spPr>
          <a:xfrm>
            <a:off x="8247888" y="1700784"/>
            <a:ext cx="339242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449056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승격 조건</a:t>
            </a:r>
            <a:endParaRPr lang="en-US" sz="1100" dirty="0"/>
          </a:p>
        </p:txBody>
      </p:sp>
      <p:pic>
        <p:nvPicPr>
          <p:cNvPr id="8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56" y="2212848"/>
            <a:ext cx="219456" cy="137160"/>
          </a:xfrm>
          <a:prstGeom prst="rect">
            <a:avLst/>
          </a:prstGeom>
        </p:spPr>
      </p:pic>
      <p:sp>
        <p:nvSpPr>
          <p:cNvPr id="90" name="Text 87"/>
          <p:cNvSpPr txBox="1"/>
          <p:nvPr/>
        </p:nvSpPr>
        <p:spPr>
          <a:xfrm>
            <a:off x="8741664" y="2139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데스크의 판정이 갈릴 때</a:t>
            </a:r>
            <a:endParaRPr lang="en-US" sz="1000" dirty="0"/>
          </a:p>
        </p:txBody>
      </p:sp>
      <p:pic>
        <p:nvPicPr>
          <p:cNvPr id="9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56" y="2596896"/>
            <a:ext cx="219456" cy="137160"/>
          </a:xfrm>
          <a:prstGeom prst="rect">
            <a:avLst/>
          </a:prstGeom>
        </p:spPr>
      </p:pic>
      <p:sp>
        <p:nvSpPr>
          <p:cNvPr id="92" name="Text 88"/>
          <p:cNvSpPr txBox="1"/>
          <p:nvPr/>
        </p:nvSpPr>
        <p:spPr>
          <a:xfrm>
            <a:off x="8741664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검산이 원장 값과 불일치할 때</a:t>
            </a:r>
            <a:endParaRPr lang="en-US" sz="1000" dirty="0"/>
          </a:p>
        </p:txBody>
      </p:sp>
      <p:pic>
        <p:nvPicPr>
          <p:cNvPr id="9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980944"/>
            <a:ext cx="219456" cy="137160"/>
          </a:xfrm>
          <a:prstGeom prst="rect">
            <a:avLst/>
          </a:prstGeom>
        </p:spPr>
      </p:pic>
      <p:sp>
        <p:nvSpPr>
          <p:cNvPr id="94" name="Text 89"/>
          <p:cNvSpPr txBox="1"/>
          <p:nvPr/>
        </p:nvSpPr>
        <p:spPr>
          <a:xfrm>
            <a:off x="8741664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게이트에 두 번 연속 반려될 때</a:t>
            </a:r>
            <a:endParaRPr lang="en-US" sz="1000" dirty="0"/>
          </a:p>
        </p:txBody>
      </p:sp>
      <p:pic>
        <p:nvPicPr>
          <p:cNvPr id="9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3364992"/>
            <a:ext cx="219456" cy="137160"/>
          </a:xfrm>
          <a:prstGeom prst="rect">
            <a:avLst/>
          </a:prstGeom>
        </p:spPr>
      </p:pic>
      <p:sp>
        <p:nvSpPr>
          <p:cNvPr id="96" name="Text 90"/>
          <p:cNvSpPr txBox="1"/>
          <p:nvPr/>
        </p:nvSpPr>
        <p:spPr>
          <a:xfrm>
            <a:off x="8741664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판정이 '판정 불가' 로 나올 때</a:t>
            </a:r>
            <a:endParaRPr lang="en-US" sz="1000" dirty="0"/>
          </a:p>
        </p:txBody>
      </p:sp>
      <p:pic>
        <p:nvPicPr>
          <p:cNvPr id="9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3749040"/>
            <a:ext cx="219456" cy="137160"/>
          </a:xfrm>
          <a:prstGeom prst="rect">
            <a:avLst/>
          </a:prstGeom>
        </p:spPr>
      </p:pic>
      <p:sp>
        <p:nvSpPr>
          <p:cNvPr id="98" name="Text 91"/>
          <p:cNvSpPr txBox="1"/>
          <p:nvPr/>
        </p:nvSpPr>
        <p:spPr>
          <a:xfrm>
            <a:off x="8741664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초과로 T1·T2 가 미완일 때</a:t>
            </a:r>
            <a:endParaRPr lang="en-US" sz="1000" dirty="0"/>
          </a:p>
        </p:txBody>
      </p:sp>
      <p:sp>
        <p:nvSpPr>
          <p:cNvPr id="99" name="Shape 92"/>
          <p:cNvSpPr/>
          <p:nvPr/>
        </p:nvSpPr>
        <p:spPr>
          <a:xfrm>
            <a:off x="8298180" y="4402836"/>
            <a:ext cx="3392424" cy="19019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00" name="Shape 93"/>
          <p:cNvSpPr/>
          <p:nvPr/>
        </p:nvSpPr>
        <p:spPr>
          <a:xfrm>
            <a:off x="8247888" y="4352544"/>
            <a:ext cx="3392424" cy="190195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1" name="Text 94"/>
          <p:cNvSpPr txBox="1"/>
          <p:nvPr/>
        </p:nvSpPr>
        <p:spPr>
          <a:xfrm>
            <a:off x="8449056" y="4480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승격은 기록된다</a:t>
            </a:r>
            <a:endParaRPr lang="en-US" sz="1100" dirty="0"/>
          </a:p>
        </p:txBody>
      </p:sp>
      <p:sp>
        <p:nvSpPr>
          <p:cNvPr id="102" name="Text 95"/>
          <p:cNvSpPr txBox="1"/>
          <p:nvPr/>
        </p:nvSpPr>
        <p:spPr>
          <a:xfrm>
            <a:off x="8449056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인스턴스가 왜 올라갔는지가 봉투에 남는다. 승격이 잦은 지점이 곧 이 시스템이 아직 약한 곳이므로, 그 분포를 스코어카드에서 본다.</a:t>
            </a:r>
            <a:endParaRPr lang="en-US" sz="1000" dirty="0"/>
          </a:p>
        </p:txBody>
      </p:sp>
      <p:sp>
        <p:nvSpPr>
          <p:cNvPr id="103" name="Text 96"/>
          <p:cNvSpPr txBox="1"/>
          <p:nvPr/>
        </p:nvSpPr>
        <p:spPr>
          <a:xfrm>
            <a:off x="8449056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escalated_from: "T2"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escalation_reason: "desk_conflict"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4 · THE WALL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동적으로 바뀌어도 벽은 그대로다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매번 새로 생기더라도, 원장에 쓸 수 있는 도구를 받는 인스턴스는 없다.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4114800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4114800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  ·  측정층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31136"/>
            <a:ext cx="786384" cy="7863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82496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ki.sqlite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682496" y="2688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tables · 사실만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320040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API 5종의 값만 들어간다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" y="3584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24128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주체는 data-ops 단독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" y="396849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장중 스냅샷은 persist=False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" y="4352544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24128" y="4334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오염되면 되돌릴 수 없다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737360"/>
            <a:ext cx="548640" cy="54864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272284"/>
            <a:ext cx="548640" cy="54864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807208"/>
            <a:ext cx="548640" cy="548640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3342132"/>
            <a:ext cx="548640" cy="54864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877056"/>
            <a:ext cx="548640" cy="548640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6" y="4411980"/>
            <a:ext cx="548640" cy="54864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4718304" y="2944368"/>
            <a:ext cx="877824" cy="603504"/>
          </a:xfrm>
          <a:prstGeom prst="rect">
            <a:avLst/>
          </a:prstGeom>
          <a:solidFill>
            <a:srgbClr val="0D1018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4718304" y="2944368"/>
            <a:ext cx="877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5847588" y="1787652"/>
            <a:ext cx="5843016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8" name="Shape 19"/>
          <p:cNvSpPr/>
          <p:nvPr/>
        </p:nvSpPr>
        <p:spPr>
          <a:xfrm>
            <a:off x="5797296" y="1737360"/>
            <a:ext cx="5843016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6016752" y="188366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INTERPRETATION  ·  판단층 (동적)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016752" y="2231136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322576"/>
            <a:ext cx="128016" cy="12801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309360" y="22311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ledger.facts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8759952" y="2231136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1392" y="2322576"/>
            <a:ext cx="128016" cy="12801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052560" y="22311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ledger.candles</a:t>
            </a:r>
            <a:endParaRPr lang="en-US" sz="950" dirty="0"/>
          </a:p>
        </p:txBody>
      </p:sp>
      <p:sp>
        <p:nvSpPr>
          <p:cNvPr id="36" name="Shape 25"/>
          <p:cNvSpPr/>
          <p:nvPr/>
        </p:nvSpPr>
        <p:spPr>
          <a:xfrm>
            <a:off x="6016752" y="2615184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192" y="2706624"/>
            <a:ext cx="128016" cy="12801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309360" y="2615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ledger.factors</a:t>
            </a:r>
            <a:endParaRPr lang="en-US" sz="950" dirty="0"/>
          </a:p>
        </p:txBody>
      </p:sp>
      <p:sp>
        <p:nvSpPr>
          <p:cNvPr id="39" name="Shape 27"/>
          <p:cNvSpPr/>
          <p:nvPr/>
        </p:nvSpPr>
        <p:spPr>
          <a:xfrm>
            <a:off x="8759952" y="2615184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1392" y="2706624"/>
            <a:ext cx="128016" cy="12801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9052560" y="2615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ledger.calendar</a:t>
            </a:r>
            <a:endParaRPr lang="en-US" sz="950" dirty="0"/>
          </a:p>
        </p:txBody>
      </p:sp>
      <p:sp>
        <p:nvSpPr>
          <p:cNvPr id="42" name="Shape 29"/>
          <p:cNvSpPr/>
          <p:nvPr/>
        </p:nvSpPr>
        <p:spPr>
          <a:xfrm>
            <a:off x="6016752" y="2999232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8192" y="3090672"/>
            <a:ext cx="128016" cy="128016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6309360" y="29992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ledger.macro</a:t>
            </a:r>
            <a:endParaRPr lang="en-US" sz="950" dirty="0"/>
          </a:p>
        </p:txBody>
      </p:sp>
      <p:sp>
        <p:nvSpPr>
          <p:cNvPr id="45" name="Shape 31"/>
          <p:cNvSpPr/>
          <p:nvPr/>
        </p:nvSpPr>
        <p:spPr>
          <a:xfrm>
            <a:off x="8759952" y="2999232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1392" y="3090672"/>
            <a:ext cx="128016" cy="128016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9052560" y="29992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ledger.disclosure</a:t>
            </a:r>
            <a:endParaRPr lang="en-US" sz="950" dirty="0"/>
          </a:p>
        </p:txBody>
      </p:sp>
      <p:sp>
        <p:nvSpPr>
          <p:cNvPr id="48" name="Shape 33"/>
          <p:cNvSpPr/>
          <p:nvPr/>
        </p:nvSpPr>
        <p:spPr>
          <a:xfrm>
            <a:off x="6016752" y="3383280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08192" y="3474720"/>
            <a:ext cx="128016" cy="128016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6309360" y="3383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ledger.quality</a:t>
            </a:r>
            <a:endParaRPr lang="en-US" sz="950" dirty="0"/>
          </a:p>
        </p:txBody>
      </p:sp>
      <p:sp>
        <p:nvSpPr>
          <p:cNvPr id="51" name="Shape 35"/>
          <p:cNvSpPr/>
          <p:nvPr/>
        </p:nvSpPr>
        <p:spPr>
          <a:xfrm>
            <a:off x="8759952" y="3383280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1392" y="3474720"/>
            <a:ext cx="128016" cy="128016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9052560" y="3383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ledger.papers</a:t>
            </a:r>
            <a:endParaRPr lang="en-US" sz="950" dirty="0"/>
          </a:p>
        </p:txBody>
      </p:sp>
      <p:sp>
        <p:nvSpPr>
          <p:cNvPr id="54" name="Text 37"/>
          <p:cNvSpPr txBox="1"/>
          <p:nvPr/>
        </p:nvSpPr>
        <p:spPr>
          <a:xfrm>
            <a:off x="6016752" y="395020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· catchup · fundamentals · KIS 주문  →  도구가 존재하지 않는다</a:t>
            </a:r>
            <a:endParaRPr lang="en-US" sz="950" dirty="0"/>
          </a:p>
        </p:txBody>
      </p:sp>
      <p:sp>
        <p:nvSpPr>
          <p:cNvPr id="55" name="Text 38"/>
          <p:cNvSpPr txBox="1"/>
          <p:nvPr/>
        </p:nvSpPr>
        <p:spPr>
          <a:xfrm>
            <a:off x="6016752" y="424281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도구 ledger.papers 가 추가된다 — 논문 원장을 읽기만 한다. 채택·은퇴를 쓰는 것은 재현 파이프라인(배치)이지 에이전트가 아니다.</a:t>
            </a:r>
            <a:endParaRPr lang="en-US" sz="1000" dirty="0"/>
          </a:p>
        </p:txBody>
      </p:sp>
      <p:sp>
        <p:nvSpPr>
          <p:cNvPr id="56" name="Shape 39"/>
          <p:cNvSpPr/>
          <p:nvPr/>
        </p:nvSpPr>
        <p:spPr>
          <a:xfrm>
            <a:off x="598932" y="5189220"/>
            <a:ext cx="3602736" cy="10789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7" name="Shape 40"/>
          <p:cNvSpPr/>
          <p:nvPr/>
        </p:nvSpPr>
        <p:spPr>
          <a:xfrm>
            <a:off x="548640" y="5138928"/>
            <a:ext cx="3602736" cy="107899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8" name="Text 41"/>
          <p:cNvSpPr txBox="1"/>
          <p:nvPr/>
        </p:nvSpPr>
        <p:spPr>
          <a:xfrm>
            <a:off x="731520" y="5266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벽은 구조다</a:t>
            </a:r>
            <a:endParaRPr lang="en-US" sz="1200" dirty="0"/>
          </a:p>
        </p:txBody>
      </p:sp>
      <p:sp>
        <p:nvSpPr>
          <p:cNvPr id="59" name="Text 42"/>
          <p:cNvSpPr txBox="1"/>
          <p:nvPr/>
        </p:nvSpPr>
        <p:spPr>
          <a:xfrm>
            <a:off x="731520" y="5541264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"쓰지 마라"라고 적는 대신, 쓸 수 있는 도구를 만들지 않는다.</a:t>
            </a:r>
            <a:endParaRPr lang="en-US" sz="1000" dirty="0"/>
          </a:p>
        </p:txBody>
      </p:sp>
      <p:sp>
        <p:nvSpPr>
          <p:cNvPr id="60" name="Shape 43"/>
          <p:cNvSpPr/>
          <p:nvPr/>
        </p:nvSpPr>
        <p:spPr>
          <a:xfrm>
            <a:off x="4357116" y="5189220"/>
            <a:ext cx="3602736" cy="10789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1" name="Shape 44"/>
          <p:cNvSpPr/>
          <p:nvPr/>
        </p:nvSpPr>
        <p:spPr>
          <a:xfrm>
            <a:off x="4306824" y="5138928"/>
            <a:ext cx="3602736" cy="107899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2" name="Text 45"/>
          <p:cNvSpPr txBox="1"/>
          <p:nvPr/>
        </p:nvSpPr>
        <p:spPr>
          <a:xfrm>
            <a:off x="4489704" y="5266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역류가 없다</a:t>
            </a:r>
            <a:endParaRPr lang="en-US" sz="1200" dirty="0"/>
          </a:p>
        </p:txBody>
      </p:sp>
      <p:sp>
        <p:nvSpPr>
          <p:cNvPr id="63" name="Text 46"/>
          <p:cNvSpPr txBox="1"/>
          <p:nvPr/>
        </p:nvSpPr>
        <p:spPr>
          <a:xfrm>
            <a:off x="4489704" y="5541264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해석이 원장으로 되돌아가는 경로가 스키마에도 도구에도 없다.</a:t>
            </a:r>
            <a:endParaRPr lang="en-US" sz="1000" dirty="0"/>
          </a:p>
        </p:txBody>
      </p:sp>
      <p:sp>
        <p:nvSpPr>
          <p:cNvPr id="64" name="Shape 47"/>
          <p:cNvSpPr/>
          <p:nvPr/>
        </p:nvSpPr>
        <p:spPr>
          <a:xfrm>
            <a:off x="8115300" y="5189220"/>
            <a:ext cx="3602736" cy="10789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5" name="Shape 48"/>
          <p:cNvSpPr/>
          <p:nvPr/>
        </p:nvSpPr>
        <p:spPr>
          <a:xfrm>
            <a:off x="8065008" y="5138928"/>
            <a:ext cx="3602736" cy="107899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6" name="Text 49"/>
          <p:cNvSpPr txBox="1"/>
          <p:nvPr/>
        </p:nvSpPr>
        <p:spPr>
          <a:xfrm>
            <a:off x="8247888" y="5266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인스턴스가 늘어도 같다</a:t>
            </a:r>
            <a:endParaRPr lang="en-US" sz="1200" dirty="0"/>
          </a:p>
        </p:txBody>
      </p:sp>
      <p:sp>
        <p:nvSpPr>
          <p:cNvPr id="67" name="Text 50"/>
          <p:cNvSpPr txBox="1"/>
          <p:nvPr/>
        </p:nvSpPr>
        <p:spPr>
          <a:xfrm>
            <a:off x="8247888" y="5541264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1개든 400개든 전부 같은 읽기 도구 집합만 받는다.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4 · PERMISSIONS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매트릭스 — 누가 무엇을 할 수 있는가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권한은 프롬프트가 아니라 도구 노출과 훅으로 강제한다. 아래는 실제로 부여할 도구 목록이다.</a:t>
            </a:r>
            <a:endParaRPr lang="en-US" sz="1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2395728"/>
                <a:gridCol w="1170432"/>
                <a:gridCol w="1170432"/>
                <a:gridCol w="1691640"/>
                <a:gridCol w="1170432"/>
                <a:gridCol w="1481328"/>
                <a:gridCol w="1060704"/>
              </a:tblGrid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에이전트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읽기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쓰기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API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KIS 주문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회의자료 발행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equity-analyst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원문만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credit-analyst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원문만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governance-analyst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원문만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capital-structure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quant-researcher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논문 4곳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macro-strategist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return-analyst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execution-trader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liquidity-analyst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market-risk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concentration-risk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model-risk ★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compliance-officer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internal-audit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disclosure-control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배포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ingest-ops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5종 전부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data-quality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factor-librarian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research-editor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ic-chair</a:t>
                      </a:r>
                      <a:endParaRPr lang="en-US" sz="7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초안만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50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8932" y="5737860"/>
            <a:ext cx="3602736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687568"/>
            <a:ext cx="3602736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5843016"/>
            <a:ext cx="128016" cy="12801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50976" y="5769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는 ingest-ops 뿐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604418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데스크는 네트워크를 쓰지 않는다. 실시간 호출을 허용하면 데스크마다 다른 시각의 값을 보게 되고 기준일이 깨진다.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4357116" y="5737860"/>
            <a:ext cx="3602736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" name="Shape 9"/>
          <p:cNvSpPr/>
          <p:nvPr/>
        </p:nvSpPr>
        <p:spPr>
          <a:xfrm>
            <a:off x="4306824" y="5687568"/>
            <a:ext cx="3602736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9704" y="5843016"/>
            <a:ext cx="12801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09160" y="5769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쓰기는 한 칸뿐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489704" y="604418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ingest-ops 만 ●. 나머지 열아홉은 MCP 읽기 도구만 받는다. 역할이 20개로 늘어도 이 칸은 하나다.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8115300" y="5737860"/>
            <a:ext cx="3602736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7" name="Shape 14"/>
          <p:cNvSpPr/>
          <p:nvPr/>
        </p:nvSpPr>
        <p:spPr>
          <a:xfrm>
            <a:off x="8065008" y="5687568"/>
            <a:ext cx="3602736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47888" y="5843016"/>
            <a:ext cx="12801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67344" y="5769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 는 DART 원문 조회뿐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247888" y="604418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전부 원장에서 읽는다. 밖으로 나가는 것은 접수번호로 지정된 공시 문서 한 건을 열 때뿐이다 — 검색이 아니다.</a:t>
            </a:r>
            <a:endParaRPr lang="en-US" sz="8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4 · ENVELOPE v2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봉투에 재현 결과가 함께 실린다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키만 다는 것으로는 부족하다. 그 논문이 우리 표본에서 어떻게 나왔는지가 같이 가야 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6126480" cy="38770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6126480" cy="3877056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47088"/>
            <a:ext cx="5715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"claim":        "처분 소요일수 12.4 영업일",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"value":        12.4,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"unit":         "business_days",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"asof":         "2026-09-11",  "stale_days": 2,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"source_grade": "해석",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"sources":      ["KRX/일별매매정보"],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"method": {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"paper":       "amihud2002",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"paper_state": "adopted",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"replication": {                    // ← v2 신설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"verdict":  "재현됨",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"at":       "2026-02-11",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"universe": "KOSDAQ", "n": 1418,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"observed": { "spread_bp": 41, "t": 2.31 }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"assumes": { "participation": 0.15 }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"limits": ["논문 표본은 미국 상장주 — 코스닥 외삽 근거 아님"],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"desk": "execution-trader",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"instance": "exec-20260911-000660-a91f",   // ← v2 신설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"tier": "T2",  "escalated_from": null,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"reviewed_by": ["risk", "compliance"]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926580" y="1769364"/>
            <a:ext cx="4764024" cy="8778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6876288" y="1719072"/>
            <a:ext cx="4764024" cy="87782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77456" y="1810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181965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논문이 우리 표본에서 어떻게 나왔는가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20665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verdict 가 '재현됨'이 아니면 그 팩터는 리포트에서 경고와 함께 나가거나 아예 빠진다.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26580" y="2756916"/>
            <a:ext cx="4764024" cy="8778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76288" y="2706624"/>
            <a:ext cx="4764024" cy="87782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77456" y="27980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paper_state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280720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논문이 아직 살아있는가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7077456" y="3054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retired 논문을 인용한 봉투는 게이트에서 즉시 반려된다.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26580" y="3744468"/>
            <a:ext cx="4764024" cy="8778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9" name="Shape 17"/>
          <p:cNvSpPr/>
          <p:nvPr/>
        </p:nvSpPr>
        <p:spPr>
          <a:xfrm>
            <a:off x="6876288" y="3694176"/>
            <a:ext cx="4764024" cy="87782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7456" y="3785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7947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인스턴스가 만들었는가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40416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ID 로 같은 실행을 다시 띄워 결과를 대조할 수 있다 — 재생 가능성의 열쇠.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26580" y="4732020"/>
            <a:ext cx="4764024" cy="8778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76288" y="4681728"/>
            <a:ext cx="4764024" cy="87782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77456" y="4773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· escalated_from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478231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급이 처리했고 왜 올라왔는가</a:t>
            </a:r>
            <a:endParaRPr lang="en-US" sz="880" dirty="0"/>
          </a:p>
        </p:txBody>
      </p:sp>
      <p:sp>
        <p:nvSpPr>
          <p:cNvPr id="27" name="Text 25"/>
          <p:cNvSpPr txBox="1"/>
          <p:nvPr/>
        </p:nvSpPr>
        <p:spPr>
          <a:xfrm>
            <a:off x="7077456" y="5029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승격이 잦은 지점이 이 시스템이 약한 곳이다. 스코어카드가 이 분포를 본다.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26580" y="5737860"/>
            <a:ext cx="4764024" cy="5486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9" name="Shape 27"/>
          <p:cNvSpPr/>
          <p:nvPr/>
        </p:nvSpPr>
        <p:spPr>
          <a:xfrm>
            <a:off x="6876288" y="5687568"/>
            <a:ext cx="4764024" cy="54864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77456" y="56875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'해석' 은 그대로다 — 재현까지 통과해도 에이전트 문장은 1차 자료가 되지 않는다.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4 · GATES ×7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전 일곱 관문 — 하나라도 걸리면 멈춘다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개는 지난 방안 그대로이고, ③ 재현 관문이 새로 들어간다.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65376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261872" y="20665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어휘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432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점수·등급·목표주가·매수/매도 어휘가 있는가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3232" y="3145536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" y="3145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문장 삭제 후 반려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3396996" y="1751076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4" name="Shape 11"/>
          <p:cNvSpPr/>
          <p:nvPr/>
        </p:nvSpPr>
        <p:spPr>
          <a:xfrm>
            <a:off x="3346704" y="1700784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65376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059936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2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059936" y="20665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등급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511296" y="2432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주장에 grade 가 있는가 · '해석'이 승격되지 않았는가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511296" y="3145536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602736" y="3145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등급 없는 주장 차단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6195060" y="1751076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2" name="Shape 18"/>
          <p:cNvSpPr/>
          <p:nvPr/>
        </p:nvSpPr>
        <p:spPr>
          <a:xfrm>
            <a:off x="6144768" y="1700784"/>
            <a:ext cx="2615184" cy="1883664"/>
          </a:xfrm>
          <a:prstGeom prst="rect">
            <a:avLst/>
          </a:prstGeom>
          <a:solidFill>
            <a:srgbClr val="132318"/>
          </a:solidFill>
          <a:ln w="15875">
            <a:solidFill>
              <a:srgbClr val="3DFA7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65376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858000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3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20665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309360" y="2432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논문이 우리 표본에서 재현됐는가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309360" y="3145536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400800" y="3145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미재현 인용은 즉시 반려</a:t>
            </a:r>
            <a:endParaRPr lang="en-US" sz="88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1847088"/>
            <a:ext cx="201168" cy="20116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993124" y="1751076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1" name="Shape 25"/>
          <p:cNvSpPr/>
          <p:nvPr/>
        </p:nvSpPr>
        <p:spPr>
          <a:xfrm>
            <a:off x="8942832" y="1700784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1865376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656064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4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9656064" y="20665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실재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107424" y="2432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state=adopted 인가 · limits 가 비어 있지 않은가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9107424" y="3145536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9198864" y="3145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은퇴본 인용 시 반려</a:t>
            </a:r>
            <a:endParaRPr lang="en-US" sz="880" dirty="0"/>
          </a:p>
        </p:txBody>
      </p:sp>
      <p:sp>
        <p:nvSpPr>
          <p:cNvPr id="38" name="Shape 31"/>
          <p:cNvSpPr/>
          <p:nvPr/>
        </p:nvSpPr>
        <p:spPr>
          <a:xfrm>
            <a:off x="598932" y="3799332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9" name="Shape 32"/>
          <p:cNvSpPr/>
          <p:nvPr/>
        </p:nvSpPr>
        <p:spPr>
          <a:xfrm>
            <a:off x="548640" y="3749040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913632"/>
            <a:ext cx="457200" cy="4572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261872" y="3931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5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261872" y="41148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신선도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13232" y="4480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asof·stale_days 가 임계(3영업일)를 넘지 않는가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713232" y="5193792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804672" y="5193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값 대신 '데이터 없음'</a:t>
            </a:r>
            <a:endParaRPr lang="en-US" sz="880" dirty="0"/>
          </a:p>
        </p:txBody>
      </p:sp>
      <p:sp>
        <p:nvSpPr>
          <p:cNvPr id="46" name="Shape 38"/>
          <p:cNvSpPr/>
          <p:nvPr/>
        </p:nvSpPr>
        <p:spPr>
          <a:xfrm>
            <a:off x="3396996" y="3799332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7" name="Shape 39"/>
          <p:cNvSpPr/>
          <p:nvPr/>
        </p:nvSpPr>
        <p:spPr>
          <a:xfrm>
            <a:off x="3346704" y="3749040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296" y="3913632"/>
            <a:ext cx="457200" cy="4572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4059936" y="3931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6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4059936" y="41148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검사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3511296" y="4480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키·URL·포트폴리오사 실명이 남았는가 (scrub())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3511296" y="5193792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3602736" y="5193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전체 발행 중단</a:t>
            </a:r>
            <a:endParaRPr lang="en-US" sz="880" dirty="0"/>
          </a:p>
        </p:txBody>
      </p:sp>
      <p:sp>
        <p:nvSpPr>
          <p:cNvPr id="54" name="Shape 45"/>
          <p:cNvSpPr/>
          <p:nvPr/>
        </p:nvSpPr>
        <p:spPr>
          <a:xfrm>
            <a:off x="6195060" y="3799332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5" name="Shape 46"/>
          <p:cNvSpPr/>
          <p:nvPr/>
        </p:nvSpPr>
        <p:spPr>
          <a:xfrm>
            <a:off x="6144768" y="3749040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913632"/>
            <a:ext cx="457200" cy="457200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6858000" y="3931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7</a:t>
            </a:r>
            <a:endParaRPr lang="en-US" sz="900" dirty="0"/>
          </a:p>
        </p:txBody>
      </p:sp>
      <p:sp>
        <p:nvSpPr>
          <p:cNvPr id="58" name="Text 48"/>
          <p:cNvSpPr txBox="1"/>
          <p:nvPr/>
        </p:nvSpPr>
        <p:spPr>
          <a:xfrm>
            <a:off x="6858000" y="41148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4-eyes</a:t>
            </a:r>
            <a:endParaRPr lang="en-US" sz="1400" dirty="0"/>
          </a:p>
        </p:txBody>
      </p:sp>
      <p:sp>
        <p:nvSpPr>
          <p:cNvPr id="59" name="Text 49"/>
          <p:cNvSpPr txBox="1"/>
          <p:nvPr/>
        </p:nvSpPr>
        <p:spPr>
          <a:xfrm>
            <a:off x="6309360" y="4480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리스크와 준법감시 양쪽이 승인했는가</a:t>
            </a:r>
            <a:endParaRPr lang="en-US" sz="950" dirty="0"/>
          </a:p>
        </p:txBody>
      </p:sp>
      <p:sp>
        <p:nvSpPr>
          <p:cNvPr id="60" name="Shape 50"/>
          <p:cNvSpPr/>
          <p:nvPr/>
        </p:nvSpPr>
        <p:spPr>
          <a:xfrm>
            <a:off x="6309360" y="5193792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61" name="Text 51"/>
          <p:cNvSpPr txBox="1"/>
          <p:nvPr/>
        </p:nvSpPr>
        <p:spPr>
          <a:xfrm>
            <a:off x="6400800" y="5193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해당 절 제외</a:t>
            </a:r>
            <a:endParaRPr lang="en-US" sz="880" dirty="0"/>
          </a:p>
        </p:txBody>
      </p:sp>
      <p:sp>
        <p:nvSpPr>
          <p:cNvPr id="62" name="Shape 52"/>
          <p:cNvSpPr/>
          <p:nvPr/>
        </p:nvSpPr>
        <p:spPr>
          <a:xfrm>
            <a:off x="8993124" y="3799332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3" name="Shape 53"/>
          <p:cNvSpPr/>
          <p:nvPr/>
        </p:nvSpPr>
        <p:spPr>
          <a:xfrm>
            <a:off x="8942832" y="3749040"/>
            <a:ext cx="2615184" cy="188366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9107424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아니면 반려다</a:t>
            </a:r>
            <a:endParaRPr lang="en-US" sz="1300" dirty="0"/>
          </a:p>
        </p:txBody>
      </p:sp>
      <p:sp>
        <p:nvSpPr>
          <p:cNvPr id="65" name="Text 55"/>
          <p:cNvSpPr txBox="1"/>
          <p:nvPr/>
        </p:nvSpPr>
        <p:spPr>
          <a:xfrm>
            <a:off x="9107424" y="4206240"/>
            <a:ext cx="2304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"대체로 지켜졌다"는 판정이 없다. 반려된 절은 회의자료에서 빈칸이 아니라 '반려됨 — 사유' 로 보인다. 조용히 통과시키는 것이 가장 위험하다.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기존 selftest 128개는 그대로 둔다. 게이트는 코드가 아니라 '에이전트가 쓴 문장'을 검사하는 층으로 그 위에 얹는다.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4 · SCORECARD &amp; REPLAY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데스크를 계측한다 — 다만 자동으로 고치지는 않는다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얼마나 반려됐고 무엇이 재현에 실패했는지를 매주 본다. 프롬프트를 고치는 것은 사람이다.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5760720" cy="2743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5760720" cy="27432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데스크 스코어카드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157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데스크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게이트 통과율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157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반려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equity-analyst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45613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64485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4" name="Shape 12"/>
          <p:cNvSpPr/>
          <p:nvPr/>
        </p:nvSpPr>
        <p:spPr>
          <a:xfrm>
            <a:off x="3083357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2229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6" name="Shape 14"/>
          <p:cNvSpPr/>
          <p:nvPr/>
        </p:nvSpPr>
        <p:spPr>
          <a:xfrm>
            <a:off x="3321101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9973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8" name="Shape 16"/>
          <p:cNvSpPr/>
          <p:nvPr/>
        </p:nvSpPr>
        <p:spPr>
          <a:xfrm>
            <a:off x="3558845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9" name="Shape 17"/>
          <p:cNvSpPr/>
          <p:nvPr/>
        </p:nvSpPr>
        <p:spPr>
          <a:xfrm>
            <a:off x="3677717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0" name="Shape 18"/>
          <p:cNvSpPr/>
          <p:nvPr/>
        </p:nvSpPr>
        <p:spPr>
          <a:xfrm>
            <a:off x="3796589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1" name="Shape 19"/>
          <p:cNvSpPr/>
          <p:nvPr/>
        </p:nvSpPr>
        <p:spPr>
          <a:xfrm>
            <a:off x="3915461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2" name="Shape 20"/>
          <p:cNvSpPr/>
          <p:nvPr/>
        </p:nvSpPr>
        <p:spPr>
          <a:xfrm>
            <a:off x="4034333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3" name="Shape 21"/>
          <p:cNvSpPr/>
          <p:nvPr/>
        </p:nvSpPr>
        <p:spPr>
          <a:xfrm>
            <a:off x="4153205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4" name="Shape 22"/>
          <p:cNvSpPr/>
          <p:nvPr/>
        </p:nvSpPr>
        <p:spPr>
          <a:xfrm>
            <a:off x="4272077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5" name="Shape 23"/>
          <p:cNvSpPr/>
          <p:nvPr/>
        </p:nvSpPr>
        <p:spPr>
          <a:xfrm>
            <a:off x="4390949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6" name="Shape 24"/>
          <p:cNvSpPr/>
          <p:nvPr/>
        </p:nvSpPr>
        <p:spPr>
          <a:xfrm>
            <a:off x="4509821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7" name="Shape 25"/>
          <p:cNvSpPr/>
          <p:nvPr/>
        </p:nvSpPr>
        <p:spPr>
          <a:xfrm>
            <a:off x="4628693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8" name="Shape 26"/>
          <p:cNvSpPr/>
          <p:nvPr/>
        </p:nvSpPr>
        <p:spPr>
          <a:xfrm>
            <a:off x="4747565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9" name="Shape 27"/>
          <p:cNvSpPr/>
          <p:nvPr/>
        </p:nvSpPr>
        <p:spPr>
          <a:xfrm>
            <a:off x="4866437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0" name="Shape 28"/>
          <p:cNvSpPr/>
          <p:nvPr/>
        </p:nvSpPr>
        <p:spPr>
          <a:xfrm>
            <a:off x="4985309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1" name="Shape 29"/>
          <p:cNvSpPr/>
          <p:nvPr/>
        </p:nvSpPr>
        <p:spPr>
          <a:xfrm>
            <a:off x="5104181" y="2478024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94960" y="2395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6%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68096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quant-researcher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45613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5" name="Shape 33"/>
          <p:cNvSpPr/>
          <p:nvPr/>
        </p:nvSpPr>
        <p:spPr>
          <a:xfrm>
            <a:off x="2964485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6" name="Shape 34"/>
          <p:cNvSpPr/>
          <p:nvPr/>
        </p:nvSpPr>
        <p:spPr>
          <a:xfrm>
            <a:off x="3083357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2229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8" name="Shape 36"/>
          <p:cNvSpPr/>
          <p:nvPr/>
        </p:nvSpPr>
        <p:spPr>
          <a:xfrm>
            <a:off x="3321101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9" name="Shape 37"/>
          <p:cNvSpPr/>
          <p:nvPr/>
        </p:nvSpPr>
        <p:spPr>
          <a:xfrm>
            <a:off x="3439973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0" name="Shape 38"/>
          <p:cNvSpPr/>
          <p:nvPr/>
        </p:nvSpPr>
        <p:spPr>
          <a:xfrm>
            <a:off x="3558845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1" name="Shape 39"/>
          <p:cNvSpPr/>
          <p:nvPr/>
        </p:nvSpPr>
        <p:spPr>
          <a:xfrm>
            <a:off x="3677717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2" name="Shape 40"/>
          <p:cNvSpPr/>
          <p:nvPr/>
        </p:nvSpPr>
        <p:spPr>
          <a:xfrm>
            <a:off x="3796589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3" name="Shape 41"/>
          <p:cNvSpPr/>
          <p:nvPr/>
        </p:nvSpPr>
        <p:spPr>
          <a:xfrm>
            <a:off x="3915461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4" name="Shape 42"/>
          <p:cNvSpPr/>
          <p:nvPr/>
        </p:nvSpPr>
        <p:spPr>
          <a:xfrm>
            <a:off x="4034333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5" name="Shape 43"/>
          <p:cNvSpPr/>
          <p:nvPr/>
        </p:nvSpPr>
        <p:spPr>
          <a:xfrm>
            <a:off x="4153205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6" name="Shape 44"/>
          <p:cNvSpPr/>
          <p:nvPr/>
        </p:nvSpPr>
        <p:spPr>
          <a:xfrm>
            <a:off x="4272077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7" name="Shape 45"/>
          <p:cNvSpPr/>
          <p:nvPr/>
        </p:nvSpPr>
        <p:spPr>
          <a:xfrm>
            <a:off x="4390949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8" name="Shape 46"/>
          <p:cNvSpPr/>
          <p:nvPr/>
        </p:nvSpPr>
        <p:spPr>
          <a:xfrm>
            <a:off x="4509821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9" name="Shape 47"/>
          <p:cNvSpPr/>
          <p:nvPr/>
        </p:nvSpPr>
        <p:spPr>
          <a:xfrm>
            <a:off x="4628693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0" name="Shape 48"/>
          <p:cNvSpPr/>
          <p:nvPr/>
        </p:nvSpPr>
        <p:spPr>
          <a:xfrm>
            <a:off x="4747565" y="2825496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1" name="Shape 49"/>
          <p:cNvSpPr/>
          <p:nvPr/>
        </p:nvSpPr>
        <p:spPr>
          <a:xfrm>
            <a:off x="4866437" y="2825496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2" name="Shape 50"/>
          <p:cNvSpPr/>
          <p:nvPr/>
        </p:nvSpPr>
        <p:spPr>
          <a:xfrm>
            <a:off x="4985309" y="2825496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3" name="Shape 51"/>
          <p:cNvSpPr/>
          <p:nvPr/>
        </p:nvSpPr>
        <p:spPr>
          <a:xfrm>
            <a:off x="5104181" y="2825496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394960" y="2743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19%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768096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macro-strategist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845613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57" name="Shape 55"/>
          <p:cNvSpPr/>
          <p:nvPr/>
        </p:nvSpPr>
        <p:spPr>
          <a:xfrm>
            <a:off x="2964485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58" name="Shape 56"/>
          <p:cNvSpPr/>
          <p:nvPr/>
        </p:nvSpPr>
        <p:spPr>
          <a:xfrm>
            <a:off x="3083357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59" name="Shape 57"/>
          <p:cNvSpPr/>
          <p:nvPr/>
        </p:nvSpPr>
        <p:spPr>
          <a:xfrm>
            <a:off x="3202229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0" name="Shape 58"/>
          <p:cNvSpPr/>
          <p:nvPr/>
        </p:nvSpPr>
        <p:spPr>
          <a:xfrm>
            <a:off x="3321101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1" name="Shape 59"/>
          <p:cNvSpPr/>
          <p:nvPr/>
        </p:nvSpPr>
        <p:spPr>
          <a:xfrm>
            <a:off x="3439973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2" name="Shape 60"/>
          <p:cNvSpPr/>
          <p:nvPr/>
        </p:nvSpPr>
        <p:spPr>
          <a:xfrm>
            <a:off x="3558845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3" name="Shape 61"/>
          <p:cNvSpPr/>
          <p:nvPr/>
        </p:nvSpPr>
        <p:spPr>
          <a:xfrm>
            <a:off x="3677717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4" name="Shape 62"/>
          <p:cNvSpPr/>
          <p:nvPr/>
        </p:nvSpPr>
        <p:spPr>
          <a:xfrm>
            <a:off x="3796589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5" name="Shape 63"/>
          <p:cNvSpPr/>
          <p:nvPr/>
        </p:nvSpPr>
        <p:spPr>
          <a:xfrm>
            <a:off x="3915461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6" name="Shape 64"/>
          <p:cNvSpPr/>
          <p:nvPr/>
        </p:nvSpPr>
        <p:spPr>
          <a:xfrm>
            <a:off x="4034333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7" name="Shape 65"/>
          <p:cNvSpPr/>
          <p:nvPr/>
        </p:nvSpPr>
        <p:spPr>
          <a:xfrm>
            <a:off x="4153205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8" name="Shape 66"/>
          <p:cNvSpPr/>
          <p:nvPr/>
        </p:nvSpPr>
        <p:spPr>
          <a:xfrm>
            <a:off x="4272077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9" name="Shape 67"/>
          <p:cNvSpPr/>
          <p:nvPr/>
        </p:nvSpPr>
        <p:spPr>
          <a:xfrm>
            <a:off x="4390949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0" name="Shape 68"/>
          <p:cNvSpPr/>
          <p:nvPr/>
        </p:nvSpPr>
        <p:spPr>
          <a:xfrm>
            <a:off x="4509821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1" name="Shape 69"/>
          <p:cNvSpPr/>
          <p:nvPr/>
        </p:nvSpPr>
        <p:spPr>
          <a:xfrm>
            <a:off x="4628693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2" name="Shape 70"/>
          <p:cNvSpPr/>
          <p:nvPr/>
        </p:nvSpPr>
        <p:spPr>
          <a:xfrm>
            <a:off x="4747565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3" name="Shape 71"/>
          <p:cNvSpPr/>
          <p:nvPr/>
        </p:nvSpPr>
        <p:spPr>
          <a:xfrm>
            <a:off x="4866437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4" name="Shape 72"/>
          <p:cNvSpPr/>
          <p:nvPr/>
        </p:nvSpPr>
        <p:spPr>
          <a:xfrm>
            <a:off x="4985309" y="3172968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5" name="Shape 73"/>
          <p:cNvSpPr/>
          <p:nvPr/>
        </p:nvSpPr>
        <p:spPr>
          <a:xfrm>
            <a:off x="5104181" y="3172968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394960" y="3090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68096" y="3438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execution-trader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845613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9" name="Shape 77"/>
          <p:cNvSpPr/>
          <p:nvPr/>
        </p:nvSpPr>
        <p:spPr>
          <a:xfrm>
            <a:off x="2964485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0" name="Shape 78"/>
          <p:cNvSpPr/>
          <p:nvPr/>
        </p:nvSpPr>
        <p:spPr>
          <a:xfrm>
            <a:off x="3083357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1" name="Shape 79"/>
          <p:cNvSpPr/>
          <p:nvPr/>
        </p:nvSpPr>
        <p:spPr>
          <a:xfrm>
            <a:off x="3202229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2" name="Shape 80"/>
          <p:cNvSpPr/>
          <p:nvPr/>
        </p:nvSpPr>
        <p:spPr>
          <a:xfrm>
            <a:off x="3321101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3" name="Shape 81"/>
          <p:cNvSpPr/>
          <p:nvPr/>
        </p:nvSpPr>
        <p:spPr>
          <a:xfrm>
            <a:off x="3439973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4" name="Shape 82"/>
          <p:cNvSpPr/>
          <p:nvPr/>
        </p:nvSpPr>
        <p:spPr>
          <a:xfrm>
            <a:off x="3558845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5" name="Shape 83"/>
          <p:cNvSpPr/>
          <p:nvPr/>
        </p:nvSpPr>
        <p:spPr>
          <a:xfrm>
            <a:off x="3677717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6" name="Shape 84"/>
          <p:cNvSpPr/>
          <p:nvPr/>
        </p:nvSpPr>
        <p:spPr>
          <a:xfrm>
            <a:off x="3796589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7" name="Shape 85"/>
          <p:cNvSpPr/>
          <p:nvPr/>
        </p:nvSpPr>
        <p:spPr>
          <a:xfrm>
            <a:off x="3915461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8" name="Shape 86"/>
          <p:cNvSpPr/>
          <p:nvPr/>
        </p:nvSpPr>
        <p:spPr>
          <a:xfrm>
            <a:off x="4034333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9" name="Shape 87"/>
          <p:cNvSpPr/>
          <p:nvPr/>
        </p:nvSpPr>
        <p:spPr>
          <a:xfrm>
            <a:off x="4153205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0" name="Shape 88"/>
          <p:cNvSpPr/>
          <p:nvPr/>
        </p:nvSpPr>
        <p:spPr>
          <a:xfrm>
            <a:off x="4272077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90949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2" name="Shape 90"/>
          <p:cNvSpPr/>
          <p:nvPr/>
        </p:nvSpPr>
        <p:spPr>
          <a:xfrm>
            <a:off x="4509821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3" name="Shape 91"/>
          <p:cNvSpPr/>
          <p:nvPr/>
        </p:nvSpPr>
        <p:spPr>
          <a:xfrm>
            <a:off x="4628693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4" name="Shape 92"/>
          <p:cNvSpPr/>
          <p:nvPr/>
        </p:nvSpPr>
        <p:spPr>
          <a:xfrm>
            <a:off x="4747565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66437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6" name="Shape 94"/>
          <p:cNvSpPr/>
          <p:nvPr/>
        </p:nvSpPr>
        <p:spPr>
          <a:xfrm>
            <a:off x="4985309" y="3520440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7" name="Shape 95"/>
          <p:cNvSpPr/>
          <p:nvPr/>
        </p:nvSpPr>
        <p:spPr>
          <a:xfrm>
            <a:off x="5104181" y="3520440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5394960" y="34381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950" dirty="0"/>
          </a:p>
        </p:txBody>
      </p:sp>
      <p:sp>
        <p:nvSpPr>
          <p:cNvPr id="99" name="Text 97"/>
          <p:cNvSpPr txBox="1"/>
          <p:nvPr/>
        </p:nvSpPr>
        <p:spPr>
          <a:xfrm>
            <a:off x="768096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risk-officer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2845613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1" name="Shape 99"/>
          <p:cNvSpPr/>
          <p:nvPr/>
        </p:nvSpPr>
        <p:spPr>
          <a:xfrm>
            <a:off x="2964485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083357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202229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321101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439973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558845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3677717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3796589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915461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034333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153205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272077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4390949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09821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628693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747565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4866437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985309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104181" y="3867912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5394960" y="37856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3%</a:t>
            </a:r>
            <a:endParaRPr lang="en-US" sz="950" dirty="0"/>
          </a:p>
        </p:txBody>
      </p:sp>
      <p:sp>
        <p:nvSpPr>
          <p:cNvPr id="121" name="Text 119"/>
          <p:cNvSpPr txBox="1"/>
          <p:nvPr/>
        </p:nvSpPr>
        <p:spPr>
          <a:xfrm>
            <a:off x="768096" y="41148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 의 반려 19% 는 대부분 limits 누락이다 — 프롬프트가 아니라 스킬 문서를 고쳐야 한다는 신호다.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542532" y="1751076"/>
            <a:ext cx="2487168" cy="129844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492240" y="1700784"/>
            <a:ext cx="2487168" cy="129844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6656832" y="18470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82%</a:t>
            </a:r>
            <a:endParaRPr lang="en-US" sz="2300" dirty="0"/>
          </a:p>
        </p:txBody>
      </p:sp>
      <p:sp>
        <p:nvSpPr>
          <p:cNvPr id="125" name="Text 123"/>
          <p:cNvSpPr txBox="1"/>
          <p:nvPr/>
        </p:nvSpPr>
        <p:spPr>
          <a:xfrm>
            <a:off x="6656832" y="226771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성공률</a:t>
            </a:r>
            <a:endParaRPr lang="en-US" sz="1050" dirty="0"/>
          </a:p>
        </p:txBody>
      </p:sp>
      <p:sp>
        <p:nvSpPr>
          <p:cNvPr id="126" name="Text 124"/>
          <p:cNvSpPr txBox="1"/>
          <p:nvPr/>
        </p:nvSpPr>
        <p:spPr>
          <a:xfrm>
            <a:off x="6656832" y="25054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심사 통과분 기준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157716" y="1751076"/>
            <a:ext cx="2487168" cy="129844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8" name="Shape 126"/>
          <p:cNvSpPr/>
          <p:nvPr/>
        </p:nvSpPr>
        <p:spPr>
          <a:xfrm>
            <a:off x="9107424" y="1700784"/>
            <a:ext cx="2487168" cy="129844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9272016" y="18470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4.1%</a:t>
            </a:r>
            <a:endParaRPr lang="en-US" sz="2300" dirty="0"/>
          </a:p>
        </p:txBody>
      </p:sp>
      <p:sp>
        <p:nvSpPr>
          <p:cNvPr id="130" name="Text 128"/>
          <p:cNvSpPr txBox="1"/>
          <p:nvPr/>
        </p:nvSpPr>
        <p:spPr>
          <a:xfrm>
            <a:off x="9272016" y="226771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승격률 (T2→T3)</a:t>
            </a:r>
            <a:endParaRPr lang="en-US" sz="1050" dirty="0"/>
          </a:p>
        </p:txBody>
      </p:sp>
      <p:sp>
        <p:nvSpPr>
          <p:cNvPr id="131" name="Text 129"/>
          <p:cNvSpPr txBox="1"/>
          <p:nvPr/>
        </p:nvSpPr>
        <p:spPr>
          <a:xfrm>
            <a:off x="9272016" y="25054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간 이견이 주 원인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6542532" y="3159252"/>
            <a:ext cx="2487168" cy="129844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492240" y="3108960"/>
            <a:ext cx="2487168" cy="129844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6656832" y="325526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</a:t>
            </a:r>
            <a:endParaRPr lang="en-US" sz="2300" dirty="0"/>
          </a:p>
        </p:txBody>
      </p:sp>
      <p:sp>
        <p:nvSpPr>
          <p:cNvPr id="135" name="Text 133"/>
          <p:cNvSpPr txBox="1"/>
          <p:nvPr/>
        </p:nvSpPr>
        <p:spPr>
          <a:xfrm>
            <a:off x="6656832" y="367588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stale_days</a:t>
            </a:r>
            <a:endParaRPr lang="en-US" sz="1050" dirty="0"/>
          </a:p>
        </p:txBody>
      </p:sp>
      <p:sp>
        <p:nvSpPr>
          <p:cNvPr id="136" name="Text 134"/>
          <p:cNvSpPr txBox="1"/>
          <p:nvPr/>
        </p:nvSpPr>
        <p:spPr>
          <a:xfrm>
            <a:off x="6656832" y="39136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 3영업일 이내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157716" y="3159252"/>
            <a:ext cx="2487168" cy="129844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107424" y="3108960"/>
            <a:ext cx="2487168" cy="129844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9272016" y="325526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6편</a:t>
            </a:r>
            <a:endParaRPr lang="en-US" sz="2300" dirty="0"/>
          </a:p>
        </p:txBody>
      </p:sp>
      <p:sp>
        <p:nvSpPr>
          <p:cNvPr id="140" name="Text 138"/>
          <p:cNvSpPr txBox="1"/>
          <p:nvPr/>
        </p:nvSpPr>
        <p:spPr>
          <a:xfrm>
            <a:off x="9272016" y="367588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은퇴 논문 누계</a:t>
            </a:r>
            <a:endParaRPr lang="en-US" sz="1050" dirty="0"/>
          </a:p>
        </p:txBody>
      </p:sp>
      <p:sp>
        <p:nvSpPr>
          <p:cNvPr id="141" name="Text 139"/>
          <p:cNvSpPr txBox="1"/>
          <p:nvPr/>
        </p:nvSpPr>
        <p:spPr>
          <a:xfrm>
            <a:off x="9272016" y="39136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2회 연속 실패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598932" y="4640580"/>
            <a:ext cx="11094415" cy="1645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43" name="Shape 141"/>
          <p:cNvSpPr/>
          <p:nvPr/>
        </p:nvSpPr>
        <p:spPr>
          <a:xfrm>
            <a:off x="548640" y="4590288"/>
            <a:ext cx="11094415" cy="164592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786384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리플레이 — 왜 그렇게 읽었는가를 되짚는다</a:t>
            </a:r>
            <a:endParaRPr lang="en-US" sz="1400" dirty="0"/>
          </a:p>
        </p:txBody>
      </p:sp>
      <p:pic>
        <p:nvPicPr>
          <p:cNvPr id="1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5102352"/>
            <a:ext cx="164592" cy="164592"/>
          </a:xfrm>
          <a:prstGeom prst="rect">
            <a:avLst/>
          </a:prstGeom>
        </p:spPr>
      </p:pic>
      <p:sp>
        <p:nvSpPr>
          <p:cNvPr id="146" name="Text 143"/>
          <p:cNvSpPr txBox="1"/>
          <p:nvPr/>
        </p:nvSpPr>
        <p:spPr>
          <a:xfrm>
            <a:off x="1024128" y="5047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봉투에 instance ID 가 있다</a:t>
            </a:r>
            <a:endParaRPr lang="en-US" sz="1150" dirty="0"/>
          </a:p>
        </p:txBody>
      </p:sp>
      <p:sp>
        <p:nvSpPr>
          <p:cNvPr id="147" name="Text 144"/>
          <p:cNvSpPr txBox="1"/>
          <p:nvPr/>
        </p:nvSpPr>
        <p:spPr>
          <a:xfrm>
            <a:off x="1024128" y="5321808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인스턴스가 어떤 입력으로 만든 문장인지 특정된다.</a:t>
            </a:r>
            <a:endParaRPr lang="en-US" sz="950" dirty="0"/>
          </a:p>
        </p:txBody>
      </p:sp>
      <p:pic>
        <p:nvPicPr>
          <p:cNvPr id="1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5102352"/>
            <a:ext cx="164592" cy="164592"/>
          </a:xfrm>
          <a:prstGeom prst="rect">
            <a:avLst/>
          </a:prstGeom>
        </p:spPr>
      </p:pic>
      <p:sp>
        <p:nvSpPr>
          <p:cNvPr id="149" name="Text 145"/>
          <p:cNvSpPr txBox="1"/>
          <p:nvPr/>
        </p:nvSpPr>
        <p:spPr>
          <a:xfrm>
            <a:off x="4709160" y="5047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인스턴스는 무상태다</a:t>
            </a:r>
            <a:endParaRPr lang="en-US" sz="1150" dirty="0"/>
          </a:p>
        </p:txBody>
      </p:sp>
      <p:sp>
        <p:nvSpPr>
          <p:cNvPr id="150" name="Text 146"/>
          <p:cNvSpPr txBox="1"/>
          <p:nvPr/>
        </p:nvSpPr>
        <p:spPr>
          <a:xfrm>
            <a:off x="4709160" y="5321808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입력을 다시 넣으면 같은 봉투가 나와야 한다 — 안 나오면 그것이 신호다.</a:t>
            </a:r>
            <a:endParaRPr lang="en-US" sz="950" dirty="0"/>
          </a:p>
        </p:txBody>
      </p:sp>
      <p:pic>
        <p:nvPicPr>
          <p:cNvPr id="1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5102352"/>
            <a:ext cx="164592" cy="164592"/>
          </a:xfrm>
          <a:prstGeom prst="rect">
            <a:avLst/>
          </a:prstGeom>
        </p:spPr>
      </p:pic>
      <p:sp>
        <p:nvSpPr>
          <p:cNvPr id="152" name="Text 147"/>
          <p:cNvSpPr txBox="1"/>
          <p:nvPr/>
        </p:nvSpPr>
        <p:spPr>
          <a:xfrm>
            <a:off x="8394192" y="5047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원장은 append-only</a:t>
            </a:r>
            <a:endParaRPr lang="en-US" sz="1150" dirty="0"/>
          </a:p>
        </p:txBody>
      </p:sp>
      <p:sp>
        <p:nvSpPr>
          <p:cNvPr id="153" name="Text 148"/>
          <p:cNvSpPr txBox="1"/>
          <p:nvPr/>
        </p:nvSpPr>
        <p:spPr>
          <a:xfrm>
            <a:off x="8394192" y="5321808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그날의 재현 판정이 남아 있어, 지금 기준이 아니라 그때 기준으로 되짚을 수 있다.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5 · 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— 8,684줄을 다시 쓰지 않고 감싼다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는 한 줄도 고치지 않는다. 이미 있는 JSON 출력 명령(facts · candles · factors · calendar · macro)이 그대로 인터페이스가 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842516"/>
            <a:ext cx="11094415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92224"/>
            <a:ext cx="11094415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883664"/>
            <a:ext cx="768096" cy="347472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" y="1883664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179222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ic-chair 오케스트레이터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7922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Agent SDK · 서브에이전트 팬아웃/팬인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491472" y="179222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게이트 통과분만 조립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" y="2446020"/>
            <a:ext cx="11094415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395728"/>
            <a:ext cx="11094415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2487168"/>
            <a:ext cx="768096" cy="34747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24871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23957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.claude/agents/*.md  20개 (본부별 폴더)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39572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에이전트별 시스템 프롬프트 · 허용 도구 목록 · 담당 절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491472" y="239572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도구 목록이 곧 권한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" y="3049524"/>
            <a:ext cx="11094415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999232"/>
            <a:ext cx="11094415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090672"/>
            <a:ext cx="768096" cy="34747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" y="309067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572768" y="299923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.claude/skills/  5종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99923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source-grading · envelope-schema · paper-adoption · replication · compliance-gate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491472" y="299923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규칙을 프롬프트에 흩지 않는다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" y="3653028"/>
            <a:ext cx="11094415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602736"/>
            <a:ext cx="11094415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3694176"/>
            <a:ext cx="768096" cy="34747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" y="369417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572768" y="360273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 ki-ledger (stdio · Python)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360273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의 읽기 명령만 감싼 8개 도구. 쓰기 도구 없음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491472" y="3602736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벽이 세워지는 지점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" y="4256532"/>
            <a:ext cx="11094415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206240"/>
            <a:ext cx="11094415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4297680"/>
            <a:ext cx="768096" cy="34747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6656" y="429768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572768" y="42062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러너 · 수확 · 감가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212080" y="420624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코드. 에이전트가 아니라 스케줄러가 돌린다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9491472" y="420624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매번 같은 답이 나와야 한다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932" y="4860036"/>
            <a:ext cx="11094415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809744"/>
            <a:ext cx="11094415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4901184"/>
            <a:ext cx="768096" cy="34747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76656" y="4901184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572768" y="480974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  PreToolUse / PostToolUse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212080" y="480974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화이트리스트 밖 호출 차단 · 모든 출력에 scrub() 강제 · 봉투 스키마 검증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491472" y="480974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코드가 지키는 마지막 선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8932" y="5463540"/>
            <a:ext cx="11094415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5413248"/>
            <a:ext cx="11094415" cy="53035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" y="5504688"/>
            <a:ext cx="768096" cy="347472"/>
          </a:xfrm>
          <a:prstGeom prst="rect">
            <a:avLst/>
          </a:prstGeom>
          <a:solidFill>
            <a:srgbClr val="5E6B8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76656" y="550468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1572768" y="541324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 ·  SCHEDULE.cmd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212080" y="541324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없음. 07:30 · 08:50 · 16:10 자동 실행도 그대로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491472" y="541324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손대지 않는다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98932" y="6103620"/>
            <a:ext cx="11094415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5" name="Shape 53"/>
          <p:cNvSpPr/>
          <p:nvPr/>
        </p:nvSpPr>
        <p:spPr>
          <a:xfrm>
            <a:off x="548640" y="6053328"/>
            <a:ext cx="11094415" cy="45720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86384" y="605332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쓰는 파이썬은 MCP 서버(~200줄) · 재현 러너(~250줄) · 게이트 검사기(~150줄) 셋뿐이다. </a:t>
            </a:r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마크다운 정의 파일이고, 기존 코드 변경은 0줄이다.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5 · MCP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ki-ledger — 벽이 실제로 세워지는 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노출하는 도구가 곧 권한이다. 아래 여덟 개 외에는 존재하지 않으므로, 에이전트는 원장을 고칠 방법 자체가 없다.</a:t>
            </a:r>
            <a:endParaRPr lang="en-US" sz="12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73936"/>
          <a:ext cx="6967728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2084832"/>
                <a:gridCol w="2395728"/>
                <a:gridCol w="73152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 도구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대응 CLI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반환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쓰기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ledger.facts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facts --codes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종목별 관측 사실 전량 (계산 없음)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D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ledger.candles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candles --code --days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수정주가 일봉 · 빈 봉은 버린다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D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ledger.factors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factors --codes --win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팩터 값 + 논문 키 + limits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D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ledger.calendar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calendar --days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+ 등급 (공표 · 규칙 · 추정)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D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ledger.macro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 --limit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 100대 통계 · 통계명 · 단위 · 시점 보존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D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F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ledger.disclosure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facts --with-disclosures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공시 목록 + 접수번호 원문 링크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D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ledger.quality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(신규) 얇은 래퍼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stale_days · 결측 항목 · 필드매핑 검증 상태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D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ledger.papers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E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(신규) 논문 원장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 · replication · limits (읽기만)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D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49540" y="1824228"/>
            <a:ext cx="3941064" cy="173736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" name="Shape 4"/>
          <p:cNvSpPr/>
          <p:nvPr/>
        </p:nvSpPr>
        <p:spPr>
          <a:xfrm>
            <a:off x="7699248" y="1773936"/>
            <a:ext cx="3941064" cy="1737360"/>
          </a:xfrm>
          <a:prstGeom prst="rect">
            <a:avLst/>
          </a:prstGeom>
          <a:solidFill>
            <a:srgbClr val="24141B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18704" y="1938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노출하지 않는 것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4" y="2304288"/>
            <a:ext cx="146304" cy="1463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156448" y="22677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 · catchup · fundamentals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2587752"/>
            <a:ext cx="146304" cy="1463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56448" y="25511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macro-us · import-keys · migrate-keys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2871216"/>
            <a:ext cx="146304" cy="14630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156448" y="2834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watch · live · eod (알림 발송)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154680"/>
            <a:ext cx="146304" cy="14630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156448" y="31181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주문 계열 전부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7749540" y="3707892"/>
            <a:ext cx="3941064" cy="13167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8" name="Shape 11"/>
          <p:cNvSpPr/>
          <p:nvPr/>
        </p:nvSpPr>
        <p:spPr>
          <a:xfrm>
            <a:off x="7699248" y="3657600"/>
            <a:ext cx="3941064" cy="1316736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7918704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data-ops 는 예외다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7918704" y="4114800"/>
            <a:ext cx="35295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원장운영역만 MCP 가 아니라 Bash 로 ki_monitor.py 를 직접 부른다. 대신 이 데스크에는 해석을 쓰는 권한이 없고, 산출물은 '적재 결과'와 '품질 경고'뿐이다.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7749540" y="5170932"/>
            <a:ext cx="3941064" cy="11521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2" name="Shape 15"/>
          <p:cNvSpPr/>
          <p:nvPr/>
        </p:nvSpPr>
        <p:spPr>
          <a:xfrm>
            <a:off x="7699248" y="5120640"/>
            <a:ext cx="3941064" cy="1152144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918704" y="5266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네트워크를 쓰지 않는다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7918704" y="5559552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도구 전부 원장만 읽는다. 오래됐으면 stale_days 로 알릴 뿐, 몰래 새로 받아오지 않는다 — facts 가 이미 지키는 규칙이다.</a:t>
            </a:r>
            <a:endParaRPr lang="en-US" sz="9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기존 규약 유지 — stdout 은 JSON 만, 진단 메시지는 전부 stderr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5 · IMPLEMENTATION SPEC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옮기기 전에 정해야 할 값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아래가 비어 있으면 구현할 때 임의로 정하게 된다. 제안값이며, 착수 전에 확정해야 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5577840" cy="221284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5577840" cy="2212848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105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재현 관문 — 판정 기준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유니버스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1975104" y="209397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KOSDAQ 전종목 · 관리종목 · 거래정지 · 스팩 제외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59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최소 표본</a:t>
            </a:r>
            <a:endParaRPr lang="en-US" sz="86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235000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종목 n ≥ 200  AND  영업일 ≥ 500 (미달 시 계산 거부)</a:t>
            </a:r>
            <a:endParaRPr lang="en-US" sz="82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6151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포트폴리오</a:t>
            </a:r>
            <a:endParaRPr lang="en-US" sz="860" dirty="0"/>
          </a:p>
        </p:txBody>
      </p:sp>
      <p:sp>
        <p:nvSpPr>
          <p:cNvPr id="13" name="Text 11"/>
          <p:cNvSpPr txBox="1"/>
          <p:nvPr/>
        </p:nvSpPr>
        <p:spPr>
          <a:xfrm>
            <a:off x="1975104" y="260604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팩터값 5분위 · 월말 리밸런싱 · 동일가중</a:t>
            </a:r>
            <a:endParaRPr lang="en-US" sz="82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712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검정 통계</a:t>
            </a:r>
            <a:endParaRPr lang="en-US" sz="860" dirty="0"/>
          </a:p>
        </p:txBody>
      </p:sp>
      <p:sp>
        <p:nvSpPr>
          <p:cNvPr id="15" name="Text 13"/>
          <p:cNvSpPr txBox="1"/>
          <p:nvPr/>
        </p:nvSpPr>
        <p:spPr>
          <a:xfrm>
            <a:off x="1975104" y="286207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Q5 − Q1 스프레드 · Newey-West 보정 t</a:t>
            </a:r>
            <a:endParaRPr lang="en-US" sz="82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1455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</a:t>
            </a:r>
            <a:endParaRPr lang="en-US" sz="86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313639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|t| ≥ 2.0 &amp; 부호 일치 → 재현됨 · 부호 반대 → 방향 반대</a:t>
            </a:r>
            <a:endParaRPr lang="en-US" sz="82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|t| &lt; 2.0                        → 판정 불가</a:t>
            </a:r>
            <a:endParaRPr lang="en-US" sz="82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661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룩백</a:t>
            </a:r>
            <a:endParaRPr lang="en-US" sz="860" dirty="0"/>
          </a:p>
        </p:txBody>
      </p:sp>
      <p:sp>
        <p:nvSpPr>
          <p:cNvPr id="19" name="Text 17"/>
          <p:cNvSpPr txBox="1"/>
          <p:nvPr/>
        </p:nvSpPr>
        <p:spPr>
          <a:xfrm>
            <a:off x="1975104" y="355701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최근 3년 (구간이 바뀌면 재판정 · 이력은 append)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323076" y="1751076"/>
            <a:ext cx="5367528" cy="221284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1" name="Shape 19"/>
          <p:cNvSpPr/>
          <p:nvPr/>
        </p:nvSpPr>
        <p:spPr>
          <a:xfrm>
            <a:off x="6272784" y="1700784"/>
            <a:ext cx="5367528" cy="2212848"/>
          </a:xfrm>
          <a:prstGeom prst="rect">
            <a:avLst/>
          </a:prstGeom>
          <a:solidFill>
            <a:srgbClr val="171E3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55664" y="18105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트리거 임계값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55664" y="2121408"/>
            <a:ext cx="5029200" cy="21031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47104" y="212140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신규 공시</a:t>
            </a:r>
            <a:endParaRPr lang="en-US" sz="84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2121408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dilution · risk 태그가 붙은 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55664" y="2368296"/>
            <a:ext cx="5029200" cy="210312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47104" y="236829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 급변</a:t>
            </a:r>
            <a:endParaRPr lang="en-US" sz="84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2368296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|일간수익률| ≥ 8%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55664" y="2615184"/>
            <a:ext cx="5029200" cy="21031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47104" y="2615184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거래대금 급증</a:t>
            </a:r>
            <a:endParaRPr lang="en-US" sz="84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2615184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20일 중앙값 대비 ≥ 3배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55664" y="2862072"/>
            <a:ext cx="5029200" cy="210312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47104" y="286207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회수계획 변동</a:t>
            </a:r>
            <a:endParaRPr lang="en-US" sz="84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2862072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exit_plan.csv 행 변경 감지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55664" y="3108960"/>
            <a:ext cx="5029200" cy="21031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47104" y="310896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락업 만료 임박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3108960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D-30 진입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55664" y="3355848"/>
            <a:ext cx="5029200" cy="210312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47104" y="335584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재검</a:t>
            </a:r>
            <a:endParaRPr lang="en-US" sz="84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3355848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recheck_due ≤ 오늘 (오래된 순 · 일 1편)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55664" y="3602736"/>
            <a:ext cx="5029200" cy="210312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547104" y="360273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신선도 경보</a:t>
            </a:r>
            <a:endParaRPr lang="en-US" sz="840" dirty="0"/>
          </a:p>
        </p:txBody>
      </p:sp>
      <p:sp>
        <p:nvSpPr>
          <p:cNvPr id="43" name="Text 41"/>
          <p:cNvSpPr txBox="1"/>
          <p:nvPr/>
        </p:nvSpPr>
        <p:spPr>
          <a:xfrm>
            <a:off x="8321040" y="3602736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stale_days ≥ 3 영업일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8932" y="4110228"/>
            <a:ext cx="5577840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4059936"/>
            <a:ext cx="5577840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9D7B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1520" y="416966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봉투 — 필수 필드 (게이트가 검사)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31520" y="4462272"/>
            <a:ext cx="5175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required: claim · unit · asof · stale_days ·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source_grade · sources[] · limits[] ·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desk · instance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는 null 허용 — 단 null 이면 reason 필수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method.paper 가 있으면 method.replication 필수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source_grade ∈ {1차, 참고, 방법론, 사내, 해석}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 에이전트 산출은 항상 "해석" (승격 불가)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323076" y="4110228"/>
            <a:ext cx="5367528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9" name="Shape 47"/>
          <p:cNvSpPr/>
          <p:nvPr/>
        </p:nvSpPr>
        <p:spPr>
          <a:xfrm>
            <a:off x="6272784" y="4059936"/>
            <a:ext cx="5367528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55664" y="416966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예산 상한 · 판정 어휘 차단 목록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55664" y="4480560"/>
            <a:ext cx="1627632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547104" y="4498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경량</a:t>
            </a:r>
            <a:endParaRPr lang="en-US" sz="820" dirty="0"/>
          </a:p>
        </p:txBody>
      </p:sp>
      <p:sp>
        <p:nvSpPr>
          <p:cNvPr id="53" name="Text 51"/>
          <p:cNvSpPr txBox="1"/>
          <p:nvPr/>
        </p:nvSpPr>
        <p:spPr>
          <a:xfrm>
            <a:off x="6547104" y="46817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8K 토큰 · 도구 3회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8193024" y="4480560"/>
            <a:ext cx="1627632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284464" y="4498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표준</a:t>
            </a:r>
            <a:endParaRPr lang="en-US" sz="820" dirty="0"/>
          </a:p>
        </p:txBody>
      </p:sp>
      <p:sp>
        <p:nvSpPr>
          <p:cNvPr id="56" name="Text 54"/>
          <p:cNvSpPr txBox="1"/>
          <p:nvPr/>
        </p:nvSpPr>
        <p:spPr>
          <a:xfrm>
            <a:off x="8284464" y="46817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32K · 12회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9930384" y="4480560"/>
            <a:ext cx="1627632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021824" y="4498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 상위</a:t>
            </a:r>
            <a:endParaRPr lang="en-US" sz="820" dirty="0"/>
          </a:p>
        </p:txBody>
      </p:sp>
      <p:sp>
        <p:nvSpPr>
          <p:cNvPr id="59" name="Text 57"/>
          <p:cNvSpPr txBox="1"/>
          <p:nvPr/>
        </p:nvSpPr>
        <p:spPr>
          <a:xfrm>
            <a:off x="10021824" y="46817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128K · 40회</a:t>
            </a:r>
            <a:endParaRPr lang="en-US" sz="760" dirty="0"/>
          </a:p>
        </p:txBody>
      </p:sp>
      <p:sp>
        <p:nvSpPr>
          <p:cNvPr id="60" name="Text 58"/>
          <p:cNvSpPr txBox="1"/>
          <p:nvPr/>
        </p:nvSpPr>
        <p:spPr>
          <a:xfrm>
            <a:off x="6455664" y="49377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초과 시 '미완' 으로 기록 — 조용히 넘어가지 않는다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6455664" y="5212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게이트 ① 차단 어휘 (정규식)</a:t>
            </a:r>
            <a:endParaRPr lang="en-US" sz="860" dirty="0"/>
          </a:p>
        </p:txBody>
      </p:sp>
      <p:sp>
        <p:nvSpPr>
          <p:cNvPr id="62" name="Text 60"/>
          <p:cNvSpPr txBox="1"/>
          <p:nvPr/>
        </p:nvSpPr>
        <p:spPr>
          <a:xfrm>
            <a:off x="6455664" y="543153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매수 · 매도 · 비중확대 · 비중축소 · 목표주가 · 적정주가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투자의견 · 저평가 · 고평가 · 유망 · 추천 · 상승여력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98932" y="6121908"/>
            <a:ext cx="11094415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4" name="Shape 62"/>
          <p:cNvSpPr/>
          <p:nvPr/>
        </p:nvSpPr>
        <p:spPr>
          <a:xfrm>
            <a:off x="548640" y="6071616"/>
            <a:ext cx="11094415" cy="42062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86384" y="6071616"/>
            <a:ext cx="10618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값들이 Phase 1 의 실제 산출물이다. </a:t>
            </a:r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코드보다 먼저 한 장으로 합의하고, 바뀌면 이 장을 고친다 — 코드에 흩어 두지 않는다.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5 · A 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— 기존 자동 실행 시각은 그대로 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SCHEDULE.cmd 의 07:30 · 08:50 · 16:10 을 바꾸지 않는다. 그 사이에 소집·게이트·조립을 끼워 넣는다.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2157984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2157984" cy="5669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07:30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8932" y="2446020"/>
            <a:ext cx="2157984" cy="2889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95728"/>
            <a:ext cx="2157984" cy="28895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5420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수확 · 재현 배치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" y="3200400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31272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arXiv·S2·OpenAlex·Crossref 훑기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3767328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7824" y="36941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 기한 도래분 재현 실행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" y="4334256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42611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최대 1편 · 은퇴 판정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4846320"/>
            <a:ext cx="1865376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배치 (에이전트 아님)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866644" y="1787652"/>
            <a:ext cx="2157984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2816352" y="1737360"/>
            <a:ext cx="2157984" cy="5669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16352" y="1737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08:50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866644" y="2446020"/>
            <a:ext cx="2157984" cy="2889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3" name="Shape 21"/>
          <p:cNvSpPr/>
          <p:nvPr/>
        </p:nvSpPr>
        <p:spPr>
          <a:xfrm>
            <a:off x="2816352" y="2395728"/>
            <a:ext cx="2157984" cy="28895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62656" y="25420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+ 소집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80944" y="3200400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145536" y="31272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생성 (기존 그대로)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80944" y="3767328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45536" y="36941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스캔 → 인스턴스 생성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80944" y="4334256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145536" y="42611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병렬 작업 · 봉투 제출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62656" y="4846320"/>
            <a:ext cx="1865376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962656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 ~50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134356" y="1787652"/>
            <a:ext cx="2157984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5084064" y="1737360"/>
            <a:ext cx="2157984" cy="566928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84064" y="1737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~15:30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134356" y="2446020"/>
            <a:ext cx="2157984" cy="2889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7" name="Shape 35"/>
          <p:cNvSpPr/>
          <p:nvPr/>
        </p:nvSpPr>
        <p:spPr>
          <a:xfrm>
            <a:off x="5084064" y="2395728"/>
            <a:ext cx="2157984" cy="28895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30368" y="25420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장중 (읽기만)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48656" y="3200400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13248" y="31272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스냅샷은 화면에만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48656" y="3767328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13248" y="36941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원장에 쓰지 않는다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48656" y="4334256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13248" y="42611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데스크는 돌지 않는다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30368" y="4846320"/>
            <a:ext cx="1865376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230368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standing only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7402068" y="1787652"/>
            <a:ext cx="2157984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6"/>
          <p:cNvSpPr/>
          <p:nvPr/>
        </p:nvSpPr>
        <p:spPr>
          <a:xfrm>
            <a:off x="7351776" y="1737360"/>
            <a:ext cx="2157984" cy="56692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51776" y="1737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16:10</a:t>
            </a:r>
            <a:endParaRPr lang="en-US" sz="1900" dirty="0"/>
          </a:p>
        </p:txBody>
      </p:sp>
      <p:sp>
        <p:nvSpPr>
          <p:cNvPr id="50" name="Shape 48"/>
          <p:cNvSpPr/>
          <p:nvPr/>
        </p:nvSpPr>
        <p:spPr>
          <a:xfrm>
            <a:off x="7402068" y="2446020"/>
            <a:ext cx="2157984" cy="2889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1" name="Shape 49"/>
          <p:cNvSpPr/>
          <p:nvPr/>
        </p:nvSpPr>
        <p:spPr>
          <a:xfrm>
            <a:off x="7351776" y="2395728"/>
            <a:ext cx="2157984" cy="28895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98080" y="25420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 적재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516368" y="3200400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680960" y="31272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그날의 유일한 원장 쓰기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516368" y="3767328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680960" y="36941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catchup 으로 영업일 채움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516368" y="4334256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680960" y="42611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stale_days 갱신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498080" y="4846320"/>
            <a:ext cx="1865376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498080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data-ops 단독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9669780" y="1787652"/>
            <a:ext cx="2157984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9619488" y="1737360"/>
            <a:ext cx="2157984" cy="566928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619488" y="1737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</a:t>
            </a:r>
            <a:endParaRPr lang="en-US" sz="1900" dirty="0"/>
          </a:p>
        </p:txBody>
      </p:sp>
      <p:sp>
        <p:nvSpPr>
          <p:cNvPr id="64" name="Shape 62"/>
          <p:cNvSpPr/>
          <p:nvPr/>
        </p:nvSpPr>
        <p:spPr>
          <a:xfrm>
            <a:off x="9669780" y="2446020"/>
            <a:ext cx="2157984" cy="2889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5" name="Shape 63"/>
          <p:cNvSpPr/>
          <p:nvPr/>
        </p:nvSpPr>
        <p:spPr>
          <a:xfrm>
            <a:off x="9619488" y="2395728"/>
            <a:ext cx="2157984" cy="28895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765792" y="25420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→ 조립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784080" y="3200400"/>
            <a:ext cx="73152" cy="73152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948672" y="31272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검산 → compliance 판정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784080" y="3767328"/>
            <a:ext cx="73152" cy="73152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9948672" y="36941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통과분만 ic-chair 로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784080" y="4334256"/>
            <a:ext cx="73152" cy="73152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948672" y="42611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반려분은 사유와 함께 남는다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765792" y="4846320"/>
            <a:ext cx="1865376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765792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발행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598932" y="5500116"/>
            <a:ext cx="11094415" cy="7863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6" name="Shape 74"/>
          <p:cNvSpPr/>
          <p:nvPr/>
        </p:nvSpPr>
        <p:spPr>
          <a:xfrm>
            <a:off x="548640" y="5449824"/>
            <a:ext cx="11094415" cy="78638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86384" y="5449824"/>
            <a:ext cx="1061892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장중에 데스크를 돌리지 않는 이유 —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 장부 위에 세운 해석을 장중 값과 섞으면 무엇을 근거로 읽었는지가 시각마다 달라진다. 하루 한 번, 같은 기준일 위에서만 읽는다.
</a:t>
            </a:r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재현을 07:30 배치로 두는 이유 —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재현은 판단이 아니라 계산이다. 에이전트가 아니라 결정적 코드가 돌려야 매번 같은 답이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5 ·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10주 — 재현 관문을 먼저 세우고 그 위에 소집을 얹는다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파이프라인이 먼저다. 재현되지 않은 방법론 위에 에이전트를 아무리 많이 띄워도 의미가 없다.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2157984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2157984" cy="420624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19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 ·  W1–2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" y="2281428"/>
            <a:ext cx="21579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31136"/>
            <a:ext cx="21579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원장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035808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29626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ki.papers/2 스키마 전환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3602736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7824" y="35295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· replication · 반감기 필드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" y="4169664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409651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12편을 원장 형식으로 이관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232" y="4736592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" y="4663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ledger.papers MCP 도구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66644" y="1769364"/>
            <a:ext cx="2157984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2816352" y="1719072"/>
            <a:ext cx="2157984" cy="420624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16352" y="1719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 ·  W3–4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66644" y="2281428"/>
            <a:ext cx="21579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3" name="Shape 21"/>
          <p:cNvSpPr/>
          <p:nvPr/>
        </p:nvSpPr>
        <p:spPr>
          <a:xfrm>
            <a:off x="2816352" y="2231136"/>
            <a:ext cx="21579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62656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관문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80944" y="3035808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145536" y="29626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 재현 러너 (결정적 코드)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80944" y="3602736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45536" y="35295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 소급 재현 → 판정 기록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80944" y="4169664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145536" y="409651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실패분 warned 처리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80944" y="4736592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145536" y="4663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③ 코드화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34356" y="1769364"/>
            <a:ext cx="2157984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5084064" y="1719072"/>
            <a:ext cx="2157984" cy="42062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84064" y="1719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 ·  W5–6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34356" y="2281428"/>
            <a:ext cx="21579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7" name="Shape 35"/>
          <p:cNvSpPr/>
          <p:nvPr/>
        </p:nvSpPr>
        <p:spPr>
          <a:xfrm>
            <a:off x="5084064" y="2231136"/>
            <a:ext cx="21579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30368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수확 상시화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248656" y="3035808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13248" y="29626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fetch_papers 주간 스케줄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48656" y="3602736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13248" y="35295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→ 재현 → 채택 연결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48656" y="4169664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13248" y="409651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감가·은퇴 배치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48656" y="4736592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413248" y="4663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2편 채택 목표 검증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02068" y="1769364"/>
            <a:ext cx="2157984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6"/>
          <p:cNvSpPr/>
          <p:nvPr/>
        </p:nvSpPr>
        <p:spPr>
          <a:xfrm>
            <a:off x="7351776" y="1719072"/>
            <a:ext cx="2157984" cy="420624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51776" y="1719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 ·  W7–8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402068" y="2281428"/>
            <a:ext cx="21579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1" name="Shape 49"/>
          <p:cNvSpPr/>
          <p:nvPr/>
        </p:nvSpPr>
        <p:spPr>
          <a:xfrm>
            <a:off x="7351776" y="2231136"/>
            <a:ext cx="21579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98080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소집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516368" y="3035808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680960" y="29626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스캐너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516368" y="3602736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680960" y="35295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생성·예산·소멸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516368" y="4169664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680960" y="409651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T1~T3 에스컬레이션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16368" y="4736592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680960" y="4663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 v2 · instance ID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669780" y="1769364"/>
            <a:ext cx="2157984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9619488" y="1719072"/>
            <a:ext cx="2157984" cy="420624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619488" y="1719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  ·  W9–10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669780" y="2281428"/>
            <a:ext cx="21579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5" name="Shape 63"/>
          <p:cNvSpPr/>
          <p:nvPr/>
        </p:nvSpPr>
        <p:spPr>
          <a:xfrm>
            <a:off x="9619488" y="2231136"/>
            <a:ext cx="21579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765792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운영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9784080" y="3035808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948672" y="29626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산출과 2주 대조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784080" y="3602736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9948672" y="35295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스코어카드 · 리플레이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784080" y="4169664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948672" y="409651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 원인 전수 분석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784080" y="4736592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948672" y="4663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여부는 사람이 결정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98932" y="5481828"/>
            <a:ext cx="3602736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6" name="Shape 74"/>
          <p:cNvSpPr/>
          <p:nvPr/>
        </p:nvSpPr>
        <p:spPr>
          <a:xfrm>
            <a:off x="548640" y="5431536"/>
            <a:ext cx="3602736" cy="69494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31520" y="55229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종료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731520" y="574243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12편이 코스닥에서 성립하는지 처음으로 알게 된다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357116" y="5481828"/>
            <a:ext cx="3602736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0" name="Shape 78"/>
          <p:cNvSpPr/>
          <p:nvPr/>
        </p:nvSpPr>
        <p:spPr>
          <a:xfrm>
            <a:off x="4306824" y="5431536"/>
            <a:ext cx="3602736" cy="69494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489704" y="55229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종료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4489704" y="574243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대지 않아도 채택본이 갱신된다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115300" y="5481828"/>
            <a:ext cx="3602736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4" name="Shape 82"/>
          <p:cNvSpPr/>
          <p:nvPr/>
        </p:nvSpPr>
        <p:spPr>
          <a:xfrm>
            <a:off x="8065008" y="5431536"/>
            <a:ext cx="3602736" cy="69494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247888" y="55229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 종료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8247888" y="574243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2주 결과로 전환 여부를 사람이 결정한다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5 · RISK REGISTER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리스크와 완화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위험은 에이전트가 틀리는 것이 아니라, 틀린 것이 맞는 것처럼 회의에 올라가는 것이다.</a:t>
            </a:r>
            <a:endParaRPr lang="en-US" sz="12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1042416"/>
                <a:gridCol w="2121408"/>
                <a:gridCol w="4133088"/>
                <a:gridCol w="3758184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등급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리스크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무엇이 문제인가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완화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10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4D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환각 — 없는 값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원장에 없는 값을 그럴듯하게 채우는 것이 LLM 의 기본 실패 양식이다. 0 으로 채우는 것보다 나쁘다.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봉투 스키마가 null 을 허용하고 근거 필드를 필수로 한다 + 게이트 ⑤ 신선도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10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 혼입 — 해석이 사실로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문장이 §5 표에서 측정값과 같은 무게로 읽히면, 이 도구가 막으려던 실패가 재현된다.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'해석' 등급 신설 + 게이트 ② + 리포트에서 별도 블록으로 분리 렌더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10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78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관문의 과신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재현됐다고 인과가 성립하는 것은 아니다. 표본 구간을 바꾸면 판정이 뒤집힐 수 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판정에 표본 구간·n 을 항상 붙이고, 반감기마다 재검해 변화 자체를 기록한다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10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치명·비가역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7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D7B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오염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추정치가 ki.sqlite 에 한 번 들어가면 다음 측정이 오염되고 되돌릴 수 없다.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에 쓰기 도구 미노출 + data-ops 단독 권한 + PreToolUse 훅 차단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10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6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5D6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유사투자자문 규제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권고 · 목표가를 생성하는 순간 산출물의 성격이 바뀐다.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권고 미생성 원칙 유지 + 배포통제 배너(STAGE) + 내부 검토용 고지 유지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10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FA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· 지연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이벤트가 몰린 날에는 인스턴스가 급증한다 (시뮬 피크 95).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T1~T3 등급 분리 · 인스턴스별 예산 상한 · 17:00 배치로 몰아서 실행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8932" y="5756148"/>
            <a:ext cx="11094415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705856"/>
            <a:ext cx="11094415" cy="56692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5705856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자격증명 — </a:t>
            </a:r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압축본의 env.txt 에 6종 키가 평문으로 있었다. 파일명이 .env 가 아니어서 기존 .gitignore 어떤 규칙에도 걸리지 않는다. 저장소에는 넣지 않았고 규칙을 추가했다.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229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521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167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4813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6459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105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9751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1396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3042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4688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6334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79806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96265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12724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29184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45643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62102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78561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95020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2793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4439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6085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7731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9377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2669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4315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5961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57607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59253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0899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2544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836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67482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8640" y="42062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PART 5 · NEXT STEP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94944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주에 할 것과, 무엇으로 성공을 판정할 것인가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598932" y="1531620"/>
            <a:ext cx="7040880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7" name="Shape 45"/>
          <p:cNvSpPr/>
          <p:nvPr/>
        </p:nvSpPr>
        <p:spPr>
          <a:xfrm>
            <a:off x="548640" y="1481328"/>
            <a:ext cx="7040880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" y="1655064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13232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261872" y="15819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주장으로 12편을 환원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1261872" y="18562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논문에서 방향이 있는 한 문장을 뽑는다. 환원 안 되는 논문은 재현 대상에서 뺀다.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6601968" y="15819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8932" y="2391156"/>
            <a:ext cx="7040880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4" name="Shape 52"/>
          <p:cNvSpPr/>
          <p:nvPr/>
        </p:nvSpPr>
        <p:spPr>
          <a:xfrm>
            <a:off x="548640" y="2340864"/>
            <a:ext cx="7040880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3232" y="2514600"/>
            <a:ext cx="402336" cy="40233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1323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1261872" y="2441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ki.papers/2 스키마 확정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1261872" y="27157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· replication · half_life · limits. 코드보다 먼저 한 장으로 합의한다.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601968" y="2441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98932" y="3250692"/>
            <a:ext cx="7040880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" y="3200400"/>
            <a:ext cx="7040880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3232" y="3374136"/>
            <a:ext cx="402336" cy="40233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13232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1261872" y="33009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러너 골격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1261872" y="35753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 하나(amihud2002)만 먼저. 원장 일봉으로 분위 스프레드 부호를 본다.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6601968" y="33009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8932" y="4110228"/>
            <a:ext cx="7040880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8" name="Shape 66"/>
          <p:cNvSpPr/>
          <p:nvPr/>
        </p:nvSpPr>
        <p:spPr>
          <a:xfrm>
            <a:off x="548640" y="4059936"/>
            <a:ext cx="7040880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3232" y="4233672"/>
            <a:ext cx="402336" cy="402336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13232" y="4233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1261872" y="41605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 소급 재현</a:t>
            </a:r>
            <a:endParaRPr lang="en-US" sz="1250" dirty="0"/>
          </a:p>
        </p:txBody>
      </p:sp>
      <p:sp>
        <p:nvSpPr>
          <p:cNvPr id="72" name="Text 70"/>
          <p:cNvSpPr txBox="1"/>
          <p:nvPr/>
        </p:nvSpPr>
        <p:spPr>
          <a:xfrm>
            <a:off x="1261872" y="44348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편이 코스닥에서 살아남는지 실제로 센다. 이 숫자가 이 방안의 출발점이다.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6601968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98932" y="4969764"/>
            <a:ext cx="7040880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5" name="Shape 73"/>
          <p:cNvSpPr/>
          <p:nvPr/>
        </p:nvSpPr>
        <p:spPr>
          <a:xfrm>
            <a:off x="548640" y="4919472"/>
            <a:ext cx="7040880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3232" y="5093208"/>
            <a:ext cx="402336" cy="40233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713232" y="5093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1261872" y="50200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발생률 역산</a:t>
            </a:r>
            <a:endParaRPr lang="en-US" sz="1250" dirty="0"/>
          </a:p>
        </p:txBody>
      </p:sp>
      <p:sp>
        <p:nvSpPr>
          <p:cNvPr id="79" name="Text 77"/>
          <p:cNvSpPr txBox="1"/>
          <p:nvPr/>
        </p:nvSpPr>
        <p:spPr>
          <a:xfrm>
            <a:off x="1261872" y="52943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원장의 공시·변동 이력으로 실제 소집 건수를 계산한다. 가정값을 실측으로 바꾼다.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6601968" y="5020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7863840" y="1481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성공 판정 지표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7863840" y="18470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?편</a:t>
            </a:r>
            <a:endParaRPr lang="en-US" sz="2500" dirty="0"/>
          </a:p>
        </p:txBody>
      </p:sp>
      <p:sp>
        <p:nvSpPr>
          <p:cNvPr id="83" name="Text 81"/>
          <p:cNvSpPr txBox="1"/>
          <p:nvPr/>
        </p:nvSpPr>
        <p:spPr>
          <a:xfrm>
            <a:off x="7863840" y="2267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 중 코스닥 재현 통과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863840" y="24871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숫자를 모르는 채로 쓰고 있었다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7863840" y="29077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≥2편/주</a:t>
            </a:r>
            <a:endParaRPr lang="en-US" sz="2500" dirty="0"/>
          </a:p>
        </p:txBody>
      </p:sp>
      <p:sp>
        <p:nvSpPr>
          <p:cNvPr id="86" name="Text 84"/>
          <p:cNvSpPr txBox="1"/>
          <p:nvPr/>
        </p:nvSpPr>
        <p:spPr>
          <a:xfrm>
            <a:off x="7863840" y="33284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채택 유입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7863840" y="3547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손대지 않아도 갱신되는가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7863840" y="3968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0건</a:t>
            </a:r>
            <a:endParaRPr lang="en-US" sz="2500" dirty="0"/>
          </a:p>
        </p:txBody>
      </p:sp>
      <p:sp>
        <p:nvSpPr>
          <p:cNvPr id="89" name="Text 87"/>
          <p:cNvSpPr txBox="1"/>
          <p:nvPr/>
        </p:nvSpPr>
        <p:spPr>
          <a:xfrm>
            <a:off x="7863840" y="43891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미재현 논문 인용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7863840" y="46085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③ 반려 건수</a:t>
            </a:r>
            <a:endParaRPr lang="en-US" sz="900" dirty="0"/>
          </a:p>
        </p:txBody>
      </p:sp>
      <p:sp>
        <p:nvSpPr>
          <p:cNvPr id="91" name="Text 89"/>
          <p:cNvSpPr txBox="1"/>
          <p:nvPr/>
        </p:nvSpPr>
        <p:spPr>
          <a:xfrm>
            <a:off x="7863840" y="50292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-80%</a:t>
            </a:r>
            <a:endParaRPr lang="en-US" sz="2500" dirty="0"/>
          </a:p>
        </p:txBody>
      </p:sp>
      <p:sp>
        <p:nvSpPr>
          <p:cNvPr id="92" name="Text 90"/>
          <p:cNvSpPr txBox="1"/>
          <p:nvPr/>
        </p:nvSpPr>
        <p:spPr>
          <a:xfrm>
            <a:off x="7863840" y="54498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부하</a:t>
            </a:r>
            <a:endParaRPr 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7863840" y="56692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커버리지 기준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98932" y="5829300"/>
            <a:ext cx="7040880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5" name="Shape 93"/>
          <p:cNvSpPr/>
          <p:nvPr/>
        </p:nvSpPr>
        <p:spPr>
          <a:xfrm>
            <a:off x="548640" y="5779008"/>
            <a:ext cx="7040880" cy="457200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68096" y="577900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알아야 할 것은 "12편 중 몇 편이 우리 시장에서 살아있는가" 다.</a:t>
            </a:r>
            <a:endParaRPr lang="en-US" sz="1100" dirty="0"/>
          </a:p>
        </p:txBody>
      </p:sp>
      <p:sp>
        <p:nvSpPr>
          <p:cNvPr id="97" name="Text 95"/>
          <p:cNvSpPr txBox="1"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내부 검토용 · 대외비 · 투자권유 자료 아님 · 계획안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저장소에 추가되는 것 — 파일 배치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파일은 하나도 옮기지 않는다. 아래는 전부 새로 생기는 경로다.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6126480" cy="42062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6126480" cy="4206240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847088"/>
            <a:ext cx="57607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Stock_Agent/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stock-monitor/        변경 없음 (ki_monitor.py 8,684줄)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         변경 없음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agents/               ← 새로 생김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ki_ledger_mcp.py     MCP 서버 · 읽기 8종  (~200줄)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replication.py       재현 러너 (결정적)   (~250줄)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envelope.py          봉투 스키마 · 검증기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gates.py             게이트 ①~⑦ 검사기   (~150줄)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triggers.py          트리거 스캐너 · 소집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.claude/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agents/              데스크 20개 정의 (본부별 폴더)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research/     7  equity · credit · governance ·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│                    capital-structure · quant ·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│                    macro · return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execution/    2  execution-trader · liquidity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risk/         3  market · concentration · model ★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compliance/   3  compliance · audit · disclosure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operations/   3  ingest · quality · factor-librarian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 ic/           2  research-editor · ic-chair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skills/              규칙 5종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source-grading/     등급 판정 기준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envelope-schema/    봉투 작성법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replication/        재현 설계 · 판정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 paper-adoption/     채택 · 감가 · 은퇴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 compliance-gate/    게이트 판정 기준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settings.json        훅 · MCP 등록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926580" y="1787652"/>
            <a:ext cx="476402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6876288" y="1737360"/>
            <a:ext cx="476402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77456" y="1920240"/>
            <a:ext cx="12801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0" y="1847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ki_monitor.py 는 열지 않는다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2139696"/>
            <a:ext cx="4352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CRLF 파일이라 편집 도구가 줄바꿈을 바꾸면 파일 전체가 diff 에 잡힌다. 감싸기만 하고 손대지 않는 이유이기도 하다.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26580" y="2866644"/>
            <a:ext cx="476402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76288" y="2816352"/>
            <a:ext cx="476402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77456" y="2999232"/>
            <a:ext cx="128016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러너는 에이전트가 아니다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77456" y="3218688"/>
            <a:ext cx="4352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파이썬 코드다. 같은 원장·같은 구간이면 항상 같은 판정이 나와야 하므로 LLM 을 쓰지 않는다.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26580" y="3945636"/>
            <a:ext cx="476402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9" name="Shape 17"/>
          <p:cNvSpPr/>
          <p:nvPr/>
        </p:nvSpPr>
        <p:spPr>
          <a:xfrm>
            <a:off x="6876288" y="3895344"/>
            <a:ext cx="476402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77456" y="4078224"/>
            <a:ext cx="12801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게이트는 selftest 와 나란히 돈다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4297680"/>
            <a:ext cx="4352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agents/gates.py --selftest 를 기존 128개 옆에 붙인다. 검증은 한 곳에서 돌아야 실제로 돌아간다.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26580" y="5024628"/>
            <a:ext cx="476402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76288" y="4974336"/>
            <a:ext cx="476402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77456" y="5157216"/>
            <a:ext cx="128016" cy="12801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0" y="5084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 규칙은 확장한다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77456" y="5376672"/>
            <a:ext cx="4352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산출 봉투도 포트폴리오사 실명을 담는다. out/ 과 같은 등급으로 .gitignore 에 넣는다.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새로 쓰는 파이썬 약 600줄 · 나머지는 마크다운 정의 파일 · 기존 코드 변경 0줄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Agent v2 — 살아있는 리서치 데스크</dc:title>
  <dc:subject>PptxGenJS Presentation</dc:subject>
  <dc:creator>PptxGenJS</dc:creator>
  <cp:lastModifiedBy>PptxGenJS</cp:lastModifiedBy>
  <cp:revision>1</cp:revision>
  <dcterms:created xsi:type="dcterms:W3CDTF">2026-09-16T13:05:34Z</dcterms:created>
  <dcterms:modified xsi:type="dcterms:W3CDTF">2026-09-16T13:05:34Z</dcterms:modified>
</cp:coreProperties>
</file>