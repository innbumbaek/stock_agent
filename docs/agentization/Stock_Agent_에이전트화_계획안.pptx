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(85×7)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595</c:v>
                </c:pt>
                <c:pt idx="1">
                  <c:v>595</c:v>
                </c:pt>
                <c:pt idx="2">
                  <c:v>595</c:v>
                </c:pt>
                <c:pt idx="3">
                  <c:v>595</c:v>
                </c:pt>
                <c:pt idx="4">
                  <c:v>595</c:v>
                </c:pt>
                <c:pt idx="5">
                  <c:v>595</c:v>
                </c:pt>
                <c:pt idx="6">
                  <c:v>595</c:v>
                </c:pt>
                <c:pt idx="7">
                  <c:v>595</c:v>
                </c:pt>
                <c:pt idx="8">
                  <c:v>595</c:v>
                </c:pt>
                <c:pt idx="9">
                  <c:v>595</c:v>
                </c:pt>
                <c:pt idx="10">
                  <c:v>595</c:v>
                </c:pt>
                <c:pt idx="11">
                  <c:v>595</c:v>
                </c:pt>
                <c:pt idx="12">
                  <c:v>595</c:v>
                </c:pt>
                <c:pt idx="13">
                  <c:v>595</c:v>
                </c:pt>
                <c:pt idx="14">
                  <c:v>595</c:v>
                </c:pt>
                <c:pt idx="15">
                  <c:v>595</c:v>
                </c:pt>
                <c:pt idx="16">
                  <c:v>595</c:v>
                </c:pt>
                <c:pt idx="17">
                  <c:v>595</c:v>
                </c:pt>
                <c:pt idx="18">
                  <c:v>595</c:v>
                </c:pt>
                <c:pt idx="19">
                  <c:v>595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64</c:v>
                </c:pt>
                <c:pt idx="1">
                  <c:v>88</c:v>
                </c:pt>
                <c:pt idx="2">
                  <c:v>74</c:v>
                </c:pt>
                <c:pt idx="3">
                  <c:v>103</c:v>
                </c:pt>
                <c:pt idx="4">
                  <c:v>59</c:v>
                </c:pt>
                <c:pt idx="5">
                  <c:v>83</c:v>
                </c:pt>
                <c:pt idx="6">
                  <c:v>148</c:v>
                </c:pt>
                <c:pt idx="7">
                  <c:v>69</c:v>
                </c:pt>
                <c:pt idx="8">
                  <c:v>96</c:v>
                </c:pt>
                <c:pt idx="9">
                  <c:v>78</c:v>
                </c:pt>
                <c:pt idx="10">
                  <c:v>121</c:v>
                </c:pt>
                <c:pt idx="11">
                  <c:v>66</c:v>
                </c:pt>
                <c:pt idx="12">
                  <c:v>93</c:v>
                </c:pt>
                <c:pt idx="13">
                  <c:v>108</c:v>
                </c:pt>
                <c:pt idx="14">
                  <c:v>72</c:v>
                </c:pt>
                <c:pt idx="15">
                  <c:v>86</c:v>
                </c:pt>
                <c:pt idx="16">
                  <c:v>79</c:v>
                </c:pt>
                <c:pt idx="17">
                  <c:v>162</c:v>
                </c:pt>
                <c:pt idx="18">
                  <c:v>98</c:v>
                </c:pt>
                <c:pt idx="19">
                  <c:v>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10.pn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png"/><Relationship Id="rId13" Type="http://schemas.openxmlformats.org/officeDocument/2006/relationships/image" Target="../media/image-26-13.png"/><Relationship Id="rId14" Type="http://schemas.openxmlformats.org/officeDocument/2006/relationships/image" Target="../media/image-26-14.png"/><Relationship Id="rId15" Type="http://schemas.openxmlformats.org/officeDocument/2006/relationships/image" Target="../media/image-26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에이전트를 고정 8데스크로 두지 않는다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뜰 때만 소집됐다가 봉투를 내고 사라진다. 그날 변동분만 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20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5  +  이벤트 소집 15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리서치 7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 2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 3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준법·감사 3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 3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의결 2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Text 56"/>
          <p:cNvSpPr txBox="1"/>
          <p:nvPr/>
        </p:nvSpPr>
        <p:spPr>
          <a:xfrm>
            <a:off x="6986016" y="4663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jt1993 모멘텀은 코스닥에서 방향이 뒤집힌다 — 널리 알려진 사실이다.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하되 "우리 표본에서는 반대"가 값에 붙어 나간다.</a:t>
            </a:r>
            <a:endParaRPr lang="en-US" sz="950" dirty="0"/>
          </a:p>
        </p:txBody>
      </p:sp>
      <p:sp>
        <p:nvSpPr>
          <p:cNvPr id="64" name="Text 57"/>
          <p:cNvSpPr txBox="1"/>
          <p:nvPr/>
        </p:nvSpPr>
        <p:spPr>
          <a:xfrm>
            <a:off x="6986016" y="51937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매번 표본 구간과 함께 기록된다. 같은 논문이라도 구간이 바뀌면 판정이 바뀔 수 있고, 그 변화 자체가 신호다.</a:t>
            </a:r>
            <a:endParaRPr lang="en-US" sz="950" dirty="0"/>
          </a:p>
        </p:txBody>
      </p:sp>
      <p:sp>
        <p:nvSpPr>
          <p:cNvPr id="65" name="Shape 58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6" name="Shape 59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2.31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옮긴다 — 20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야심이 아니라 CATALOG 가 정한다. 절마다 공급 데이터가 선언돼 있고, 데이터가 있는 절에만 담당을 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093976" cy="566928"/>
          </a:xfrm>
          <a:prstGeom prst="rect">
            <a:avLst/>
          </a:prstGeom>
          <a:solidFill>
            <a:srgbClr val="4FC3F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73936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54864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74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기업분석역</a:t>
            </a:r>
            <a:endParaRPr lang="en-US" sz="760" dirty="0"/>
          </a:p>
        </p:txBody>
      </p:sp>
      <p:sp>
        <p:nvSpPr>
          <p:cNvPr id="13" name="Text 10"/>
          <p:cNvSpPr txBox="1"/>
          <p:nvPr/>
        </p:nvSpPr>
        <p:spPr>
          <a:xfrm>
            <a:off x="207568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 · §12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credit-analyst</a:t>
            </a:r>
            <a:endParaRPr lang="en-US" sz="74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크레딧분석역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207568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§13 · §11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4864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governance-analyst</a:t>
            </a:r>
            <a:endParaRPr lang="en-US" sz="74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지배구조분석역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207568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§14 · §15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48640" y="3566160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3584448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capital-structure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3739896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자본구조분석역</a:t>
            </a:r>
            <a:endParaRPr lang="en-US" sz="760" dirty="0"/>
          </a:p>
        </p:txBody>
      </p:sp>
      <p:sp>
        <p:nvSpPr>
          <p:cNvPr id="25" name="Text 22"/>
          <p:cNvSpPr txBox="1"/>
          <p:nvPr/>
        </p:nvSpPr>
        <p:spPr>
          <a:xfrm>
            <a:off x="2075688" y="356616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§6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48640" y="3968496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3986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74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142232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계량분석역</a:t>
            </a:r>
            <a:endParaRPr lang="en-US" sz="760" dirty="0"/>
          </a:p>
        </p:txBody>
      </p:sp>
      <p:sp>
        <p:nvSpPr>
          <p:cNvPr id="29" name="Text 26"/>
          <p:cNvSpPr txBox="1"/>
          <p:nvPr/>
        </p:nvSpPr>
        <p:spPr>
          <a:xfrm>
            <a:off x="2075688" y="396849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548640" y="437083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38912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74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54456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매크로전략역</a:t>
            </a:r>
            <a:endParaRPr lang="en-US" sz="760" dirty="0"/>
          </a:p>
        </p:txBody>
      </p:sp>
      <p:sp>
        <p:nvSpPr>
          <p:cNvPr id="33" name="Text 30"/>
          <p:cNvSpPr txBox="1"/>
          <p:nvPr/>
        </p:nvSpPr>
        <p:spPr>
          <a:xfrm>
            <a:off x="2075688" y="437083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§18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548640" y="477316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0080" y="479145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return-analyst</a:t>
            </a:r>
            <a:endParaRPr lang="en-US" sz="740" dirty="0"/>
          </a:p>
        </p:txBody>
      </p:sp>
      <p:sp>
        <p:nvSpPr>
          <p:cNvPr id="36" name="Text 33"/>
          <p:cNvSpPr txBox="1"/>
          <p:nvPr/>
        </p:nvSpPr>
        <p:spPr>
          <a:xfrm>
            <a:off x="640080" y="494690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수익률분석역</a:t>
            </a:r>
            <a:endParaRPr lang="en-US" sz="760" dirty="0"/>
          </a:p>
        </p:txBody>
      </p:sp>
      <p:sp>
        <p:nvSpPr>
          <p:cNvPr id="37" name="Text 34"/>
          <p:cNvSpPr txBox="1"/>
          <p:nvPr/>
        </p:nvSpPr>
        <p:spPr>
          <a:xfrm>
            <a:off x="2075688" y="477316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§9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286207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6"/>
          <p:cNvSpPr/>
          <p:nvPr/>
        </p:nvSpPr>
        <p:spPr>
          <a:xfrm>
            <a:off x="2811780" y="1700784"/>
            <a:ext cx="2093976" cy="566928"/>
          </a:xfrm>
          <a:prstGeom prst="rect">
            <a:avLst/>
          </a:prstGeom>
          <a:solidFill>
            <a:srgbClr val="FFB627"/>
          </a:solidFill>
          <a:ln/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773936"/>
            <a:ext cx="420624" cy="420624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337870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트레이딩·집행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337870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750" dirty="0"/>
          </a:p>
        </p:txBody>
      </p:sp>
      <p:sp>
        <p:nvSpPr>
          <p:cNvPr id="43" name="Shape 39"/>
          <p:cNvSpPr/>
          <p:nvPr/>
        </p:nvSpPr>
        <p:spPr>
          <a:xfrm>
            <a:off x="281178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0322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740" dirty="0"/>
          </a:p>
        </p:txBody>
      </p:sp>
      <p:sp>
        <p:nvSpPr>
          <p:cNvPr id="45" name="Text 41"/>
          <p:cNvSpPr txBox="1"/>
          <p:nvPr/>
        </p:nvSpPr>
        <p:spPr>
          <a:xfrm>
            <a:off x="290322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760" dirty="0"/>
          </a:p>
        </p:txBody>
      </p:sp>
      <p:sp>
        <p:nvSpPr>
          <p:cNvPr id="46" name="Text 42"/>
          <p:cNvSpPr txBox="1"/>
          <p:nvPr/>
        </p:nvSpPr>
        <p:spPr>
          <a:xfrm>
            <a:off x="433882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281178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90322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liquidity-analyst</a:t>
            </a:r>
            <a:endParaRPr lang="en-US" sz="740" dirty="0"/>
          </a:p>
        </p:txBody>
      </p:sp>
      <p:sp>
        <p:nvSpPr>
          <p:cNvPr id="49" name="Text 45"/>
          <p:cNvSpPr txBox="1"/>
          <p:nvPr/>
        </p:nvSpPr>
        <p:spPr>
          <a:xfrm>
            <a:off x="290322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유동성분석역</a:t>
            </a:r>
            <a:endParaRPr lang="en-US" sz="760" dirty="0"/>
          </a:p>
        </p:txBody>
      </p:sp>
      <p:sp>
        <p:nvSpPr>
          <p:cNvPr id="50" name="Text 46"/>
          <p:cNvSpPr txBox="1"/>
          <p:nvPr/>
        </p:nvSpPr>
        <p:spPr>
          <a:xfrm>
            <a:off x="433882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§8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512521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48"/>
          <p:cNvSpPr/>
          <p:nvPr/>
        </p:nvSpPr>
        <p:spPr>
          <a:xfrm>
            <a:off x="5074920" y="1700784"/>
            <a:ext cx="2093976" cy="566928"/>
          </a:xfrm>
          <a:prstGeom prst="rect">
            <a:avLst/>
          </a:prstGeom>
          <a:solidFill>
            <a:srgbClr val="FF4D6D"/>
          </a:solidFill>
          <a:ln/>
        </p:spPr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773936"/>
            <a:ext cx="420624" cy="420624"/>
          </a:xfrm>
          <a:prstGeom prst="rect">
            <a:avLst/>
          </a:prstGeom>
        </p:spPr>
      </p:pic>
      <p:sp>
        <p:nvSpPr>
          <p:cNvPr id="54" name="Text 49"/>
          <p:cNvSpPr txBox="1"/>
          <p:nvPr/>
        </p:nvSpPr>
        <p:spPr>
          <a:xfrm>
            <a:off x="564184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리스크관리본부</a:t>
            </a:r>
            <a:endParaRPr lang="en-US" sz="1150" dirty="0"/>
          </a:p>
        </p:txBody>
      </p:sp>
      <p:sp>
        <p:nvSpPr>
          <p:cNvPr id="55" name="Text 50"/>
          <p:cNvSpPr txBox="1"/>
          <p:nvPr/>
        </p:nvSpPr>
        <p:spPr>
          <a:xfrm>
            <a:off x="564184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750" dirty="0"/>
          </a:p>
        </p:txBody>
      </p:sp>
      <p:sp>
        <p:nvSpPr>
          <p:cNvPr id="56" name="Shape 51"/>
          <p:cNvSpPr/>
          <p:nvPr/>
        </p:nvSpPr>
        <p:spPr>
          <a:xfrm>
            <a:off x="507492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516636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market-risk</a:t>
            </a:r>
            <a:endParaRPr lang="en-US" sz="740" dirty="0"/>
          </a:p>
        </p:txBody>
      </p:sp>
      <p:sp>
        <p:nvSpPr>
          <p:cNvPr id="58" name="Text 53"/>
          <p:cNvSpPr txBox="1"/>
          <p:nvPr/>
        </p:nvSpPr>
        <p:spPr>
          <a:xfrm>
            <a:off x="516636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시장리스크심사역</a:t>
            </a:r>
            <a:endParaRPr lang="en-US" sz="760" dirty="0"/>
          </a:p>
        </p:txBody>
      </p:sp>
      <p:sp>
        <p:nvSpPr>
          <p:cNvPr id="59" name="Text 54"/>
          <p:cNvSpPr txBox="1"/>
          <p:nvPr/>
        </p:nvSpPr>
        <p:spPr>
          <a:xfrm>
            <a:off x="660196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507492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16636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concentration-risk</a:t>
            </a:r>
            <a:endParaRPr lang="en-US" sz="740" dirty="0"/>
          </a:p>
        </p:txBody>
      </p:sp>
      <p:sp>
        <p:nvSpPr>
          <p:cNvPr id="62" name="Text 57"/>
          <p:cNvSpPr txBox="1"/>
          <p:nvPr/>
        </p:nvSpPr>
        <p:spPr>
          <a:xfrm>
            <a:off x="516636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집중도심사역</a:t>
            </a:r>
            <a:endParaRPr lang="en-US" sz="760" dirty="0"/>
          </a:p>
        </p:txBody>
      </p:sp>
      <p:sp>
        <p:nvSpPr>
          <p:cNvPr id="63" name="Text 58"/>
          <p:cNvSpPr txBox="1"/>
          <p:nvPr/>
        </p:nvSpPr>
        <p:spPr>
          <a:xfrm>
            <a:off x="660196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</a:t>
            </a:r>
            <a:endParaRPr lang="en-US" sz="700" dirty="0"/>
          </a:p>
        </p:txBody>
      </p:sp>
      <p:sp>
        <p:nvSpPr>
          <p:cNvPr id="64" name="Shape 59"/>
          <p:cNvSpPr/>
          <p:nvPr/>
        </p:nvSpPr>
        <p:spPr>
          <a:xfrm>
            <a:off x="507492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516636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model-risk ★</a:t>
            </a:r>
            <a:endParaRPr lang="en-US" sz="740" dirty="0"/>
          </a:p>
        </p:txBody>
      </p:sp>
      <p:sp>
        <p:nvSpPr>
          <p:cNvPr id="66" name="Text 61"/>
          <p:cNvSpPr txBox="1"/>
          <p:nvPr/>
        </p:nvSpPr>
        <p:spPr>
          <a:xfrm>
            <a:off x="516636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모델리스크심사역</a:t>
            </a:r>
            <a:endParaRPr lang="en-US" sz="760" dirty="0"/>
          </a:p>
        </p:txBody>
      </p:sp>
      <p:sp>
        <p:nvSpPr>
          <p:cNvPr id="67" name="Text 62"/>
          <p:cNvSpPr txBox="1"/>
          <p:nvPr/>
        </p:nvSpPr>
        <p:spPr>
          <a:xfrm>
            <a:off x="660196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 검증</a:t>
            </a:r>
            <a:endParaRPr lang="en-US" sz="700" dirty="0"/>
          </a:p>
        </p:txBody>
      </p:sp>
      <p:sp>
        <p:nvSpPr>
          <p:cNvPr id="68" name="Text 63"/>
          <p:cNvSpPr txBox="1"/>
          <p:nvPr/>
        </p:nvSpPr>
        <p:spPr>
          <a:xfrm>
            <a:off x="507492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850" dirty="0"/>
          </a:p>
        </p:txBody>
      </p:sp>
      <p:sp>
        <p:nvSpPr>
          <p:cNvPr id="69" name="Shape 64"/>
          <p:cNvSpPr/>
          <p:nvPr/>
        </p:nvSpPr>
        <p:spPr>
          <a:xfrm>
            <a:off x="738835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5"/>
          <p:cNvSpPr/>
          <p:nvPr/>
        </p:nvSpPr>
        <p:spPr>
          <a:xfrm>
            <a:off x="7338060" y="1700784"/>
            <a:ext cx="2093976" cy="566928"/>
          </a:xfrm>
          <a:prstGeom prst="rect">
            <a:avLst/>
          </a:prstGeom>
          <a:solidFill>
            <a:srgbClr val="FF7847"/>
          </a:solidFill>
          <a:ln/>
        </p:spPr>
      </p:sp>
      <p:pic>
        <p:nvPicPr>
          <p:cNvPr id="7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1773936"/>
            <a:ext cx="420624" cy="420624"/>
          </a:xfrm>
          <a:prstGeom prst="rect">
            <a:avLst/>
          </a:prstGeom>
        </p:spPr>
      </p:pic>
      <p:sp>
        <p:nvSpPr>
          <p:cNvPr id="72" name="Text 66"/>
          <p:cNvSpPr txBox="1"/>
          <p:nvPr/>
        </p:nvSpPr>
        <p:spPr>
          <a:xfrm>
            <a:off x="790498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준법·감사</a:t>
            </a:r>
            <a:endParaRPr lang="en-US" sz="1150" dirty="0"/>
          </a:p>
        </p:txBody>
      </p:sp>
      <p:sp>
        <p:nvSpPr>
          <p:cNvPr id="73" name="Text 67"/>
          <p:cNvSpPr txBox="1"/>
          <p:nvPr/>
        </p:nvSpPr>
        <p:spPr>
          <a:xfrm>
            <a:off x="790498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74" name="Shape 68"/>
          <p:cNvSpPr/>
          <p:nvPr/>
        </p:nvSpPr>
        <p:spPr>
          <a:xfrm>
            <a:off x="733806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742950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740" dirty="0"/>
          </a:p>
        </p:txBody>
      </p:sp>
      <p:sp>
        <p:nvSpPr>
          <p:cNvPr id="76" name="Text 70"/>
          <p:cNvSpPr txBox="1"/>
          <p:nvPr/>
        </p:nvSpPr>
        <p:spPr>
          <a:xfrm>
            <a:off x="742950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</a:t>
            </a:r>
            <a:endParaRPr lang="en-US" sz="760" dirty="0"/>
          </a:p>
        </p:txBody>
      </p:sp>
      <p:sp>
        <p:nvSpPr>
          <p:cNvPr id="77" name="Text 71"/>
          <p:cNvSpPr txBox="1"/>
          <p:nvPr/>
        </p:nvSpPr>
        <p:spPr>
          <a:xfrm>
            <a:off x="886510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①~⑦</a:t>
            </a:r>
            <a:endParaRPr lang="en-US" sz="700" dirty="0"/>
          </a:p>
        </p:txBody>
      </p:sp>
      <p:sp>
        <p:nvSpPr>
          <p:cNvPr id="78" name="Shape 72"/>
          <p:cNvSpPr/>
          <p:nvPr/>
        </p:nvSpPr>
        <p:spPr>
          <a:xfrm>
            <a:off x="733806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742950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internal-audit</a:t>
            </a:r>
            <a:endParaRPr lang="en-US" sz="740" dirty="0"/>
          </a:p>
        </p:txBody>
      </p:sp>
      <p:sp>
        <p:nvSpPr>
          <p:cNvPr id="80" name="Text 74"/>
          <p:cNvSpPr txBox="1"/>
          <p:nvPr/>
        </p:nvSpPr>
        <p:spPr>
          <a:xfrm>
            <a:off x="742950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내부감사역</a:t>
            </a:r>
            <a:endParaRPr lang="en-US" sz="760" dirty="0"/>
          </a:p>
        </p:txBody>
      </p:sp>
      <p:sp>
        <p:nvSpPr>
          <p:cNvPr id="81" name="Text 75"/>
          <p:cNvSpPr txBox="1"/>
          <p:nvPr/>
        </p:nvSpPr>
        <p:spPr>
          <a:xfrm>
            <a:off x="886510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 사후</a:t>
            </a:r>
            <a:endParaRPr lang="en-US" sz="700" dirty="0"/>
          </a:p>
        </p:txBody>
      </p:sp>
      <p:sp>
        <p:nvSpPr>
          <p:cNvPr id="82" name="Shape 76"/>
          <p:cNvSpPr/>
          <p:nvPr/>
        </p:nvSpPr>
        <p:spPr>
          <a:xfrm>
            <a:off x="733806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83" name="Text 77"/>
          <p:cNvSpPr txBox="1"/>
          <p:nvPr/>
        </p:nvSpPr>
        <p:spPr>
          <a:xfrm>
            <a:off x="742950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disclosure-control</a:t>
            </a:r>
            <a:endParaRPr lang="en-US" sz="740" dirty="0"/>
          </a:p>
        </p:txBody>
      </p:sp>
      <p:sp>
        <p:nvSpPr>
          <p:cNvPr id="84" name="Text 78"/>
          <p:cNvSpPr txBox="1"/>
          <p:nvPr/>
        </p:nvSpPr>
        <p:spPr>
          <a:xfrm>
            <a:off x="742950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배포통제역</a:t>
            </a:r>
            <a:endParaRPr lang="en-US" sz="760" dirty="0"/>
          </a:p>
        </p:txBody>
      </p:sp>
      <p:sp>
        <p:nvSpPr>
          <p:cNvPr id="85" name="Text 79"/>
          <p:cNvSpPr txBox="1"/>
          <p:nvPr/>
        </p:nvSpPr>
        <p:spPr>
          <a:xfrm>
            <a:off x="886510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700" dirty="0"/>
          </a:p>
        </p:txBody>
      </p:sp>
      <p:sp>
        <p:nvSpPr>
          <p:cNvPr id="86" name="Text 80"/>
          <p:cNvSpPr txBox="1"/>
          <p:nvPr/>
        </p:nvSpPr>
        <p:spPr>
          <a:xfrm>
            <a:off x="733806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850" dirty="0"/>
          </a:p>
        </p:txBody>
      </p:sp>
      <p:sp>
        <p:nvSpPr>
          <p:cNvPr id="87" name="Shape 81"/>
          <p:cNvSpPr/>
          <p:nvPr/>
        </p:nvSpPr>
        <p:spPr>
          <a:xfrm>
            <a:off x="965149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8" name="Shape 82"/>
          <p:cNvSpPr/>
          <p:nvPr/>
        </p:nvSpPr>
        <p:spPr>
          <a:xfrm>
            <a:off x="9601200" y="1700784"/>
            <a:ext cx="2093976" cy="566928"/>
          </a:xfrm>
          <a:prstGeom prst="rect">
            <a:avLst/>
          </a:prstGeom>
          <a:solidFill>
            <a:srgbClr val="3DFA7E"/>
          </a:solidFill>
          <a:ln/>
        </p:spPr>
      </p:sp>
      <p:pic>
        <p:nvPicPr>
          <p:cNvPr id="8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1773936"/>
            <a:ext cx="420624" cy="420624"/>
          </a:xfrm>
          <a:prstGeom prst="rect">
            <a:avLst/>
          </a:prstGeom>
        </p:spPr>
      </p:pic>
      <p:sp>
        <p:nvSpPr>
          <p:cNvPr id="90" name="Text 83"/>
          <p:cNvSpPr txBox="1"/>
          <p:nvPr/>
        </p:nvSpPr>
        <p:spPr>
          <a:xfrm>
            <a:off x="1016812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데이터·IT</a:t>
            </a:r>
            <a:endParaRPr lang="en-US" sz="1150" dirty="0"/>
          </a:p>
        </p:txBody>
      </p:sp>
      <p:sp>
        <p:nvSpPr>
          <p:cNvPr id="91" name="Text 84"/>
          <p:cNvSpPr txBox="1"/>
          <p:nvPr/>
        </p:nvSpPr>
        <p:spPr>
          <a:xfrm>
            <a:off x="1016812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</a:t>
            </a:r>
            <a:endParaRPr lang="en-US" sz="750" dirty="0"/>
          </a:p>
        </p:txBody>
      </p:sp>
      <p:sp>
        <p:nvSpPr>
          <p:cNvPr id="92" name="Shape 85"/>
          <p:cNvSpPr/>
          <p:nvPr/>
        </p:nvSpPr>
        <p:spPr>
          <a:xfrm>
            <a:off x="960120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93" name="Text 86"/>
          <p:cNvSpPr txBox="1"/>
          <p:nvPr/>
        </p:nvSpPr>
        <p:spPr>
          <a:xfrm>
            <a:off x="969264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ingest-ops</a:t>
            </a:r>
            <a:endParaRPr lang="en-US" sz="740" dirty="0"/>
          </a:p>
        </p:txBody>
      </p:sp>
      <p:sp>
        <p:nvSpPr>
          <p:cNvPr id="94" name="Text 87"/>
          <p:cNvSpPr txBox="1"/>
          <p:nvPr/>
        </p:nvSpPr>
        <p:spPr>
          <a:xfrm>
            <a:off x="969264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적재운영역</a:t>
            </a:r>
            <a:endParaRPr lang="en-US" sz="760" dirty="0"/>
          </a:p>
        </p:txBody>
      </p:sp>
      <p:sp>
        <p:nvSpPr>
          <p:cNvPr id="95" name="Text 88"/>
          <p:cNvSpPr txBox="1"/>
          <p:nvPr/>
        </p:nvSpPr>
        <p:spPr>
          <a:xfrm>
            <a:off x="1112824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</a:t>
            </a:r>
            <a:endParaRPr lang="en-US" sz="700" dirty="0"/>
          </a:p>
        </p:txBody>
      </p:sp>
      <p:sp>
        <p:nvSpPr>
          <p:cNvPr id="96" name="Shape 89"/>
          <p:cNvSpPr/>
          <p:nvPr/>
        </p:nvSpPr>
        <p:spPr>
          <a:xfrm>
            <a:off x="960120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969264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data-quality</a:t>
            </a:r>
            <a:endParaRPr lang="en-US" sz="740" dirty="0"/>
          </a:p>
        </p:txBody>
      </p:sp>
      <p:sp>
        <p:nvSpPr>
          <p:cNvPr id="98" name="Text 91"/>
          <p:cNvSpPr txBox="1"/>
          <p:nvPr/>
        </p:nvSpPr>
        <p:spPr>
          <a:xfrm>
            <a:off x="969264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품질관리역</a:t>
            </a:r>
            <a:endParaRPr lang="en-US" sz="760" dirty="0"/>
          </a:p>
        </p:txBody>
      </p:sp>
      <p:sp>
        <p:nvSpPr>
          <p:cNvPr id="99" name="Text 92"/>
          <p:cNvSpPr txBox="1"/>
          <p:nvPr/>
        </p:nvSpPr>
        <p:spPr>
          <a:xfrm>
            <a:off x="1112824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00" dirty="0"/>
          </a:p>
        </p:txBody>
      </p:sp>
      <p:sp>
        <p:nvSpPr>
          <p:cNvPr id="100" name="Shape 93"/>
          <p:cNvSpPr/>
          <p:nvPr/>
        </p:nvSpPr>
        <p:spPr>
          <a:xfrm>
            <a:off x="960120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969264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factor-librarian</a:t>
            </a:r>
            <a:endParaRPr lang="en-US" sz="740" dirty="0"/>
          </a:p>
        </p:txBody>
      </p:sp>
      <p:sp>
        <p:nvSpPr>
          <p:cNvPr id="102" name="Text 95"/>
          <p:cNvSpPr txBox="1"/>
          <p:nvPr/>
        </p:nvSpPr>
        <p:spPr>
          <a:xfrm>
            <a:off x="969264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팩터관리역</a:t>
            </a:r>
            <a:endParaRPr lang="en-US" sz="760" dirty="0"/>
          </a:p>
        </p:txBody>
      </p:sp>
      <p:sp>
        <p:nvSpPr>
          <p:cNvPr id="103" name="Text 96"/>
          <p:cNvSpPr txBox="1"/>
          <p:nvPr/>
        </p:nvSpPr>
        <p:spPr>
          <a:xfrm>
            <a:off x="1112824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원장</a:t>
            </a:r>
            <a:endParaRPr lang="en-US" sz="700" dirty="0"/>
          </a:p>
        </p:txBody>
      </p:sp>
      <p:sp>
        <p:nvSpPr>
          <p:cNvPr id="104" name="Text 97"/>
          <p:cNvSpPr txBox="1"/>
          <p:nvPr/>
        </p:nvSpPr>
        <p:spPr>
          <a:xfrm>
            <a:off x="960120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 단독</a:t>
            </a:r>
            <a:endParaRPr lang="en-US" sz="850" dirty="0"/>
          </a:p>
        </p:txBody>
      </p:sp>
      <p:sp>
        <p:nvSpPr>
          <p:cNvPr id="105" name="Shape 98"/>
          <p:cNvSpPr/>
          <p:nvPr/>
        </p:nvSpPr>
        <p:spPr>
          <a:xfrm>
            <a:off x="598932" y="5262372"/>
            <a:ext cx="11094415" cy="6583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6" name="Shape 99"/>
          <p:cNvSpPr/>
          <p:nvPr/>
        </p:nvSpPr>
        <p:spPr>
          <a:xfrm>
            <a:off x="548640" y="5212080"/>
            <a:ext cx="11094415" cy="65836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107" name="Text 100"/>
          <p:cNvSpPr txBox="1"/>
          <p:nvPr/>
        </p:nvSpPr>
        <p:spPr>
          <a:xfrm>
            <a:off x="768096" y="52120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사람이 결정한다</a:t>
            </a:r>
            <a:endParaRPr lang="en-US" sz="1300" dirty="0"/>
          </a:p>
        </p:txBody>
      </p:sp>
      <p:sp>
        <p:nvSpPr>
          <p:cNvPr id="108" name="Shape 101"/>
          <p:cNvSpPr/>
          <p:nvPr/>
        </p:nvSpPr>
        <p:spPr>
          <a:xfrm>
            <a:off x="5120640" y="5340096"/>
            <a:ext cx="3108960" cy="402336"/>
          </a:xfrm>
          <a:prstGeom prst="rect">
            <a:avLst/>
          </a:prstGeom>
          <a:solidFill>
            <a:srgbClr val="2E2408"/>
          </a:solidFill>
          <a:ln/>
        </p:spPr>
      </p:sp>
      <p:sp>
        <p:nvSpPr>
          <p:cNvPr id="109" name="Text 102"/>
          <p:cNvSpPr txBox="1"/>
          <p:nvPr/>
        </p:nvSpPr>
        <p:spPr>
          <a:xfrm>
            <a:off x="5248656" y="535838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research-editor</a:t>
            </a:r>
            <a:endParaRPr lang="en-US" sz="850" dirty="0"/>
          </a:p>
        </p:txBody>
      </p:sp>
      <p:sp>
        <p:nvSpPr>
          <p:cNvPr id="110" name="Text 103"/>
          <p:cNvSpPr txBox="1"/>
          <p:nvPr/>
        </p:nvSpPr>
        <p:spPr>
          <a:xfrm>
            <a:off x="5248656" y="553212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리서치에디터 · §1 · §3</a:t>
            </a:r>
            <a:endParaRPr lang="en-US" sz="800" dirty="0"/>
          </a:p>
        </p:txBody>
      </p:sp>
      <p:sp>
        <p:nvSpPr>
          <p:cNvPr id="111" name="Shape 104"/>
          <p:cNvSpPr/>
          <p:nvPr/>
        </p:nvSpPr>
        <p:spPr>
          <a:xfrm>
            <a:off x="8412480" y="5340096"/>
            <a:ext cx="3108960" cy="402336"/>
          </a:xfrm>
          <a:prstGeom prst="rect">
            <a:avLst/>
          </a:prstGeom>
          <a:solidFill>
            <a:srgbClr val="2E2408"/>
          </a:solidFill>
          <a:ln/>
        </p:spPr>
      </p:sp>
      <p:sp>
        <p:nvSpPr>
          <p:cNvPr id="112" name="Text 105"/>
          <p:cNvSpPr txBox="1"/>
          <p:nvPr/>
        </p:nvSpPr>
        <p:spPr>
          <a:xfrm>
            <a:off x="8540496" y="535838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50" dirty="0"/>
          </a:p>
        </p:txBody>
      </p:sp>
      <p:sp>
        <p:nvSpPr>
          <p:cNvPr id="113" name="Text 106"/>
          <p:cNvSpPr txBox="1"/>
          <p:nvPr/>
        </p:nvSpPr>
        <p:spPr>
          <a:xfrm>
            <a:off x="8540496" y="553212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· 조립 · 쟁점 정렬</a:t>
            </a:r>
            <a:endParaRPr lang="en-US" sz="800" dirty="0"/>
          </a:p>
        </p:txBody>
      </p:sp>
      <p:sp>
        <p:nvSpPr>
          <p:cNvPr id="114" name="Shape 107"/>
          <p:cNvSpPr/>
          <p:nvPr/>
        </p:nvSpPr>
        <p:spPr>
          <a:xfrm>
            <a:off x="598932" y="6030468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8"/>
          <p:cNvSpPr/>
          <p:nvPr/>
        </p:nvSpPr>
        <p:spPr>
          <a:xfrm>
            <a:off x="548640" y="5980176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9"/>
          <p:cNvSpPr txBox="1"/>
          <p:nvPr/>
        </p:nvSpPr>
        <p:spPr>
          <a:xfrm>
            <a:off x="786384" y="5980176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→ 20 으로 늘어도 인스턴스는 늘지 않는다.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소집이라 조용한 날에는 20개 중 두셋만 뜬다. 늘어나는 것은 역할이지 상시 부하가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CATALOG 가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 SECTIONS 18개가 선언돼 있고, CATALOG 31개 항목이 각각 어느 절로 가는지 이미 적혀 있다. 그 매핑이 곧 조직도다.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77240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395728"/>
                <a:gridCol w="2889504"/>
                <a:gridCol w="1920240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다루는가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공급 데이터 (CATALOG)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현황 · 집중도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krx.bydd.close · mktcap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 · 벤치마크 대비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krx.bydd.ohlc · krx.idx.close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 (변동성 · VaR · 상관)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krx.bydd.high/low/close · idx.close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 요약 (XBRL)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dart.fs.revenue/op/net/assets/equity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 구조 · 주주 구성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ds002.stock_total · treasury · largest_pct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실행비용 · 미시구조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krx.bydd.volume · value · kis.snap.*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총수익률 · 배당 반영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ds002.dividend_ps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규제 · 규약 · 희석 감시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ds005.cb_amount · cb_conv_price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CAR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ds001.rcept_dt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사채 만기 · 자금 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ds002.bond_balance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지분 · 내부자 매매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ds004.major_holder · exec_holder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· 지배구조 변동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ds002.audit_opinion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스코어카드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dart.fs.op/net/assets/equity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72500" y="1732788"/>
            <a:ext cx="3118104" cy="21031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8522208" y="1682496"/>
            <a:ext cx="3118104" cy="210312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23376" y="1810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두지 않는 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23376" y="2157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21396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달라진 것 — 파생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723376" y="245059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24323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회수단가 갭 — 사내 데이터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723376" y="27432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 — 메타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723376" y="3035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§17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30175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펀드 지표 — 공급원 없음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723376" y="33284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§18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33101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볼 것 — 캘린더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572500" y="3982212"/>
            <a:ext cx="3118104" cy="17007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7"/>
          <p:cNvSpPr/>
          <p:nvPr/>
        </p:nvSpPr>
        <p:spPr>
          <a:xfrm>
            <a:off x="8522208" y="3931920"/>
            <a:ext cx="3118104" cy="17007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40599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없는 절에는 데스크를 만들지 않는다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3376" y="4553712"/>
            <a:ext cx="27614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놓으면 "뭐라도 말해야 하니까" 없는 값을 지어낸다. §17 펀드 지표는 공급원이 없으므로 비워 둔다 — 이 프로젝트가 가장 경계하는 실패다.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98932" y="5701284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1"/>
          <p:cNvSpPr/>
          <p:nvPr/>
        </p:nvSpPr>
        <p:spPr>
          <a:xfrm>
            <a:off x="548640" y="5650992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5650992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개는 근거가 없었다.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§13 사채만기 · §14 지분 · §11 희석은 각각 별도 공급 데이터를 가진 독립된 절인데, 8 데스크 체제에서는 equity-analyst 하나가 전부 뭉뚱그려 읽게 돼 있었다.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 — 일곱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데스크가 한 절을 읽는다. 담당 범위 밖은 읽지 않으므로, 읽지 않은 것에 대해 말할 여지가 없다.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기업분석역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§5 · §12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ds001.rcept_dt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 링크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 요약 해설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사실관계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원문만 인용. 제목 요약 금지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발행조건은 원문에 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크레딧분석역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§13 · §11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ds002.bond_balance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ds005.cb_amount · cb_conv_price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사채 만기 구조 · 자금 사용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잠재주식 · 희석 감시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리픽싱 하한은 우리가 넣은 값.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조항은 증권신고서 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지배구조분석역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§14 · §15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ds004.major_holder · exec_holder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ds002.audit_opinion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지분 변동 · 내부자 매매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감사의견 · 지배구조 변동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대량보유는 사후 보고다.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지연 가능성을 함께 적는다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자본구조분석역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ds002.stock_total · treasury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largest_pct · krx.bydd.shares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발행주식총수 · 자기주식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최대주주 지분 · 완전희석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공시라 시점차가 있다.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기준일과 경과일수를 붙인다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ledger.candles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ledger.papers (state=adopted)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검토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재현되지 않은 논문 인용 금지.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논문이 주장하지 않는 것을 함께 낸다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매크로전략역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 · §18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(ECOS 100대)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ledger.calendar · FRED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 (수준 아닌 분위)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금통위 · 만기 · 락업 일정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확약으로 서술하면 게이트 탈락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수익률분석역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ds002.dividend_ps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계열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총수익률 · 배당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 대비 초과분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희석과 권리락을 구분한 수정주가만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쓴다. 판별 불가는 '확인 필요'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 일곱 데스크는 서로의 산출물을 보지 않는다. 같은 결론으로 수렴하면 교차검증의 의미가 사라지기 때문이다. 불일치는 지우지 않고 IC 간사가 쟁점으로 올린다.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· 리스크관리본부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세 데스크는 전부 거부권을 갖는다. 숫자가 원장과 다르면 고쳐 주지 않고 돌려보낸다.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§7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exit_plan.csv (사내)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 시뮬레이션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시나리오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 (OrderNotAllowed).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유동성분석역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krx.bydd.volume · value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kis.snap.* (원장에 쓰지 않음)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스프레드 · 비유동성 · 매물대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반드시 함께 낸다.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참여율 가정을 표에 적는다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시장리스크심사역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krx.bydd.close · krx.idx.close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리서치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· VaR · 상관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인용된 값이 원장 값과 다르면 반려.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집중도심사역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krx.bydd.mktcap · close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원장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집중도 · 업종 편중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단일종목 한도 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한도값은 '사내' 등급이다.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model-risk ★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모델리스크심사역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러너 코드 · 팩터 정의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이력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설계 자체의 타당성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 구간 · 생존편의 점검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8데스크 체제에 없던 자리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관문을 누가 검증하는가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model-risk 는 이번 확장에서 새로 보인 자리다. 재현 관문을 넣었는데 그 재현 러너가 맞는지는 누가 보는가 — 실제 금융사에서 모델리스크관리가 준법감시와 별도로 존재하는 이유와 같다.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준법·감사 · 데이터·IT · 의결 — 여덟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이쪽은 새로운 해석을 만들지 않는다. 검사하고, 원장을 유지하고, 회의에 올린다.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 · CATALOG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통과시키는 것이 가장 위험하다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internal-audit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내부감사역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이력 · 실행 로그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스코어카드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검증 · 리플레이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승격·반려 분포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차단이 아니라 사후 확인이다.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준법감시와 역할을 섞지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disclosure-control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배포통제역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 · 수신자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생성된 리포트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워터마크 · 배포 범위 판정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대외 공유 전 승인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리포트에는 포트폴리오사 실명이 있다.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라이선스보다 열람범위가 실질이다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ingest-ops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적재운영역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diagnose · catalog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ingest · catchup · fundamentals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쓸 수 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data-quality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품질관리역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결측 현황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필드매핑 검증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신선도 · 결측 경고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"API 가 된다"와 "내 필드가 맞다"는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문제다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factor-librarian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팩터관리역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ki.papers/2 논문 원장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 · 경고 · 은퇴 상태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카탈로그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바꾸는 것은 배치이지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에이전트가 아니다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리서치에디터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 · §3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달라진 것 · 가격 벤치마크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일관성 · 중복 정리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문장을 다듬되 값을 바꾸지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요약이 원문보다 세지면 반려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데스크 간 불일치 · 결측 쟁점화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뿐, 결정은 사람이 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리스크 세 곳과 준법감시 중 하나라도 반려하면 그날 회의자료에서 해당 절이 통째로 빠지고, 그 자리에는 '반려됨 — 사유'가 남는다.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다섯뿐이다. 나머지 열다섯은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스무 데스크를 매일 전부 돌리는 대신, 그날 실제로 무언가 일어난 곳에만 에이전트를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37744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45973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4323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6334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37744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01752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099816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0723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data-quality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2735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· 결측 · 필드매핑 감시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01752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365760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39896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371246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factor-librarian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39136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상태 관리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365760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배치와 함께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749808" y="429768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79976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16736" y="43525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316736" y="45537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판정 · 발행 승인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3493008" y="42976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749808" y="493776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020056"/>
            <a:ext cx="402336" cy="40233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316736" y="49926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1316736" y="51937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</a:t>
            </a:r>
            <a:endParaRPr 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3493008" y="493776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8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15 역할 × N 인스턴스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740" dirty="0"/>
          </a:p>
        </p:txBody>
      </p:sp>
      <p:sp>
        <p:nvSpPr>
          <p:cNvPr id="41" name="Text 34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1건</a:t>
            </a:r>
            <a:endParaRPr lang="en-US" sz="800" dirty="0"/>
          </a:p>
        </p:txBody>
      </p:sp>
      <p:sp>
        <p:nvSpPr>
          <p:cNvPr id="42" name="Text 35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credit-analyst</a:t>
            </a:r>
            <a:endParaRPr lang="en-US" sz="740" dirty="0"/>
          </a:p>
        </p:txBody>
      </p:sp>
      <p:sp>
        <p:nvSpPr>
          <p:cNvPr id="46" name="Text 39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사채·CB 공시</a:t>
            </a:r>
            <a:endParaRPr lang="en-US" sz="800" dirty="0"/>
          </a:p>
        </p:txBody>
      </p:sp>
      <p:sp>
        <p:nvSpPr>
          <p:cNvPr id="47" name="Text 40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Text 43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governance-analyst</a:t>
            </a:r>
            <a:endParaRPr lang="en-US" sz="740" dirty="0"/>
          </a:p>
        </p:txBody>
      </p:sp>
      <p:sp>
        <p:nvSpPr>
          <p:cNvPr id="51" name="Text 44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지분 공시</a:t>
            </a:r>
            <a:endParaRPr lang="en-US" sz="800" dirty="0"/>
          </a:p>
        </p:txBody>
      </p:sp>
      <p:sp>
        <p:nvSpPr>
          <p:cNvPr id="52" name="Text 45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5" name="Text 48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capital-structure</a:t>
            </a:r>
            <a:endParaRPr lang="en-US" sz="740" dirty="0"/>
          </a:p>
        </p:txBody>
      </p:sp>
      <p:sp>
        <p:nvSpPr>
          <p:cNvPr id="56" name="Text 49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공시</a:t>
            </a:r>
            <a:endParaRPr lang="en-US" sz="800" dirty="0"/>
          </a:p>
        </p:txBody>
      </p:sp>
      <p:sp>
        <p:nvSpPr>
          <p:cNvPr id="57" name="Text 50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740" dirty="0"/>
          </a:p>
        </p:txBody>
      </p:sp>
      <p:sp>
        <p:nvSpPr>
          <p:cNvPr id="61" name="Text 54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1편</a:t>
            </a:r>
            <a:endParaRPr lang="en-US" sz="800" dirty="0"/>
          </a:p>
        </p:txBody>
      </p:sp>
      <p:sp>
        <p:nvSpPr>
          <p:cNvPr id="62" name="Text 55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63" name="Shape 56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5" name="Text 58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740" dirty="0"/>
          </a:p>
        </p:txBody>
      </p:sp>
      <p:sp>
        <p:nvSpPr>
          <p:cNvPr id="66" name="Text 59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갱신</a:t>
            </a:r>
            <a:endParaRPr lang="en-US" sz="800" dirty="0"/>
          </a:p>
        </p:txBody>
      </p:sp>
      <p:sp>
        <p:nvSpPr>
          <p:cNvPr id="67" name="Text 60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68" name="Shape 61"/>
          <p:cNvSpPr/>
          <p:nvPr/>
        </p:nvSpPr>
        <p:spPr>
          <a:xfrm>
            <a:off x="5084064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5175504" y="378561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70" name="Text 63"/>
          <p:cNvSpPr txBox="1"/>
          <p:nvPr/>
        </p:nvSpPr>
        <p:spPr>
          <a:xfrm>
            <a:off x="5340096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return-analyst</a:t>
            </a:r>
            <a:endParaRPr lang="en-US" sz="740" dirty="0"/>
          </a:p>
        </p:txBody>
      </p:sp>
      <p:sp>
        <p:nvSpPr>
          <p:cNvPr id="71" name="Text 64"/>
          <p:cNvSpPr txBox="1"/>
          <p:nvPr/>
        </p:nvSpPr>
        <p:spPr>
          <a:xfrm>
            <a:off x="5340096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공시</a:t>
            </a:r>
            <a:endParaRPr lang="en-US" sz="800" dirty="0"/>
          </a:p>
        </p:txBody>
      </p:sp>
      <p:sp>
        <p:nvSpPr>
          <p:cNvPr id="72" name="Text 65"/>
          <p:cNvSpPr txBox="1"/>
          <p:nvPr/>
        </p:nvSpPr>
        <p:spPr>
          <a:xfrm>
            <a:off x="6729984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73" name="Shape 66"/>
          <p:cNvSpPr/>
          <p:nvPr/>
        </p:nvSpPr>
        <p:spPr>
          <a:xfrm>
            <a:off x="7242048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4" name="Shape 67"/>
          <p:cNvSpPr/>
          <p:nvPr/>
        </p:nvSpPr>
        <p:spPr>
          <a:xfrm>
            <a:off x="7333488" y="378561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68"/>
          <p:cNvSpPr txBox="1"/>
          <p:nvPr/>
        </p:nvSpPr>
        <p:spPr>
          <a:xfrm>
            <a:off x="7498080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740" dirty="0"/>
          </a:p>
        </p:txBody>
      </p:sp>
      <p:sp>
        <p:nvSpPr>
          <p:cNvPr id="76" name="Text 69"/>
          <p:cNvSpPr txBox="1"/>
          <p:nvPr/>
        </p:nvSpPr>
        <p:spPr>
          <a:xfrm>
            <a:off x="7498080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변동</a:t>
            </a:r>
            <a:endParaRPr lang="en-US" sz="800" dirty="0"/>
          </a:p>
        </p:txBody>
      </p:sp>
      <p:sp>
        <p:nvSpPr>
          <p:cNvPr id="77" name="Text 70"/>
          <p:cNvSpPr txBox="1"/>
          <p:nvPr/>
        </p:nvSpPr>
        <p:spPr>
          <a:xfrm>
            <a:off x="8887968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78" name="Shape 71"/>
          <p:cNvSpPr/>
          <p:nvPr/>
        </p:nvSpPr>
        <p:spPr>
          <a:xfrm>
            <a:off x="9400032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9491472" y="378561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Text 73"/>
          <p:cNvSpPr txBox="1"/>
          <p:nvPr/>
        </p:nvSpPr>
        <p:spPr>
          <a:xfrm>
            <a:off x="9656064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liquidity-analyst</a:t>
            </a:r>
            <a:endParaRPr lang="en-US" sz="740" dirty="0"/>
          </a:p>
        </p:txBody>
      </p:sp>
      <p:sp>
        <p:nvSpPr>
          <p:cNvPr id="81" name="Text 74"/>
          <p:cNvSpPr txBox="1"/>
          <p:nvPr/>
        </p:nvSpPr>
        <p:spPr>
          <a:xfrm>
            <a:off x="9656064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±8% 변동</a:t>
            </a:r>
            <a:endParaRPr lang="en-US" sz="800" dirty="0"/>
          </a:p>
        </p:txBody>
      </p:sp>
      <p:sp>
        <p:nvSpPr>
          <p:cNvPr id="82" name="Text 75"/>
          <p:cNvSpPr txBox="1"/>
          <p:nvPr/>
        </p:nvSpPr>
        <p:spPr>
          <a:xfrm>
            <a:off x="11045952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83" name="Shape 76"/>
          <p:cNvSpPr/>
          <p:nvPr/>
        </p:nvSpPr>
        <p:spPr>
          <a:xfrm>
            <a:off x="5084064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4" name="Shape 77"/>
          <p:cNvSpPr/>
          <p:nvPr/>
        </p:nvSpPr>
        <p:spPr>
          <a:xfrm>
            <a:off x="5175504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5" name="Text 78"/>
          <p:cNvSpPr txBox="1"/>
          <p:nvPr/>
        </p:nvSpPr>
        <p:spPr>
          <a:xfrm>
            <a:off x="5340096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market-risk</a:t>
            </a:r>
            <a:endParaRPr lang="en-US" sz="740" dirty="0"/>
          </a:p>
        </p:txBody>
      </p:sp>
      <p:sp>
        <p:nvSpPr>
          <p:cNvPr id="86" name="Text 79"/>
          <p:cNvSpPr txBox="1"/>
          <p:nvPr/>
        </p:nvSpPr>
        <p:spPr>
          <a:xfrm>
            <a:off x="5340096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87" name="Text 80"/>
          <p:cNvSpPr txBox="1"/>
          <p:nvPr/>
        </p:nvSpPr>
        <p:spPr>
          <a:xfrm>
            <a:off x="6729984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88" name="Shape 81"/>
          <p:cNvSpPr/>
          <p:nvPr/>
        </p:nvSpPr>
        <p:spPr>
          <a:xfrm>
            <a:off x="7242048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7333488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0" name="Text 83"/>
          <p:cNvSpPr txBox="1"/>
          <p:nvPr/>
        </p:nvSpPr>
        <p:spPr>
          <a:xfrm>
            <a:off x="7498080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concentration-risk</a:t>
            </a:r>
            <a:endParaRPr lang="en-US" sz="740" dirty="0"/>
          </a:p>
        </p:txBody>
      </p:sp>
      <p:sp>
        <p:nvSpPr>
          <p:cNvPr id="91" name="Text 84"/>
          <p:cNvSpPr txBox="1"/>
          <p:nvPr/>
        </p:nvSpPr>
        <p:spPr>
          <a:xfrm>
            <a:off x="7498080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 변동</a:t>
            </a:r>
            <a:endParaRPr lang="en-US" sz="800" dirty="0"/>
          </a:p>
        </p:txBody>
      </p:sp>
      <p:sp>
        <p:nvSpPr>
          <p:cNvPr id="92" name="Text 85"/>
          <p:cNvSpPr txBox="1"/>
          <p:nvPr/>
        </p:nvSpPr>
        <p:spPr>
          <a:xfrm>
            <a:off x="8887968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93" name="Shape 86"/>
          <p:cNvSpPr/>
          <p:nvPr/>
        </p:nvSpPr>
        <p:spPr>
          <a:xfrm>
            <a:off x="9400032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4" name="Shape 87"/>
          <p:cNvSpPr/>
          <p:nvPr/>
        </p:nvSpPr>
        <p:spPr>
          <a:xfrm>
            <a:off x="9491472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5" name="Text 88"/>
          <p:cNvSpPr txBox="1"/>
          <p:nvPr/>
        </p:nvSpPr>
        <p:spPr>
          <a:xfrm>
            <a:off x="9656064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model-risk ★</a:t>
            </a:r>
            <a:endParaRPr lang="en-US" sz="740" dirty="0"/>
          </a:p>
        </p:txBody>
      </p:sp>
      <p:sp>
        <p:nvSpPr>
          <p:cNvPr id="96" name="Text 89"/>
          <p:cNvSpPr txBox="1"/>
          <p:nvPr/>
        </p:nvSpPr>
        <p:spPr>
          <a:xfrm>
            <a:off x="9656064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설계</a:t>
            </a:r>
            <a:endParaRPr lang="en-US" sz="800" dirty="0"/>
          </a:p>
        </p:txBody>
      </p:sp>
      <p:sp>
        <p:nvSpPr>
          <p:cNvPr id="97" name="Text 90"/>
          <p:cNvSpPr txBox="1"/>
          <p:nvPr/>
        </p:nvSpPr>
        <p:spPr>
          <a:xfrm>
            <a:off x="11045952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98" name="Shape 91"/>
          <p:cNvSpPr/>
          <p:nvPr/>
        </p:nvSpPr>
        <p:spPr>
          <a:xfrm>
            <a:off x="5084064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5175504" y="5065776"/>
            <a:ext cx="91440" cy="310896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100" name="Text 93"/>
          <p:cNvSpPr txBox="1"/>
          <p:nvPr/>
        </p:nvSpPr>
        <p:spPr>
          <a:xfrm>
            <a:off x="5340096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internal-audit</a:t>
            </a:r>
            <a:endParaRPr lang="en-US" sz="740" dirty="0"/>
          </a:p>
        </p:txBody>
      </p:sp>
      <p:sp>
        <p:nvSpPr>
          <p:cNvPr id="101" name="Text 94"/>
          <p:cNvSpPr txBox="1"/>
          <p:nvPr/>
        </p:nvSpPr>
        <p:spPr>
          <a:xfrm>
            <a:off x="5340096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</a:t>
            </a:r>
            <a:endParaRPr lang="en-US" sz="800" dirty="0"/>
          </a:p>
        </p:txBody>
      </p:sp>
      <p:sp>
        <p:nvSpPr>
          <p:cNvPr id="102" name="Text 95"/>
          <p:cNvSpPr txBox="1"/>
          <p:nvPr/>
        </p:nvSpPr>
        <p:spPr>
          <a:xfrm>
            <a:off x="6729984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03" name="Shape 96"/>
          <p:cNvSpPr/>
          <p:nvPr/>
        </p:nvSpPr>
        <p:spPr>
          <a:xfrm>
            <a:off x="7242048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4" name="Shape 97"/>
          <p:cNvSpPr/>
          <p:nvPr/>
        </p:nvSpPr>
        <p:spPr>
          <a:xfrm>
            <a:off x="7333488" y="5065776"/>
            <a:ext cx="91440" cy="310896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105" name="Text 98"/>
          <p:cNvSpPr txBox="1"/>
          <p:nvPr/>
        </p:nvSpPr>
        <p:spPr>
          <a:xfrm>
            <a:off x="7498080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disclosure-control</a:t>
            </a:r>
            <a:endParaRPr lang="en-US" sz="740" dirty="0"/>
          </a:p>
        </p:txBody>
      </p:sp>
      <p:sp>
        <p:nvSpPr>
          <p:cNvPr id="106" name="Text 99"/>
          <p:cNvSpPr txBox="1"/>
          <p:nvPr/>
        </p:nvSpPr>
        <p:spPr>
          <a:xfrm>
            <a:off x="7498080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직전</a:t>
            </a:r>
            <a:endParaRPr lang="en-US" sz="800" dirty="0"/>
          </a:p>
        </p:txBody>
      </p:sp>
      <p:sp>
        <p:nvSpPr>
          <p:cNvPr id="107" name="Text 100"/>
          <p:cNvSpPr txBox="1"/>
          <p:nvPr/>
        </p:nvSpPr>
        <p:spPr>
          <a:xfrm>
            <a:off x="8887968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08" name="Shape 101"/>
          <p:cNvSpPr/>
          <p:nvPr/>
        </p:nvSpPr>
        <p:spPr>
          <a:xfrm>
            <a:off x="9400032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9491472" y="5065776"/>
            <a:ext cx="91440" cy="31089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110" name="Text 103"/>
          <p:cNvSpPr txBox="1"/>
          <p:nvPr/>
        </p:nvSpPr>
        <p:spPr>
          <a:xfrm>
            <a:off x="9656064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research-editor</a:t>
            </a:r>
            <a:endParaRPr lang="en-US" sz="740" dirty="0"/>
          </a:p>
        </p:txBody>
      </p:sp>
      <p:sp>
        <p:nvSpPr>
          <p:cNvPr id="111" name="Text 104"/>
          <p:cNvSpPr txBox="1"/>
          <p:nvPr/>
        </p:nvSpPr>
        <p:spPr>
          <a:xfrm>
            <a:off x="9656064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직전</a:t>
            </a:r>
            <a:endParaRPr lang="en-US" sz="800" dirty="0"/>
          </a:p>
        </p:txBody>
      </p:sp>
      <p:sp>
        <p:nvSpPr>
          <p:cNvPr id="112" name="Text 105"/>
          <p:cNvSpPr txBox="1"/>
          <p:nvPr/>
        </p:nvSpPr>
        <p:spPr>
          <a:xfrm>
            <a:off x="11045952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13" name="Shape 106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4" name="Shape 107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5" name="Text 108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20개로 늘면 전수 실행은 더 나빠진다 — 85종목 × 종목단위 7데스크 = 595회다. 어제와 달라진 것이 없는 종목을 다시 읽는 것은 같은 답을 다시 사는 일이다. 역할을 늘릴수록 소집이 더 중요해진다.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인스턴스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 · credit · governance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종류로 분기 ·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집중도 재점검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진척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§7 집행 시뮬 재실행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 · model-risk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+ 설계 검증 + 원장 append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· 일정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 · macro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코멘트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· 반려 또는 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통과분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 · 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봉투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정리 → 조립 · 쟁점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7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11,900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1,821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162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595를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model-risk ★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internal-audit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disclosure-control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배포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ingest-ops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data-quality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factor-librarian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만 ●. 나머지 열아홉은 MCP 읽기 도구만 받는다. 역할이 20개로 늘어도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2.31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"execution-trader",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"exec-20260911-000660-a91f",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state=adopted 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은퇴본 인용 시 반려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20개 (본부별 폴더)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 · 이관분 12편은 4주에 소화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 unverified · 반감기는 원 채택일 기준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전부 도래 상태 → 주 3편 상한으로 4주에 분산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새로 생김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(~200줄)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(~250줄)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(~150줄)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· 소집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20개 정의 (본부별 폴더)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research/     7  equity · credit · governance ·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│                    capital-structure · quant ·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│                    macro · return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execution/    2  execution-trader · liquidity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risk/         3  market · concentration · model 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compliance/   3  compliance · audit · disclosure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operations/   3  ingest · quality · factor-librarian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ic/           2  research-editor · ic-chair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새로 쓰는 파이썬 약 600줄 · 나머지는 마크다운 정의 파일 · 기존 코드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2026-09-16T13:18:31Z</dcterms:created>
  <dcterms:modified xsi:type="dcterms:W3CDTF">2026-09-16T13:18:31Z</dcterms:modified>
</cp:coreProperties>
</file>