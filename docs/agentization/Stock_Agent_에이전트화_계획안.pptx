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유지</c:v>
                </c:pt>
              </c:strCache>
            </c:strRef>
          </c:tx>
          <c:spPr>
            <a:solidFill>
              <a:srgbClr val="26A455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32</c:v>
                </c:pt>
                <c:pt idx="4">
                  <c:v>38</c:v>
                </c:pt>
                <c:pt idx="5">
                  <c:v>43</c:v>
                </c:pt>
                <c:pt idx="6">
                  <c:v>47</c:v>
                </c:pt>
                <c:pt idx="7">
                  <c:v>50</c:v>
                </c:pt>
                <c:pt idx="8">
                  <c:v>54</c:v>
                </c:pt>
                <c:pt idx="9">
                  <c:v>57</c:v>
                </c:pt>
                <c:pt idx="10">
                  <c:v>60</c:v>
                </c:pt>
                <c:pt idx="1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신규 채택</c:v>
                </c:pt>
              </c:strCache>
            </c:strRef>
          </c:tx>
          <c:spPr>
            <a:solidFill>
              <a:srgbClr val="2596B0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은퇴</c:v>
                </c:pt>
              </c:strCache>
            </c:strRef>
          </c:tx>
          <c:spPr>
            <a:solidFill>
              <a:srgbClr val="C93B54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전수 실행 (85×3)</c:v>
                </c:pt>
              </c:strCache>
            </c:strRef>
          </c:tx>
          <c:spPr>
            <a:solidFill>
              <a:srgbClr val="C93B54"/>
            </a:solidFill>
            <a:ln w="38100" cap="flat">
              <a:solidFill>
                <a:srgbClr val="C93B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3B54"/>
              </a:solidFill>
              <a:ln w="9525" cap="flat">
                <a:solidFill>
                  <a:srgbClr val="C93B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255</c:v>
                </c:pt>
                <c:pt idx="1">
                  <c:v>255</c:v>
                </c:pt>
                <c:pt idx="2">
                  <c:v>255</c:v>
                </c:pt>
                <c:pt idx="3">
                  <c:v>255</c:v>
                </c:pt>
                <c:pt idx="4">
                  <c:v>255</c:v>
                </c:pt>
                <c:pt idx="5">
                  <c:v>255</c:v>
                </c:pt>
                <c:pt idx="6">
                  <c:v>255</c:v>
                </c:pt>
                <c:pt idx="7">
                  <c:v>255</c:v>
                </c:pt>
                <c:pt idx="8">
                  <c:v>255</c:v>
                </c:pt>
                <c:pt idx="9">
                  <c:v>255</c:v>
                </c:pt>
                <c:pt idx="10">
                  <c:v>255</c:v>
                </c:pt>
                <c:pt idx="11">
                  <c:v>255</c:v>
                </c:pt>
                <c:pt idx="12">
                  <c:v>255</c:v>
                </c:pt>
                <c:pt idx="13">
                  <c:v>255</c:v>
                </c:pt>
                <c:pt idx="14">
                  <c:v>255</c:v>
                </c:pt>
                <c:pt idx="15">
                  <c:v>255</c:v>
                </c:pt>
                <c:pt idx="16">
                  <c:v>255</c:v>
                </c:pt>
                <c:pt idx="17">
                  <c:v>255</c:v>
                </c:pt>
                <c:pt idx="18">
                  <c:v>255</c:v>
                </c:pt>
                <c:pt idx="19">
                  <c:v>255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이벤트 소집</c:v>
                </c:pt>
              </c:strCache>
            </c:strRef>
          </c:tx>
          <c:spPr>
            <a:solidFill>
              <a:srgbClr val="26A455"/>
            </a:solidFill>
            <a:ln w="38100" cap="flat">
              <a:solidFill>
                <a:srgbClr val="26A4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6A455"/>
              </a:solidFill>
              <a:ln w="9525" cap="flat">
                <a:solidFill>
                  <a:srgbClr val="26A4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28</c:v>
                </c:pt>
                <c:pt idx="1">
                  <c:v>38</c:v>
                </c:pt>
                <c:pt idx="2">
                  <c:v>32</c:v>
                </c:pt>
                <c:pt idx="3">
                  <c:v>44</c:v>
                </c:pt>
                <c:pt idx="4">
                  <c:v>26</c:v>
                </c:pt>
                <c:pt idx="5">
                  <c:v>36</c:v>
                </c:pt>
                <c:pt idx="6">
                  <c:v>64</c:v>
                </c:pt>
                <c:pt idx="7">
                  <c:v>30</c:v>
                </c:pt>
                <c:pt idx="8">
                  <c:v>42</c:v>
                </c:pt>
                <c:pt idx="9">
                  <c:v>34</c:v>
                </c:pt>
                <c:pt idx="10">
                  <c:v>52</c:v>
                </c:pt>
                <c:pt idx="11">
                  <c:v>29</c:v>
                </c:pt>
                <c:pt idx="12">
                  <c:v>40</c:v>
                </c:pt>
                <c:pt idx="13">
                  <c:v>47</c:v>
                </c:pt>
                <c:pt idx="14">
                  <c:v>31</c:v>
                </c:pt>
                <c:pt idx="15">
                  <c:v>37</c:v>
                </c:pt>
                <c:pt idx="16">
                  <c:v>34</c:v>
                </c:pt>
                <c:pt idx="17">
                  <c:v>70</c:v>
                </c:pt>
                <c:pt idx="18">
                  <c:v>42</c:v>
                </c:pt>
                <c:pt idx="19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B8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2C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pn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png"/><Relationship Id="rId15" Type="http://schemas.openxmlformats.org/officeDocument/2006/relationships/image" Target="../media/image-25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7548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  ·  에이전트화 계획안  ·  INTERNAL  ·  NOT INVESTMENT ADVICE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1170432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리서치 데스크</a:t>
            </a:r>
            <a:endParaRPr lang="en-US" sz="46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19751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논문이 흐르고, 에이전트가 소집된다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45059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옮기되, 논문은 매주 새로 들어와 재현 검사를 통과한 것만 살아남고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이벤트가 뜰 때만 소집됐다가 봉투를 내고 사라진다.</a:t>
            </a:r>
            <a:endParaRPr lang="en-US" sz="13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75888"/>
            <a:ext cx="749808" cy="749808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43891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기업분석</a:t>
            </a:r>
            <a:endParaRPr lang="en-US" sz="850" dirty="0"/>
          </a:p>
        </p:txBody>
      </p:sp>
      <p:pic>
        <p:nvPicPr>
          <p:cNvPr id="5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675888"/>
            <a:ext cx="749808" cy="749808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</a:t>
            </a:r>
            <a:endParaRPr lang="en-US" sz="850" dirty="0"/>
          </a:p>
        </p:txBody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496" y="3675888"/>
            <a:ext cx="749808" cy="749808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157276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매크로</a:t>
            </a:r>
            <a:endParaRPr lang="en-US" sz="850" dirty="0"/>
          </a:p>
        </p:txBody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3675888"/>
            <a:ext cx="749808" cy="74980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2139696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집행</a:t>
            </a:r>
            <a:endParaRPr lang="en-US" sz="850" dirty="0"/>
          </a:p>
        </p:txBody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6352" y="3675888"/>
            <a:ext cx="749808" cy="749808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706624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리스크</a:t>
            </a:r>
            <a:endParaRPr lang="en-US" sz="850" dirty="0"/>
          </a:p>
        </p:txBody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675888"/>
            <a:ext cx="749808" cy="749808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327355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</a:t>
            </a:r>
            <a:endParaRPr lang="en-US" sz="850" dirty="0"/>
          </a:p>
        </p:txBody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3675888"/>
            <a:ext cx="749808" cy="749808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384048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</a:t>
            </a:r>
            <a:endParaRPr lang="en-US" sz="850" dirty="0"/>
          </a:p>
        </p:txBody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7136" y="3675888"/>
            <a:ext cx="749808" cy="749808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440740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간사</a:t>
            </a:r>
            <a:endParaRPr lang="en-US" sz="850" dirty="0"/>
          </a:p>
        </p:txBody>
      </p:sp>
      <p:sp>
        <p:nvSpPr>
          <p:cNvPr id="64" name="Shape 54"/>
          <p:cNvSpPr/>
          <p:nvPr/>
        </p:nvSpPr>
        <p:spPr>
          <a:xfrm>
            <a:off x="53035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5" name="Shape 55"/>
          <p:cNvSpPr/>
          <p:nvPr/>
        </p:nvSpPr>
        <p:spPr>
          <a:xfrm>
            <a:off x="64831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6" name="Shape 56"/>
          <p:cNvSpPr/>
          <p:nvPr/>
        </p:nvSpPr>
        <p:spPr>
          <a:xfrm>
            <a:off x="766267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7" name="Shape 57"/>
          <p:cNvSpPr/>
          <p:nvPr/>
        </p:nvSpPr>
        <p:spPr>
          <a:xfrm>
            <a:off x="88422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8" name="Shape 58"/>
          <p:cNvSpPr/>
          <p:nvPr/>
        </p:nvSpPr>
        <p:spPr>
          <a:xfrm>
            <a:off x="100218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9" name="Shape 59"/>
          <p:cNvSpPr/>
          <p:nvPr/>
        </p:nvSpPr>
        <p:spPr>
          <a:xfrm>
            <a:off x="112014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0" name="Shape 60"/>
          <p:cNvSpPr/>
          <p:nvPr/>
        </p:nvSpPr>
        <p:spPr>
          <a:xfrm>
            <a:off x="123809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1" name="Shape 61"/>
          <p:cNvSpPr/>
          <p:nvPr/>
        </p:nvSpPr>
        <p:spPr>
          <a:xfrm>
            <a:off x="135605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2" name="Shape 62"/>
          <p:cNvSpPr/>
          <p:nvPr/>
        </p:nvSpPr>
        <p:spPr>
          <a:xfrm>
            <a:off x="147401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3" name="Shape 63"/>
          <p:cNvSpPr/>
          <p:nvPr/>
        </p:nvSpPr>
        <p:spPr>
          <a:xfrm>
            <a:off x="159197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4" name="Shape 64"/>
          <p:cNvSpPr/>
          <p:nvPr/>
        </p:nvSpPr>
        <p:spPr>
          <a:xfrm>
            <a:off x="170992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5" name="Shape 65"/>
          <p:cNvSpPr/>
          <p:nvPr/>
        </p:nvSpPr>
        <p:spPr>
          <a:xfrm>
            <a:off x="182788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6" name="Shape 66"/>
          <p:cNvSpPr/>
          <p:nvPr/>
        </p:nvSpPr>
        <p:spPr>
          <a:xfrm>
            <a:off x="194584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7" name="Shape 67"/>
          <p:cNvSpPr/>
          <p:nvPr/>
        </p:nvSpPr>
        <p:spPr>
          <a:xfrm>
            <a:off x="206380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8" name="Shape 68"/>
          <p:cNvSpPr/>
          <p:nvPr/>
        </p:nvSpPr>
        <p:spPr>
          <a:xfrm>
            <a:off x="218175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9" name="Shape 69"/>
          <p:cNvSpPr/>
          <p:nvPr/>
        </p:nvSpPr>
        <p:spPr>
          <a:xfrm>
            <a:off x="229971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0" name="Shape 70"/>
          <p:cNvSpPr/>
          <p:nvPr/>
        </p:nvSpPr>
        <p:spPr>
          <a:xfrm>
            <a:off x="241767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1" name="Shape 71"/>
          <p:cNvSpPr/>
          <p:nvPr/>
        </p:nvSpPr>
        <p:spPr>
          <a:xfrm>
            <a:off x="253563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2" name="Shape 72"/>
          <p:cNvSpPr/>
          <p:nvPr/>
        </p:nvSpPr>
        <p:spPr>
          <a:xfrm>
            <a:off x="265358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3" name="Shape 73"/>
          <p:cNvSpPr/>
          <p:nvPr/>
        </p:nvSpPr>
        <p:spPr>
          <a:xfrm>
            <a:off x="277154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4" name="Shape 74"/>
          <p:cNvSpPr/>
          <p:nvPr/>
        </p:nvSpPr>
        <p:spPr>
          <a:xfrm>
            <a:off x="288950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5" name="Shape 75"/>
          <p:cNvSpPr/>
          <p:nvPr/>
        </p:nvSpPr>
        <p:spPr>
          <a:xfrm>
            <a:off x="300746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6" name="Shape 76"/>
          <p:cNvSpPr/>
          <p:nvPr/>
        </p:nvSpPr>
        <p:spPr>
          <a:xfrm>
            <a:off x="312541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7" name="Shape 77"/>
          <p:cNvSpPr/>
          <p:nvPr/>
        </p:nvSpPr>
        <p:spPr>
          <a:xfrm>
            <a:off x="324337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8" name="Shape 78"/>
          <p:cNvSpPr/>
          <p:nvPr/>
        </p:nvSpPr>
        <p:spPr>
          <a:xfrm>
            <a:off x="336133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9" name="Shape 79"/>
          <p:cNvSpPr/>
          <p:nvPr/>
        </p:nvSpPr>
        <p:spPr>
          <a:xfrm>
            <a:off x="347929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0" name="Shape 80"/>
          <p:cNvSpPr/>
          <p:nvPr/>
        </p:nvSpPr>
        <p:spPr>
          <a:xfrm>
            <a:off x="359725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1" name="Shape 81"/>
          <p:cNvSpPr/>
          <p:nvPr/>
        </p:nvSpPr>
        <p:spPr>
          <a:xfrm>
            <a:off x="371520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2" name="Shape 82"/>
          <p:cNvSpPr/>
          <p:nvPr/>
        </p:nvSpPr>
        <p:spPr>
          <a:xfrm>
            <a:off x="383316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3" name="Shape 83"/>
          <p:cNvSpPr/>
          <p:nvPr/>
        </p:nvSpPr>
        <p:spPr>
          <a:xfrm>
            <a:off x="395112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4" name="Shape 84"/>
          <p:cNvSpPr/>
          <p:nvPr/>
        </p:nvSpPr>
        <p:spPr>
          <a:xfrm>
            <a:off x="406908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5" name="Shape 85"/>
          <p:cNvSpPr/>
          <p:nvPr/>
        </p:nvSpPr>
        <p:spPr>
          <a:xfrm>
            <a:off x="418703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6" name="Shape 86"/>
          <p:cNvSpPr/>
          <p:nvPr/>
        </p:nvSpPr>
        <p:spPr>
          <a:xfrm>
            <a:off x="430499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7" name="Shape 87"/>
          <p:cNvSpPr/>
          <p:nvPr/>
        </p:nvSpPr>
        <p:spPr>
          <a:xfrm>
            <a:off x="442295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8" name="Shape 88"/>
          <p:cNvSpPr/>
          <p:nvPr/>
        </p:nvSpPr>
        <p:spPr>
          <a:xfrm>
            <a:off x="454091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9" name="Shape 89"/>
          <p:cNvSpPr/>
          <p:nvPr/>
        </p:nvSpPr>
        <p:spPr>
          <a:xfrm>
            <a:off x="465886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0" name="Shape 90"/>
          <p:cNvSpPr/>
          <p:nvPr/>
        </p:nvSpPr>
        <p:spPr>
          <a:xfrm>
            <a:off x="4776826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1" name="Shape 91"/>
          <p:cNvSpPr/>
          <p:nvPr/>
        </p:nvSpPr>
        <p:spPr>
          <a:xfrm>
            <a:off x="489478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2" name="Shape 92"/>
          <p:cNvSpPr/>
          <p:nvPr/>
        </p:nvSpPr>
        <p:spPr>
          <a:xfrm>
            <a:off x="5012741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3" name="Shape 93"/>
          <p:cNvSpPr/>
          <p:nvPr/>
        </p:nvSpPr>
        <p:spPr>
          <a:xfrm>
            <a:off x="513069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4" name="Shape 94"/>
          <p:cNvSpPr/>
          <p:nvPr/>
        </p:nvSpPr>
        <p:spPr>
          <a:xfrm>
            <a:off x="598932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5" name="Shape 95"/>
          <p:cNvSpPr/>
          <p:nvPr/>
        </p:nvSpPr>
        <p:spPr>
          <a:xfrm>
            <a:off x="548640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6" name="Text 96"/>
          <p:cNvSpPr txBox="1"/>
          <p:nvPr/>
        </p:nvSpPr>
        <p:spPr>
          <a:xfrm>
            <a:off x="694944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100" dirty="0"/>
          </a:p>
        </p:txBody>
      </p:sp>
      <p:sp>
        <p:nvSpPr>
          <p:cNvPr id="107" name="Text 97"/>
          <p:cNvSpPr txBox="1"/>
          <p:nvPr/>
        </p:nvSpPr>
        <p:spPr>
          <a:xfrm>
            <a:off x="694944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1100" dirty="0"/>
          </a:p>
        </p:txBody>
      </p:sp>
      <p:sp>
        <p:nvSpPr>
          <p:cNvPr id="108" name="Text 98"/>
          <p:cNvSpPr txBox="1"/>
          <p:nvPr/>
        </p:nvSpPr>
        <p:spPr>
          <a:xfrm>
            <a:off x="694944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12편이 아니다</a:t>
            </a:r>
            <a:endParaRPr lang="en-US" sz="950" dirty="0"/>
          </a:p>
        </p:txBody>
      </p:sp>
      <p:sp>
        <p:nvSpPr>
          <p:cNvPr id="109" name="Shape 99"/>
          <p:cNvSpPr/>
          <p:nvPr/>
        </p:nvSpPr>
        <p:spPr>
          <a:xfrm>
            <a:off x="3396996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0" name="Shape 100"/>
          <p:cNvSpPr/>
          <p:nvPr/>
        </p:nvSpPr>
        <p:spPr>
          <a:xfrm>
            <a:off x="3346704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1" name="Text 101"/>
          <p:cNvSpPr txBox="1"/>
          <p:nvPr/>
        </p:nvSpPr>
        <p:spPr>
          <a:xfrm>
            <a:off x="3493008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100" dirty="0"/>
          </a:p>
        </p:txBody>
      </p:sp>
      <p:sp>
        <p:nvSpPr>
          <p:cNvPr id="112" name="Text 102"/>
          <p:cNvSpPr txBox="1"/>
          <p:nvPr/>
        </p:nvSpPr>
        <p:spPr>
          <a:xfrm>
            <a:off x="3493008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1100" dirty="0"/>
          </a:p>
        </p:txBody>
      </p:sp>
      <p:sp>
        <p:nvSpPr>
          <p:cNvPr id="113" name="Text 103"/>
          <p:cNvSpPr txBox="1"/>
          <p:nvPr/>
        </p:nvSpPr>
        <p:spPr>
          <a:xfrm>
            <a:off x="3493008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아니다</a:t>
            </a:r>
            <a:endParaRPr lang="en-US" sz="950" dirty="0"/>
          </a:p>
        </p:txBody>
      </p:sp>
      <p:sp>
        <p:nvSpPr>
          <p:cNvPr id="114" name="Shape 104"/>
          <p:cNvSpPr/>
          <p:nvPr/>
        </p:nvSpPr>
        <p:spPr>
          <a:xfrm>
            <a:off x="6195060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5"/>
          <p:cNvSpPr/>
          <p:nvPr/>
        </p:nvSpPr>
        <p:spPr>
          <a:xfrm>
            <a:off x="6144768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6"/>
          <p:cNvSpPr txBox="1"/>
          <p:nvPr/>
        </p:nvSpPr>
        <p:spPr>
          <a:xfrm>
            <a:off x="6291072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100" dirty="0"/>
          </a:p>
        </p:txBody>
      </p:sp>
      <p:sp>
        <p:nvSpPr>
          <p:cNvPr id="117" name="Text 107"/>
          <p:cNvSpPr txBox="1"/>
          <p:nvPr/>
        </p:nvSpPr>
        <p:spPr>
          <a:xfrm>
            <a:off x="6291072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1100" dirty="0"/>
          </a:p>
        </p:txBody>
      </p:sp>
      <p:sp>
        <p:nvSpPr>
          <p:cNvPr id="118" name="Text 108"/>
          <p:cNvSpPr txBox="1"/>
          <p:nvPr/>
        </p:nvSpPr>
        <p:spPr>
          <a:xfrm>
            <a:off x="6291072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950" dirty="0"/>
          </a:p>
        </p:txBody>
      </p:sp>
      <p:sp>
        <p:nvSpPr>
          <p:cNvPr id="119" name="Shape 109"/>
          <p:cNvSpPr/>
          <p:nvPr/>
        </p:nvSpPr>
        <p:spPr>
          <a:xfrm>
            <a:off x="8993124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0" name="Shape 110"/>
          <p:cNvSpPr/>
          <p:nvPr/>
        </p:nvSpPr>
        <p:spPr>
          <a:xfrm>
            <a:off x="8942832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1" name="Text 111"/>
          <p:cNvSpPr txBox="1"/>
          <p:nvPr/>
        </p:nvSpPr>
        <p:spPr>
          <a:xfrm>
            <a:off x="9089136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100" dirty="0"/>
          </a:p>
        </p:txBody>
      </p:sp>
      <p:sp>
        <p:nvSpPr>
          <p:cNvPr id="122" name="Text 112"/>
          <p:cNvSpPr txBox="1"/>
          <p:nvPr/>
        </p:nvSpPr>
        <p:spPr>
          <a:xfrm>
            <a:off x="9089136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1100" dirty="0"/>
          </a:p>
        </p:txBody>
      </p:sp>
      <p:sp>
        <p:nvSpPr>
          <p:cNvPr id="123" name="Text 113"/>
          <p:cNvSpPr txBox="1"/>
          <p:nvPr/>
        </p:nvSpPr>
        <p:spPr>
          <a:xfrm>
            <a:off x="9089136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950" dirty="0"/>
          </a:p>
        </p:txBody>
      </p:sp>
      <p:sp>
        <p:nvSpPr>
          <p:cNvPr id="124" name="Text 114"/>
          <p:cNvSpPr txBox="1"/>
          <p:nvPr/>
        </p:nvSpPr>
        <p:spPr>
          <a:xfrm>
            <a:off x="548640" y="614476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2026-09-13  ·  InnbumBaek/Stock_Agent  ·  최종 결정은 사람이 한다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— 무엇을 바꾸고, 무엇을 지키는가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파이프라인은 이미 완성돼 있다. 이 방안이 손대는 것은 측정 결과를 읽는 층과, 그 읽기의 근거가 되는 논문이다.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73936" y="18105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새 논문을 들여와 통과 테스트를 돌린다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773936" y="210312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→ 심사 → 재현 → 채택이 매주 한 번 돈다. 반감기가 도래한 기존 채택본도 같은 사이클에서 재검된다.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" y="2683764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633472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773936" y="277977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질문마다 데스크 하나 — 아홉으로 나눈다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773936" y="307238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질문(q1~q4) 각각에 담당을 두고, 그 질문의 답이 달라졌을 때만 소집한다.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8932" y="3653028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02736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73936" y="3749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원장(ki.sqlite)은 여전히 사실만 담는다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773936" y="404164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에이전트에게 쓰기 도구를 아예 주지 않는다. 규칙이 아니라 구조로 막는다.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932" y="4622292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572000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773936" y="47183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여전히 회의에서 사람이 한다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01091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 올라가는 것은 쟁점이지 결론이 아니다.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23860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7973568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01584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101584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101584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+ 재검 도래분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70948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33"/>
          <p:cNvSpPr/>
          <p:nvPr/>
        </p:nvSpPr>
        <p:spPr>
          <a:xfrm>
            <a:off x="9820656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48672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948672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고정값이 아니다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023860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7973568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01584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101584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8101584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870948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9820656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948672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9948672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948672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23860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7973568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-84%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부하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70948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9820656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948672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10주</a:t>
            </a:r>
            <a:endParaRPr lang="en-US" sz="1900" dirty="0"/>
          </a:p>
        </p:txBody>
      </p:sp>
      <p:sp>
        <p:nvSpPr>
          <p:cNvPr id="57" name="Text 55"/>
          <p:cNvSpPr txBox="1"/>
          <p:nvPr/>
        </p:nvSpPr>
        <p:spPr>
          <a:xfrm>
            <a:off x="9948672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기간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948672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2주는 병행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8932" y="5664708"/>
            <a:ext cx="11094415" cy="6217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5614416"/>
            <a:ext cx="11094415" cy="62179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86384" y="5614416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사이클이다 —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한 번에 검증하고 끝내는 것이 아니라, 매주 새 논문이 들어오고 오래된 것이 재검되는 흐름을 만든다. 기존 12편도 반감기 순번이 오면 이 사이클에 들어온다.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THE WHOLE THING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— 무엇이 어디로 흐르는가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장만 보셔도 됩니다. 각 블록에 붙은 PART 가 그것을 설명하는 곳입니다.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97380"/>
            <a:ext cx="301752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47088"/>
            <a:ext cx="301752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47088"/>
            <a:ext cx="3017520" cy="32918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측정층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84708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2860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5237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16:10 · ingest-ops 단독</a:t>
            </a:r>
            <a:endParaRPr lang="en-US" sz="9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798064"/>
            <a:ext cx="493776" cy="49377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98448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98448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94944" y="33649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4944" y="3584448"/>
            <a:ext cx="2724912" cy="60350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621024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 — 계산은 여기서 끝난다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85876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리픽싱 · 완전희석 · 처분소요일 · 집행시뮬</a:t>
            </a:r>
            <a:endParaRPr lang="en-US" sz="76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847088"/>
            <a:ext cx="512064" cy="512064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176" y="2345436"/>
            <a:ext cx="512064" cy="512064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2843784"/>
            <a:ext cx="512064" cy="512064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3342132"/>
            <a:ext cx="512064" cy="512064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4176" y="3840480"/>
            <a:ext cx="512064" cy="512064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850" dirty="0"/>
          </a:p>
        </p:txBody>
      </p:sp>
      <p:sp>
        <p:nvSpPr>
          <p:cNvPr id="26" name="Text 18"/>
          <p:cNvSpPr txBox="1"/>
          <p:nvPr/>
        </p:nvSpPr>
        <p:spPr>
          <a:xfrm>
            <a:off x="3529584" y="4370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8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4494276" y="1897380"/>
            <a:ext cx="3236976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0"/>
          <p:cNvSpPr/>
          <p:nvPr/>
        </p:nvSpPr>
        <p:spPr>
          <a:xfrm>
            <a:off x="4443984" y="1847088"/>
            <a:ext cx="3236976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443984" y="1847088"/>
            <a:ext cx="3236976" cy="329184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572000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판단층</a:t>
            </a:r>
            <a:endParaRPr lang="en-US" sz="1050" dirty="0"/>
          </a:p>
        </p:txBody>
      </p:sp>
      <p:sp>
        <p:nvSpPr>
          <p:cNvPr id="31" name="Text 23"/>
          <p:cNvSpPr txBox="1"/>
          <p:nvPr/>
        </p:nvSpPr>
        <p:spPr>
          <a:xfrm>
            <a:off x="6309360" y="184708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4590288" y="22494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9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4590288" y="25603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상설 3  +  이벤트 소집 6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459028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5" name="Shape 27"/>
          <p:cNvSpPr/>
          <p:nvPr/>
        </p:nvSpPr>
        <p:spPr>
          <a:xfrm>
            <a:off x="4590288" y="2852928"/>
            <a:ext cx="64008" cy="27432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71830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진척</a:t>
            </a:r>
            <a:endParaRPr lang="en-US" sz="740" dirty="0"/>
          </a:p>
        </p:txBody>
      </p:sp>
      <p:sp>
        <p:nvSpPr>
          <p:cNvPr id="37" name="Shape 29"/>
          <p:cNvSpPr/>
          <p:nvPr/>
        </p:nvSpPr>
        <p:spPr>
          <a:xfrm>
            <a:off x="559612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Shape 30"/>
          <p:cNvSpPr/>
          <p:nvPr/>
        </p:nvSpPr>
        <p:spPr>
          <a:xfrm>
            <a:off x="5596128" y="2852928"/>
            <a:ext cx="64008" cy="27432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72414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처분</a:t>
            </a:r>
            <a:endParaRPr lang="en-US" sz="740" dirty="0"/>
          </a:p>
        </p:txBody>
      </p:sp>
      <p:sp>
        <p:nvSpPr>
          <p:cNvPr id="40" name="Shape 32"/>
          <p:cNvSpPr/>
          <p:nvPr/>
        </p:nvSpPr>
        <p:spPr>
          <a:xfrm>
            <a:off x="660196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1" name="Shape 33"/>
          <p:cNvSpPr/>
          <p:nvPr/>
        </p:nvSpPr>
        <p:spPr>
          <a:xfrm>
            <a:off x="6601968" y="2852928"/>
            <a:ext cx="64008" cy="27432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672998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집행</a:t>
            </a:r>
            <a:endParaRPr lang="en-US" sz="740" dirty="0"/>
          </a:p>
        </p:txBody>
      </p:sp>
      <p:sp>
        <p:nvSpPr>
          <p:cNvPr id="43" name="Shape 35"/>
          <p:cNvSpPr/>
          <p:nvPr/>
        </p:nvSpPr>
        <p:spPr>
          <a:xfrm>
            <a:off x="459028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4" name="Shape 36"/>
          <p:cNvSpPr/>
          <p:nvPr/>
        </p:nvSpPr>
        <p:spPr>
          <a:xfrm>
            <a:off x="4590288" y="3182112"/>
            <a:ext cx="64008" cy="27432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471830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시점</a:t>
            </a:r>
            <a:endParaRPr lang="en-US" sz="740" dirty="0"/>
          </a:p>
        </p:txBody>
      </p:sp>
      <p:sp>
        <p:nvSpPr>
          <p:cNvPr id="46" name="Shape 38"/>
          <p:cNvSpPr/>
          <p:nvPr/>
        </p:nvSpPr>
        <p:spPr>
          <a:xfrm>
            <a:off x="559612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7" name="Shape 39"/>
          <p:cNvSpPr/>
          <p:nvPr/>
        </p:nvSpPr>
        <p:spPr>
          <a:xfrm>
            <a:off x="5596128" y="3182112"/>
            <a:ext cx="64008" cy="27432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572414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 · 검산</a:t>
            </a:r>
            <a:endParaRPr lang="en-US" sz="740" dirty="0"/>
          </a:p>
        </p:txBody>
      </p:sp>
      <p:sp>
        <p:nvSpPr>
          <p:cNvPr id="49" name="Shape 41"/>
          <p:cNvSpPr/>
          <p:nvPr/>
        </p:nvSpPr>
        <p:spPr>
          <a:xfrm>
            <a:off x="660196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0" name="Shape 42"/>
          <p:cNvSpPr/>
          <p:nvPr/>
        </p:nvSpPr>
        <p:spPr>
          <a:xfrm>
            <a:off x="6601968" y="3182112"/>
            <a:ext cx="64008" cy="274320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672998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 · 원장 · 간사</a:t>
            </a:r>
            <a:endParaRPr lang="en-US" sz="740" dirty="0"/>
          </a:p>
        </p:txBody>
      </p:sp>
      <p:sp>
        <p:nvSpPr>
          <p:cNvPr id="52" name="Shape 44"/>
          <p:cNvSpPr/>
          <p:nvPr/>
        </p:nvSpPr>
        <p:spPr>
          <a:xfrm>
            <a:off x="4590288" y="3584448"/>
            <a:ext cx="2944368" cy="603504"/>
          </a:xfrm>
          <a:prstGeom prst="rect">
            <a:avLst/>
          </a:prstGeom>
          <a:solidFill>
            <a:srgbClr val="1A1428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4700016" y="36210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제출 — 등급 '해석'</a:t>
            </a:r>
            <a:endParaRPr lang="en-US" sz="950" dirty="0"/>
          </a:p>
        </p:txBody>
      </p:sp>
      <p:sp>
        <p:nvSpPr>
          <p:cNvPr id="54" name="Text 46"/>
          <p:cNvSpPr txBox="1"/>
          <p:nvPr/>
        </p:nvSpPr>
        <p:spPr>
          <a:xfrm>
            <a:off x="4700016" y="38587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계산하지 않는다 · 읽고 서술한다</a:t>
            </a:r>
            <a:endParaRPr lang="en-US" sz="760" dirty="0"/>
          </a:p>
        </p:txBody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4" y="2962656"/>
            <a:ext cx="292608" cy="182880"/>
          </a:xfrm>
          <a:prstGeom prst="rect">
            <a:avLst/>
          </a:prstGeom>
        </p:spPr>
      </p:pic>
      <p:sp>
        <p:nvSpPr>
          <p:cNvPr id="56" name="Shape 47"/>
          <p:cNvSpPr/>
          <p:nvPr/>
        </p:nvSpPr>
        <p:spPr>
          <a:xfrm>
            <a:off x="8151876" y="1897380"/>
            <a:ext cx="201168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8"/>
          <p:cNvSpPr/>
          <p:nvPr/>
        </p:nvSpPr>
        <p:spPr>
          <a:xfrm>
            <a:off x="8101584" y="1847088"/>
            <a:ext cx="201168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8101584" y="1847088"/>
            <a:ext cx="2011680" cy="32918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229600" y="18470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통제</a:t>
            </a:r>
            <a:endParaRPr lang="en-US" sz="1050" dirty="0"/>
          </a:p>
        </p:txBody>
      </p:sp>
      <p:sp>
        <p:nvSpPr>
          <p:cNvPr id="60" name="Text 51"/>
          <p:cNvSpPr txBox="1"/>
          <p:nvPr/>
        </p:nvSpPr>
        <p:spPr>
          <a:xfrm>
            <a:off x="8778240" y="184708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900" dirty="0"/>
          </a:p>
        </p:txBody>
      </p:sp>
      <p:pic>
        <p:nvPicPr>
          <p:cNvPr id="6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88" y="2286000"/>
            <a:ext cx="402336" cy="402336"/>
          </a:xfrm>
          <a:prstGeom prst="rect">
            <a:avLst/>
          </a:prstGeom>
        </p:spPr>
      </p:pic>
      <p:sp>
        <p:nvSpPr>
          <p:cNvPr id="62" name="Text 52"/>
          <p:cNvSpPr txBox="1"/>
          <p:nvPr/>
        </p:nvSpPr>
        <p:spPr>
          <a:xfrm>
            <a:off x="8741664" y="23225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×7</a:t>
            </a:r>
            <a:endParaRPr lang="en-US" sz="1400" dirty="0"/>
          </a:p>
        </p:txBody>
      </p:sp>
      <p:sp>
        <p:nvSpPr>
          <p:cNvPr id="63" name="Text 53"/>
          <p:cNvSpPr txBox="1"/>
          <p:nvPr/>
        </p:nvSpPr>
        <p:spPr>
          <a:xfrm>
            <a:off x="8247888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판정 어휘</a:t>
            </a:r>
            <a:endParaRPr lang="en-US" sz="760" dirty="0"/>
          </a:p>
        </p:txBody>
      </p:sp>
      <p:sp>
        <p:nvSpPr>
          <p:cNvPr id="64" name="Text 54"/>
          <p:cNvSpPr txBox="1"/>
          <p:nvPr/>
        </p:nvSpPr>
        <p:spPr>
          <a:xfrm>
            <a:off x="8247888" y="303580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출처 등급</a:t>
            </a:r>
            <a:endParaRPr lang="en-US" sz="760" dirty="0"/>
          </a:p>
        </p:txBody>
      </p:sp>
      <p:sp>
        <p:nvSpPr>
          <p:cNvPr id="65" name="Text 55"/>
          <p:cNvSpPr txBox="1"/>
          <p:nvPr/>
        </p:nvSpPr>
        <p:spPr>
          <a:xfrm>
            <a:off x="8247888" y="32369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★ 재현</a:t>
            </a:r>
            <a:endParaRPr lang="en-US" sz="760" dirty="0"/>
          </a:p>
        </p:txBody>
      </p:sp>
      <p:sp>
        <p:nvSpPr>
          <p:cNvPr id="66" name="Text 56"/>
          <p:cNvSpPr txBox="1"/>
          <p:nvPr/>
        </p:nvSpPr>
        <p:spPr>
          <a:xfrm>
            <a:off x="8247888" y="343814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논문 실재</a:t>
            </a:r>
            <a:endParaRPr lang="en-US" sz="760" dirty="0"/>
          </a:p>
        </p:txBody>
      </p:sp>
      <p:sp>
        <p:nvSpPr>
          <p:cNvPr id="67" name="Text 57"/>
          <p:cNvSpPr txBox="1"/>
          <p:nvPr/>
        </p:nvSpPr>
        <p:spPr>
          <a:xfrm>
            <a:off x="8247888" y="363931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신선도</a:t>
            </a:r>
            <a:endParaRPr lang="en-US" sz="760" dirty="0"/>
          </a:p>
        </p:txBody>
      </p:sp>
      <p:sp>
        <p:nvSpPr>
          <p:cNvPr id="68" name="Text 58"/>
          <p:cNvSpPr txBox="1"/>
          <p:nvPr/>
        </p:nvSpPr>
        <p:spPr>
          <a:xfrm>
            <a:off x="8247888" y="38404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유출 검사</a:t>
            </a:r>
            <a:endParaRPr lang="en-US" sz="760" dirty="0"/>
          </a:p>
        </p:txBody>
      </p:sp>
      <p:sp>
        <p:nvSpPr>
          <p:cNvPr id="69" name="Text 59"/>
          <p:cNvSpPr txBox="1"/>
          <p:nvPr/>
        </p:nvSpPr>
        <p:spPr>
          <a:xfrm>
            <a:off x="8247888" y="40416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4-eyes</a:t>
            </a:r>
            <a:endParaRPr lang="en-US" sz="760" dirty="0"/>
          </a:p>
        </p:txBody>
      </p:sp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8128" y="2962656"/>
            <a:ext cx="292608" cy="182880"/>
          </a:xfrm>
          <a:prstGeom prst="rect">
            <a:avLst/>
          </a:prstGeom>
        </p:spPr>
      </p:pic>
      <p:sp>
        <p:nvSpPr>
          <p:cNvPr id="71" name="Shape 60"/>
          <p:cNvSpPr/>
          <p:nvPr/>
        </p:nvSpPr>
        <p:spPr>
          <a:xfrm>
            <a:off x="10584180" y="1897380"/>
            <a:ext cx="1106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2" name="Shape 61"/>
          <p:cNvSpPr/>
          <p:nvPr/>
        </p:nvSpPr>
        <p:spPr>
          <a:xfrm>
            <a:off x="10533888" y="1847088"/>
            <a:ext cx="1106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73" name="Shape 62"/>
          <p:cNvSpPr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4" name="Text 63"/>
          <p:cNvSpPr txBox="1"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의결</a:t>
            </a:r>
            <a:endParaRPr lang="en-US" sz="950" dirty="0"/>
          </a:p>
        </p:txBody>
      </p:sp>
      <p:pic>
        <p:nvPicPr>
          <p:cNvPr id="7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8208" y="2340864"/>
            <a:ext cx="548640" cy="548640"/>
          </a:xfrm>
          <a:prstGeom prst="rect">
            <a:avLst/>
          </a:prstGeom>
        </p:spPr>
      </p:pic>
      <p:sp>
        <p:nvSpPr>
          <p:cNvPr id="76" name="Text 64"/>
          <p:cNvSpPr txBox="1"/>
          <p:nvPr/>
        </p:nvSpPr>
        <p:spPr>
          <a:xfrm>
            <a:off x="10588752" y="298094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위원회</a:t>
            </a:r>
            <a:endParaRPr lang="en-US" sz="1100" dirty="0"/>
          </a:p>
        </p:txBody>
      </p:sp>
      <p:sp>
        <p:nvSpPr>
          <p:cNvPr id="77" name="Text 65"/>
          <p:cNvSpPr txBox="1"/>
          <p:nvPr/>
        </p:nvSpPr>
        <p:spPr>
          <a:xfrm>
            <a:off x="10588752" y="37673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결정한다</a:t>
            </a:r>
            <a:endParaRPr lang="en-US" sz="800" dirty="0"/>
          </a:p>
        </p:txBody>
      </p:sp>
      <p:sp>
        <p:nvSpPr>
          <p:cNvPr id="78" name="Shape 66"/>
          <p:cNvSpPr/>
          <p:nvPr/>
        </p:nvSpPr>
        <p:spPr>
          <a:xfrm>
            <a:off x="4494276" y="4622292"/>
            <a:ext cx="3236976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9" name="Shape 67"/>
          <p:cNvSpPr/>
          <p:nvPr/>
        </p:nvSpPr>
        <p:spPr>
          <a:xfrm>
            <a:off x="4443984" y="4572000"/>
            <a:ext cx="3236976" cy="78638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pic>
        <p:nvPicPr>
          <p:cNvPr id="8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8" y="4718304"/>
            <a:ext cx="347472" cy="347472"/>
          </a:xfrm>
          <a:prstGeom prst="rect">
            <a:avLst/>
          </a:prstGeom>
        </p:spPr>
      </p:pic>
      <p:sp>
        <p:nvSpPr>
          <p:cNvPr id="81" name="Text 68"/>
          <p:cNvSpPr txBox="1"/>
          <p:nvPr/>
        </p:nvSpPr>
        <p:spPr>
          <a:xfrm>
            <a:off x="5029200" y="4681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재현 통과분만 인용 가능</a:t>
            </a:r>
            <a:endParaRPr lang="en-US" sz="1050" dirty="0"/>
          </a:p>
        </p:txBody>
      </p:sp>
      <p:sp>
        <p:nvSpPr>
          <p:cNvPr id="82" name="Text 69"/>
          <p:cNvSpPr txBox="1"/>
          <p:nvPr/>
        </p:nvSpPr>
        <p:spPr>
          <a:xfrm>
            <a:off x="5029200" y="4956048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ki.papers/2 · adopted | warned | retired</a:t>
            </a:r>
            <a:endParaRPr lang="en-US" sz="760" dirty="0"/>
          </a:p>
        </p:txBody>
      </p:sp>
      <p:sp>
        <p:nvSpPr>
          <p:cNvPr id="83" name="Text 70"/>
          <p:cNvSpPr txBox="1"/>
          <p:nvPr/>
        </p:nvSpPr>
        <p:spPr>
          <a:xfrm>
            <a:off x="6858000" y="5120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800" dirty="0"/>
          </a:p>
        </p:txBody>
      </p:sp>
      <p:sp>
        <p:nvSpPr>
          <p:cNvPr id="84" name="Text 71"/>
          <p:cNvSpPr txBox="1"/>
          <p:nvPr/>
        </p:nvSpPr>
        <p:spPr>
          <a:xfrm>
            <a:off x="4590288" y="43708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▲</a:t>
            </a:r>
            <a:endParaRPr lang="en-US" sz="900" dirty="0"/>
          </a:p>
        </p:txBody>
      </p:sp>
      <p:sp>
        <p:nvSpPr>
          <p:cNvPr id="85" name="Shape 72"/>
          <p:cNvSpPr/>
          <p:nvPr/>
        </p:nvSpPr>
        <p:spPr>
          <a:xfrm>
            <a:off x="598932" y="4622292"/>
            <a:ext cx="3017520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6" name="Shape 73"/>
          <p:cNvSpPr/>
          <p:nvPr/>
        </p:nvSpPr>
        <p:spPr>
          <a:xfrm>
            <a:off x="548640" y="4572000"/>
            <a:ext cx="3017520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7" name="Text 74"/>
          <p:cNvSpPr txBox="1"/>
          <p:nvPr/>
        </p:nvSpPr>
        <p:spPr>
          <a:xfrm>
            <a:off x="694944" y="46451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여기서만 네트워크를 쓴다</a:t>
            </a:r>
            <a:endParaRPr lang="en-US" sz="1000" dirty="0"/>
          </a:p>
        </p:txBody>
      </p:sp>
      <p:sp>
        <p:nvSpPr>
          <p:cNvPr id="88" name="Text 75"/>
          <p:cNvSpPr txBox="1"/>
          <p:nvPr/>
        </p:nvSpPr>
        <p:spPr>
          <a:xfrm>
            <a:off x="694944" y="4882896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한 번, ingest-ops 하나. 그날의 유일한 원장 쓰기다.</a:t>
            </a:r>
            <a:endParaRPr lang="en-US" sz="860" dirty="0"/>
          </a:p>
        </p:txBody>
      </p:sp>
      <p:sp>
        <p:nvSpPr>
          <p:cNvPr id="89" name="Shape 76"/>
          <p:cNvSpPr/>
          <p:nvPr/>
        </p:nvSpPr>
        <p:spPr>
          <a:xfrm>
            <a:off x="8151876" y="4622292"/>
            <a:ext cx="3538728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0" name="Shape 77"/>
          <p:cNvSpPr/>
          <p:nvPr/>
        </p:nvSpPr>
        <p:spPr>
          <a:xfrm>
            <a:off x="8101584" y="4572000"/>
            <a:ext cx="3538728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1" name="Text 78"/>
          <p:cNvSpPr txBox="1"/>
          <p:nvPr/>
        </p:nvSpPr>
        <p:spPr>
          <a:xfrm>
            <a:off x="8247888" y="4645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걸리면 멈춘다</a:t>
            </a:r>
            <a:endParaRPr lang="en-US" sz="1000" dirty="0"/>
          </a:p>
        </p:txBody>
      </p:sp>
      <p:sp>
        <p:nvSpPr>
          <p:cNvPr id="92" name="Text 79"/>
          <p:cNvSpPr txBox="1"/>
          <p:nvPr/>
        </p:nvSpPr>
        <p:spPr>
          <a:xfrm>
            <a:off x="8247888" y="4882896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반려된 절은 빈칸이 아니라 '반려됨 — 사유' 로 회의자료에 남는다.</a:t>
            </a:r>
            <a:endParaRPr lang="en-US" sz="860" dirty="0"/>
          </a:p>
        </p:txBody>
      </p:sp>
      <p:sp>
        <p:nvSpPr>
          <p:cNvPr id="93" name="Shape 80"/>
          <p:cNvSpPr/>
          <p:nvPr/>
        </p:nvSpPr>
        <p:spPr>
          <a:xfrm>
            <a:off x="598932" y="5591556"/>
            <a:ext cx="11094415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4" name="Shape 81"/>
          <p:cNvSpPr/>
          <p:nvPr/>
        </p:nvSpPr>
        <p:spPr>
          <a:xfrm>
            <a:off x="548640" y="5541264"/>
            <a:ext cx="11094415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5" name="Text 82"/>
          <p:cNvSpPr txBox="1"/>
          <p:nvPr/>
        </p:nvSpPr>
        <p:spPr>
          <a:xfrm>
            <a:off x="786384" y="5541264"/>
            <a:ext cx="106189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방향은 왼쪽에서 오른쪽, 한 방향뿐입니다.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경로는 스키마에도 도구에도 없습니다.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는 이 그림을 무엇으로 만드는가(기술 스택 · MCP 설계 · 하루 운영 · 로드맵)를 다룹니다.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AS-IS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가진 것 — 측정 파이프라인은 이미 완성돼 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 것은 측정이 아니라, 측정 결과를 읽고 정렬하는 층이다.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KRX · DART · ECOS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· FRED</a:t>
            </a:r>
            <a:endParaRPr lang="en-US" sz="9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744" y="2432304"/>
            <a:ext cx="274320" cy="173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66644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2816352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907792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사실만 담는다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테이블</a:t>
            </a:r>
            <a:endParaRPr lang="en-US" sz="9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32304"/>
            <a:ext cx="274320" cy="1737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34356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2"/>
          <p:cNvSpPr/>
          <p:nvPr/>
        </p:nvSpPr>
        <p:spPr>
          <a:xfrm>
            <a:off x="5084064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93792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175504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처분소요일 · 집행시뮬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· 매물대</a:t>
            </a:r>
            <a:endParaRPr lang="en-US" sz="9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2432304"/>
            <a:ext cx="274320" cy="17373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02068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6"/>
          <p:cNvSpPr/>
          <p:nvPr/>
        </p:nvSpPr>
        <p:spPr>
          <a:xfrm>
            <a:off x="7351776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61504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리포트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7443216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§1~§8 · 외부 리소스 0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절마다 출처 등급</a:t>
            </a:r>
            <a:endParaRPr lang="en-US" sz="9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432304"/>
            <a:ext cx="274320" cy="17373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69780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19488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729216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회의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9710928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결정한다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598932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4"/>
          <p:cNvSpPr/>
          <p:nvPr/>
        </p:nvSpPr>
        <p:spPr>
          <a:xfrm>
            <a:off x="548640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3152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8,684</a:t>
            </a:r>
            <a:endParaRPr lang="en-US" sz="28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· 단일 파일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하나가 수집·계산·리포트를 전부 한다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3442716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9"/>
          <p:cNvSpPr/>
          <p:nvPr/>
        </p:nvSpPr>
        <p:spPr>
          <a:xfrm>
            <a:off x="3392424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575304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800" dirty="0"/>
          </a:p>
        </p:txBody>
      </p:sp>
      <p:sp>
        <p:nvSpPr>
          <p:cNvPr id="37" name="Text 31"/>
          <p:cNvSpPr txBox="1"/>
          <p:nvPr/>
        </p:nvSpPr>
        <p:spPr>
          <a:xfrm>
            <a:off x="3575304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출처 공식 API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3575304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크롤링 없음 · 유료 벤더 없음 · 뉴스 본문 없음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286500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4"/>
          <p:cNvSpPr/>
          <p:nvPr/>
        </p:nvSpPr>
        <p:spPr>
          <a:xfrm>
            <a:off x="6236208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41908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2800" dirty="0"/>
          </a:p>
        </p:txBody>
      </p:sp>
      <p:sp>
        <p:nvSpPr>
          <p:cNvPr id="42" name="Text 36"/>
          <p:cNvSpPr txBox="1"/>
          <p:nvPr/>
        </p:nvSpPr>
        <p:spPr>
          <a:xfrm>
            <a:off x="6419088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6419088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 없이 돈다. 실제로 128 passed 확인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130284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39"/>
          <p:cNvSpPr/>
          <p:nvPr/>
        </p:nvSpPr>
        <p:spPr>
          <a:xfrm>
            <a:off x="9079992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262872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800" dirty="0"/>
          </a:p>
        </p:txBody>
      </p:sp>
      <p:sp>
        <p:nvSpPr>
          <p:cNvPr id="47" name="Text 41"/>
          <p:cNvSpPr txBox="1"/>
          <p:nvPr/>
        </p:nvSpPr>
        <p:spPr>
          <a:xfrm>
            <a:off x="926287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 채택 논문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9262872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팩터마다 논문 키를 달고 나간다 (.papers.json)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598932" y="5280660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4"/>
          <p:cNvSpPr/>
          <p:nvPr/>
        </p:nvSpPr>
        <p:spPr>
          <a:xfrm>
            <a:off x="548640" y="5230368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86384" y="5230368"/>
            <a:ext cx="1061892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계산 · 검증은 손댈 것이 없다. 부족한 것은 두 가지다.
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산출물을 읽어 회의 쟁점으로 바꾸는 사람의 시간   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읽기의 근거가 되는 논문이 우리 시장에서 성립하는지에 대한 확인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출처: 저장소 실측 — ki_monitor.py 8,684줄 · CATALOG 31개 항목 · SECTIONS 18개 절 · selftest 128 passed 0 failed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WHY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병목은 계산이 아니라 독해다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리포트는 매일 08:50에 나온다. 문제는 그것을 끝까지 읽을 사람이 없다는 것이다.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5504688" cy="3968496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병목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359152"/>
            <a:ext cx="182880" cy="182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사람이 한 명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§1~§18을 통독하는 사람은 사실상 한 명이다.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1638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15568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85개 종목 × §5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1115568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종목별 상세는 사람이 읽을 분량이 아니다. 몇 종목만 보고 회의에 들어간다.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968496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붙이기가 수작업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15568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공시 원문 · 논문 · 매크로 일정을 종목에 연결하는 일은 전부 손이다.</a:t>
            </a:r>
            <a:endParaRPr lang="en-US" sz="10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773168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15568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멈춰 있다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1115568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 최신이 2012년이다. 14년치 계량금융이 비어 있다.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341364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5"/>
          <p:cNvSpPr/>
          <p:nvPr/>
        </p:nvSpPr>
        <p:spPr>
          <a:xfrm>
            <a:off x="6291072" y="1664208"/>
            <a:ext cx="5504688" cy="3968496"/>
          </a:xfrm>
          <a:prstGeom prst="rect">
            <a:avLst/>
          </a:prstGeom>
          <a:solidFill>
            <a:srgbClr val="13241A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47104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에이전트화 이후</a:t>
            </a:r>
            <a:endParaRPr lang="en-US" sz="1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359152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0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나눠 동시에 읽는다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기업분석·계량·매크로·집행이 각자 자기 절만 맡는다.</a:t>
            </a:r>
            <a:endParaRPr lang="en-US" sz="10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4" y="3163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변동분에만 초안이 붙는다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58000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전수가 아니라 그날 실제로 무언가 일어난 종목만 읽는다.</a:t>
            </a:r>
            <a:endParaRPr lang="en-US" sz="10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3968496"/>
            <a:ext cx="182880" cy="1828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858000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쟁점만 회의에 올라온다</a:t>
            </a:r>
            <a:endParaRPr lang="en-US" sz="1250" dirty="0"/>
          </a:p>
        </p:txBody>
      </p:sp>
      <p:sp>
        <p:nvSpPr>
          <p:cNvPr id="31" name="Text 22"/>
          <p:cNvSpPr txBox="1"/>
          <p:nvPr/>
        </p:nvSpPr>
        <p:spPr>
          <a:xfrm>
            <a:off x="6858000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간사가 데스크 간 불일치와 결측만 추려 한 장으로 정렬한다.</a:t>
            </a:r>
            <a:endParaRPr lang="en-US" sz="10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7104" y="4773168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6858000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스스로 갱신된다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6858000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수확하고, 재현 검사를 통과한 것만 채택본에 들어온다.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26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대상은 '독해와 정렬'이다.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지금과 똑같이 회의에서 사람이 한다 — 이 경계가 흔들리면 에이전트화는 실패다.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NON-NEGOTIABLE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들어와도 깨지 않는 다섯 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CLAUDE.md 에 이미 적혀 있는 규칙이다. 에이전트화는 이것을 완화하는 일이 아니라, 코드가 아닌 곳에서도 지키게 만드는 일이다.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209854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4825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43584" y="21214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재기만 하고 판단하지 않는다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2203704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2304288"/>
            <a:ext cx="237744" cy="14630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73952" y="22037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게이트 ① 판정 어휘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8932" y="288493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283464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측정한 사실만 쓴다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43584" y="3182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추정·가정·장중 스냅샷(persist=False)을 넣지 않는다.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035040" y="2990088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090672"/>
            <a:ext cx="237744" cy="14630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473952" y="2990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MCP 에 쓰기 도구 미노출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98932" y="367131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0"/>
          <p:cNvSpPr/>
          <p:nvPr/>
        </p:nvSpPr>
        <p:spPr>
          <a:xfrm>
            <a:off x="548640" y="362102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243584" y="3694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만들지 않는다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243584" y="39684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구한 값은 None 과 사유. 0 으로 채우지 않는다.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035040" y="3776472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877056"/>
            <a:ext cx="237744" cy="14630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73952" y="37764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봉투 null 허용 · 게이트 ⑤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598932" y="445770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8"/>
          <p:cNvSpPr/>
          <p:nvPr/>
        </p:nvSpPr>
        <p:spPr>
          <a:xfrm>
            <a:off x="548640" y="440740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1243584" y="4480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재료에는 등급이 있다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1243584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참고 · 방법론 · 사내를 같은 표에 섞지 않는다.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6035040" y="4562856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663440"/>
            <a:ext cx="237744" cy="14630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473952" y="45628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다섯 번째 등급 '해석' 신설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598932" y="5244084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36"/>
          <p:cNvSpPr/>
          <p:nvPr/>
        </p:nvSpPr>
        <p:spPr>
          <a:xfrm>
            <a:off x="548640" y="5193792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1243584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키와 대외비는 저장소 밖에 둔다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1243584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.gitignore 는 약하다. git add -f 한 번이면 뚫린다.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6035040" y="5349240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449824"/>
            <a:ext cx="237744" cy="14630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6473952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출력 scrub() 강제 · 게이트 ⑥</a:t>
            </a:r>
            <a:endParaRPr lang="en-US" sz="1000" dirty="0"/>
          </a:p>
        </p:txBody>
      </p:sp>
      <p:sp>
        <p:nvSpPr>
          <p:cNvPr id="50" name="Text 4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인용: CLAUDE.md '절대 깨지 말아야 할 것' §1~§5 · selftest 128개가 ①·⑤의 코드 측면을 이미 검사한다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 이미 재고 있는 것 — 리픽싱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리픽싱 — 주가가 더 내리면 희석이 얼마나 가속되는가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전환가액은 고정이 아니다. 주가가 내리면 따라 내리고, 그만큼 잠재주식수가 늘어난다. 최저한도에 닿기 전까지는 계속 늘어난다.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943600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943600" cy="223113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ki_monitor.py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554126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refix_scenario(cb_amount, price, floor_price,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drops=(0.9, 0.8, 0.7)) -&gt; list[dict]: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"""주가가 더 내리면 희석이 얼마나 가속되는가."""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d in drops: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px = price * d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cv = max(px, floor_price)          # 최저조정한도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out.append({"price": round(px,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"conv_price": round(cv,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"potential_shares":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round(cb_amount / cv) if cv else None})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743700" y="1769364"/>
            <a:ext cx="4946904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6693408" y="1719072"/>
            <a:ext cx="4946904" cy="2231136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94576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산출 예 · CB 10억 · 현재가 10,000 · 하한 7,000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894576" y="21396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139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전환가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396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잠재주식수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94576" y="2377440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86016" y="23774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100,000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94576" y="2706624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86016" y="27066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-10%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270662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111,111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94576" y="3035808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86016" y="30358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-20%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0" y="30358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125,000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94576" y="3364992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6016" y="33649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875520" y="33649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142,857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894576" y="36941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 에서 하한에 닿는다 — 그 아래로는 더 늘지 않는다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8932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최저조정한도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최초 전환가액의 70%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밑으로 내리려면 발행 시마다 주주총회 특별결의가 필요하다. 정관에 근거를 두는 방식은 2021년 개정으로 막혔다.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357116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4306824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9704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상향조정 의무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489704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사모 발행 · 70~100%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9704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하락으로 조정한 뒤 주가가 오르면 다시 올려야 한다. 범위는 최초 전환가액을 넘지 못한다.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115300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8065008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콜옵션 공시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247888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행사자 공시 의무화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발행사·최대주주가 되사는 콜옵션의 행사자와 조건이 공시 대상이 됐다. 지분 변동 감시에 쓴다.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8932" y="5682996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50"/>
          <p:cNvSpPr/>
          <p:nvPr/>
        </p:nvSpPr>
        <p:spPr>
          <a:xfrm>
            <a:off x="548640" y="5632704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6384" y="5632704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함께 낸다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floor_price 는 우리가 넣는 값이다. 실제 조항(조정 주기·한도·예외)은 증권신고서와 주요사항보고서 원문을 봐야 한다. 공시 제목만으로는 알 수 없고, 이 도구는 원문 링크를 달아 둔다.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★★ 이미 재고 있는 것 — 희석 ≠ 권리락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희석은 권리락이 아니다 — 수정주가를 조정하면 안 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메자닌 포트폴리오는 CB 전환이 상시 일어난다. 주식수 증가를 자동으로 권리락으로 처리하는 순간, 과거 수익률이 조용히 틀어진다.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8366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무상증자 · 액면분할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조정한다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7824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49808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377440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÷2 (권리락)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9808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77824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불변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49808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77824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2377440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과거를 ÷2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실측이 주식수 비율을 뒷받침한다. 같은 날 주가가 정확히 절반이 됐다면 권리락이다.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49924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2"/>
          <p:cNvSpPr/>
          <p:nvPr/>
        </p:nvSpPr>
        <p:spPr>
          <a:xfrm>
            <a:off x="6199632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83664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711696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CB 전환 · 유상증자 · 옵션행사</a:t>
            </a:r>
            <a:endParaRPr lang="en-US" sz="1350" dirty="0"/>
          </a:p>
        </p:txBody>
      </p:sp>
      <p:sp>
        <p:nvSpPr>
          <p:cNvPr id="28" name="Shape 24"/>
          <p:cNvSpPr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조정하지 않는다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400800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528816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+2.5%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400800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6528816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시장이 정한다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400800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528816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증가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400800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6528816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8028432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그대로 둔다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400800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주식수만 늘고 권리락은 없다. 여기서 조정하면 전환 이전 구간 수익률이 통째로 왜곡된다.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598932" y="4841748"/>
            <a:ext cx="7223760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0"/>
          <p:cNvSpPr/>
          <p:nvPr/>
        </p:nvSpPr>
        <p:spPr>
          <a:xfrm>
            <a:off x="548640" y="4791456"/>
            <a:ext cx="7223760" cy="1444752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68096" y="4901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selftest — 이 구분을 매번 검사한다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68096" y="5157216"/>
            <a:ext cx="6821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d.loc[200:, "shares"] *= 1.025              # 주식수만 +2.5%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d.loc[200, ["open","high","low","close"]] *= 0.90   # 시장 하락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adjust_audit(d)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_assert(r["n_actions"] == 0)                # 조정하지 않는다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_assert(len(r["unresolved"]) == 1)          # 대신 "확인 필요" 로 표시</a:t>
            </a:r>
            <a:endParaRPr lang="en-US" sz="860" dirty="0"/>
          </a:p>
        </p:txBody>
      </p:sp>
      <p:sp>
        <p:nvSpPr>
          <p:cNvPr id="47" name="Shape 43"/>
          <p:cNvSpPr/>
          <p:nvPr/>
        </p:nvSpPr>
        <p:spPr>
          <a:xfrm>
            <a:off x="8023860" y="4841748"/>
            <a:ext cx="3666744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4"/>
          <p:cNvSpPr/>
          <p:nvPr/>
        </p:nvSpPr>
        <p:spPr>
          <a:xfrm>
            <a:off x="7973568" y="4791456"/>
            <a:ext cx="3666744" cy="144475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74736" y="49194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지우지 않고 남긴다</a:t>
            </a:r>
            <a:endParaRPr lang="en-US" sz="1250" dirty="0"/>
          </a:p>
        </p:txBody>
      </p:sp>
      <p:sp>
        <p:nvSpPr>
          <p:cNvPr id="50" name="Text 46"/>
          <p:cNvSpPr txBox="1"/>
          <p:nvPr/>
        </p:nvSpPr>
        <p:spPr>
          <a:xfrm>
            <a:off x="8174736" y="521208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판별이 안 되면 조정하지도, 없애지도 않고 '확인 필요' 로 남긴다. 사람이 DART 원문을 보고 판단한다.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조용히 처리하는 것이 가장 위험하다.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이미 재고 있는 것 — 처분 여건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소요일수 — 평균과 중앙값을 나란히 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소형주는 거래대금이 상위 며칠에 몰린다. 평균 거래량으로 나누면 실제보다 짧게 나오고, 그 낙관이 회수 계획에 그대로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577840" cy="22860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577840" cy="22860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종목, 두 기준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8096" y="2249424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2494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물량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249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1,200,000 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" y="2651760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651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거래량 기준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517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 영업일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8096" y="3054096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05409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 기준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0540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18.1 영업일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" y="3456432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34564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 일 (46%)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378561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예시입니다 (실제 값은 대외비)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23076" y="1787652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6272784" y="1737360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55664" y="1847088"/>
            <a:ext cx="109728" cy="29260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0" y="17373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가정을 드러낸다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17373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참여율(일 거래량의 몇 %까지 낼 것인가)을 표에 적고 민감도를 함께 낸다. 숫자만 내면 가정이 숨는다.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23076" y="2372868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322576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2432304"/>
            <a:ext cx="109728" cy="29260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75120" y="2322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스프레드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232257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Roll(1984) 추정치. 호가가 없어도 종가 계열만으로 거래비용을 잰다.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3076" y="2958084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2" name="Shape 30"/>
          <p:cNvSpPr/>
          <p:nvPr/>
        </p:nvSpPr>
        <p:spPr>
          <a:xfrm>
            <a:off x="6272784" y="2907792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55664" y="3017520"/>
            <a:ext cx="109728" cy="29260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675120" y="29077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29077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Amihud(2002) — 거래대금당 가격 충격. 코스닥 소형주에서 특히 크다.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076" y="3543300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6272784" y="3493008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55664" y="3602736"/>
            <a:ext cx="109728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75120" y="349300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매물대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34930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가격대별 거래대금 분포. 어느 구간에 물량이 쌓여 있는지 본다.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323076" y="4165092"/>
            <a:ext cx="5367528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114800"/>
            <a:ext cx="5367528" cy="13716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424281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락업이 남아 있으면 소요일수는 의미가 없다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4535424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여건은 '팔 수 있는 상태인가'와 '판다면 며칠 걸리는가'가 곱해진 값이다. 락업 잔여일이 소요일수보다 길면, 소요일수는 아직 답이 아니라 준비다.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8932" y="4165092"/>
            <a:ext cx="5577840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4"/>
          <p:cNvSpPr/>
          <p:nvPr/>
        </p:nvSpPr>
        <p:spPr>
          <a:xfrm>
            <a:off x="548640" y="4114800"/>
            <a:ext cx="5577840" cy="1371600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8096" y="42428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중앙값을 함께 내는가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68096" y="4535424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발표·테마 뉴스가 있던 며칠이 평균을 끌어올린다. 그날 팔 수 있었을지는 별개 문제다. 중앙값은 '평범한 날'에 낼 수 있는 물량을 본다.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98932" y="5682996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40" y="5632704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6384" y="5632704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 — </a:t>
            </a:r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[1차] KRX 일별매매정보 거래량·거래대금 · [방법론] 처분 소요일 = 목표 물량 ÷ 기간 거래량, 가정은 표에 명시 · [사내] exit_plan.csv 의 목표 물량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12편은 목록이 아니라 스냅샷이다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의 verified 는 2026-09-05 다. 그날 이후로 이 데스크의 방법론은 멈춰 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486400" cy="4169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486400" cy="4169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adopted = 12   ·   frozen @ 2026-09-05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786384" y="2304288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2144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1984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084832" y="2304288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50592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j1990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2450592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1990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3383280" y="230428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749040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ritter1991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3749040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1991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>
            <a:alphaModFix amt="55000"/>
          </a:blip>
          <a:stretch>
            <a:fillRect/>
          </a:stretch>
        </p:blipFill>
        <p:spPr>
          <a:xfrm>
            <a:off x="4681728" y="2304288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47488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5047488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1993</a:t>
            </a:r>
            <a:endParaRPr lang="en-US" sz="8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>
            <a:alphaModFix amt="55000"/>
          </a:blip>
          <a:stretch>
            <a:fillRect/>
          </a:stretch>
        </p:blipFill>
        <p:spPr>
          <a:xfrm>
            <a:off x="786384" y="3236976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52144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1152144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>
            <a:alphaModFix amt="55000"/>
          </a:blip>
          <a:stretch>
            <a:fillRect/>
          </a:stretch>
        </p:blipFill>
        <p:spPr>
          <a:xfrm>
            <a:off x="2084832" y="3236976"/>
            <a:ext cx="310896" cy="31089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50592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ac2000</a:t>
            </a:r>
            <a:endParaRPr lang="en-US" sz="850" dirty="0"/>
          </a:p>
        </p:txBody>
      </p:sp>
      <p:sp>
        <p:nvSpPr>
          <p:cNvPr id="25" name="Text 17"/>
          <p:cNvSpPr txBox="1"/>
          <p:nvPr/>
        </p:nvSpPr>
        <p:spPr>
          <a:xfrm>
            <a:off x="2450592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endParaRPr lang="en-US" sz="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>
            <a:alphaModFix amt="55000"/>
          </a:blip>
          <a:stretch>
            <a:fillRect/>
          </a:stretch>
        </p:blipFill>
        <p:spPr>
          <a:xfrm>
            <a:off x="3383280" y="3236976"/>
            <a:ext cx="310896" cy="31089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749040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fh2001</a:t>
            </a:r>
            <a:endParaRPr lang="en-US" sz="850" dirty="0"/>
          </a:p>
        </p:txBody>
      </p:sp>
      <p:sp>
        <p:nvSpPr>
          <p:cNvPr id="28" name="Text 19"/>
          <p:cNvSpPr txBox="1"/>
          <p:nvPr/>
        </p:nvSpPr>
        <p:spPr>
          <a:xfrm>
            <a:off x="3749040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2001</a:t>
            </a:r>
            <a:endParaRPr lang="en-US" sz="8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>
            <a:off x="4681728" y="3236976"/>
            <a:ext cx="310896" cy="31089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047488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850" dirty="0"/>
          </a:p>
        </p:txBody>
      </p:sp>
      <p:sp>
        <p:nvSpPr>
          <p:cNvPr id="31" name="Text 21"/>
          <p:cNvSpPr txBox="1"/>
          <p:nvPr/>
        </p:nvSpPr>
        <p:spPr>
          <a:xfrm>
            <a:off x="5047488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2002</a:t>
            </a:r>
            <a:endParaRPr lang="en-US" sz="8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>
            <a:alphaModFix amt="55000"/>
          </a:blip>
          <a:stretch>
            <a:fillRect/>
          </a:stretch>
        </p:blipFill>
        <p:spPr>
          <a:xfrm>
            <a:off x="786384" y="4169664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1152144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gh2004</a:t>
            </a:r>
            <a:endParaRPr lang="en-US" sz="850" dirty="0"/>
          </a:p>
        </p:txBody>
      </p:sp>
      <p:sp>
        <p:nvSpPr>
          <p:cNvPr id="34" name="Text 23"/>
          <p:cNvSpPr txBox="1"/>
          <p:nvPr/>
        </p:nvSpPr>
        <p:spPr>
          <a:xfrm>
            <a:off x="1152144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2004</a:t>
            </a:r>
            <a:endParaRPr lang="en-US" sz="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>
            <a:alphaModFix amt="55000"/>
          </a:blip>
          <a:stretch>
            <a:fillRect/>
          </a:stretch>
        </p:blipFill>
        <p:spPr>
          <a:xfrm>
            <a:off x="2084832" y="4169664"/>
            <a:ext cx="310896" cy="31089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2450592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athl2005</a:t>
            </a:r>
            <a:endParaRPr lang="en-US" sz="850" dirty="0"/>
          </a:p>
        </p:txBody>
      </p:sp>
      <p:sp>
        <p:nvSpPr>
          <p:cNvPr id="37" name="Text 25"/>
          <p:cNvSpPr txBox="1"/>
          <p:nvPr/>
        </p:nvSpPr>
        <p:spPr>
          <a:xfrm>
            <a:off x="2450592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2005</a:t>
            </a:r>
            <a:endParaRPr lang="en-US" sz="8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>
            <a:alphaModFix amt="55000"/>
          </a:blip>
          <a:stretch>
            <a:fillRect/>
          </a:stretch>
        </p:blipFill>
        <p:spPr>
          <a:xfrm>
            <a:off x="3383280" y="4169664"/>
            <a:ext cx="310896" cy="310896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3749040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850" dirty="0"/>
          </a:p>
        </p:txBody>
      </p:sp>
      <p:sp>
        <p:nvSpPr>
          <p:cNvPr id="40" name="Text 27"/>
          <p:cNvSpPr txBox="1"/>
          <p:nvPr/>
        </p:nvSpPr>
        <p:spPr>
          <a:xfrm>
            <a:off x="3749040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2006</a:t>
            </a:r>
            <a:endParaRPr lang="en-US" sz="8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>
            <a:alphaModFix amt="55000"/>
          </a:blip>
          <a:stretch>
            <a:fillRect/>
          </a:stretch>
        </p:blipFill>
        <p:spPr>
          <a:xfrm>
            <a:off x="4681728" y="4169664"/>
            <a:ext cx="310896" cy="310896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5047488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cs2012</a:t>
            </a:r>
            <a:endParaRPr lang="en-US" sz="850" dirty="0"/>
          </a:p>
        </p:txBody>
      </p:sp>
      <p:sp>
        <p:nvSpPr>
          <p:cNvPr id="43" name="Text 29"/>
          <p:cNvSpPr txBox="1"/>
          <p:nvPr/>
        </p:nvSpPr>
        <p:spPr>
          <a:xfrm>
            <a:off x="5047488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2012</a:t>
            </a:r>
            <a:endParaRPr lang="en-US" sz="800" dirty="0"/>
          </a:p>
        </p:txBody>
      </p:sp>
      <p:sp>
        <p:nvSpPr>
          <p:cNvPr id="44" name="Text 30"/>
          <p:cNvSpPr txBox="1"/>
          <p:nvPr/>
        </p:nvSpPr>
        <p:spPr>
          <a:xfrm>
            <a:off x="786384" y="49011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최신 채택본이 2012년이다 — 14년치 계량금융이 비어 있다</a:t>
            </a:r>
            <a:endParaRPr lang="en-US" sz="1050" dirty="0"/>
          </a:p>
        </p:txBody>
      </p:sp>
      <p:sp>
        <p:nvSpPr>
          <p:cNvPr id="45" name="Text 31"/>
          <p:cNvSpPr txBox="1"/>
          <p:nvPr/>
        </p:nvSpPr>
        <p:spPr>
          <a:xfrm>
            <a:off x="786384" y="51937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사이 시장미시구조·집행비용 연구가 가장 많이 쌓인 구간이다. 훑지 않아서 없는 것이지, 없어서 없는 것이 아니다.</a:t>
            </a:r>
            <a:endParaRPr lang="en-US" sz="1000" dirty="0"/>
          </a:p>
        </p:txBody>
      </p:sp>
      <p:sp>
        <p:nvSpPr>
          <p:cNvPr id="46" name="Shape 32"/>
          <p:cNvSpPr/>
          <p:nvPr/>
        </p:nvSpPr>
        <p:spPr>
          <a:xfrm>
            <a:off x="6323076" y="1751076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3"/>
          <p:cNvSpPr/>
          <p:nvPr/>
        </p:nvSpPr>
        <p:spPr>
          <a:xfrm>
            <a:off x="6272784" y="1700784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5664" y="1837944"/>
            <a:ext cx="201168" cy="201168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6656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고른 목록은 고른 날짜에서 멈춘다</a:t>
            </a:r>
            <a:endParaRPr lang="en-US" sz="1250" dirty="0"/>
          </a:p>
        </p:txBody>
      </p:sp>
      <p:sp>
        <p:nvSpPr>
          <p:cNvPr id="50" name="Text 35"/>
          <p:cNvSpPr txBox="1"/>
          <p:nvPr/>
        </p:nvSpPr>
        <p:spPr>
          <a:xfrm>
            <a:off x="6766560" y="20848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다시 훑을지가 정해져 있지 않으면, 갱신은 사실상 일어나지 않는다.</a:t>
            </a:r>
            <a:endParaRPr lang="en-US" sz="1000" dirty="0"/>
          </a:p>
        </p:txBody>
      </p:sp>
      <p:sp>
        <p:nvSpPr>
          <p:cNvPr id="51" name="Shape 36"/>
          <p:cNvSpPr/>
          <p:nvPr/>
        </p:nvSpPr>
        <p:spPr>
          <a:xfrm>
            <a:off x="6323076" y="2784348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37"/>
          <p:cNvSpPr/>
          <p:nvPr/>
        </p:nvSpPr>
        <p:spPr>
          <a:xfrm>
            <a:off x="6272784" y="2734056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5664" y="2871216"/>
            <a:ext cx="201168" cy="201168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6766560" y="284378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8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검증이 아니다</a:t>
            </a:r>
            <a:endParaRPr lang="en-US" sz="1250" dirty="0"/>
          </a:p>
        </p:txBody>
      </p:sp>
      <p:sp>
        <p:nvSpPr>
          <p:cNvPr id="55" name="Text 39"/>
          <p:cNvSpPr txBox="1"/>
          <p:nvPr/>
        </p:nvSpPr>
        <p:spPr>
          <a:xfrm>
            <a:off x="6766560" y="31181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미국 대형주에서 보인 효과가 코스닥 소형주에서 성립하는지는 아무도 확인하지 않았다.</a:t>
            </a:r>
            <a:endParaRPr lang="en-US" sz="1000" dirty="0"/>
          </a:p>
        </p:txBody>
      </p:sp>
      <p:sp>
        <p:nvSpPr>
          <p:cNvPr id="56" name="Shape 40"/>
          <p:cNvSpPr/>
          <p:nvPr/>
        </p:nvSpPr>
        <p:spPr>
          <a:xfrm>
            <a:off x="6323076" y="3817620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1"/>
          <p:cNvSpPr/>
          <p:nvPr/>
        </p:nvSpPr>
        <p:spPr>
          <a:xfrm>
            <a:off x="6272784" y="3767328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5664" y="3904488"/>
            <a:ext cx="201168" cy="201168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6766560" y="387705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채로 계속 쓰인다</a:t>
            </a:r>
            <a:endParaRPr lang="en-US" sz="1250" dirty="0"/>
          </a:p>
        </p:txBody>
      </p:sp>
      <p:sp>
        <p:nvSpPr>
          <p:cNvPr id="60" name="Text 43"/>
          <p:cNvSpPr txBox="1"/>
          <p:nvPr/>
        </p:nvSpPr>
        <p:spPr>
          <a:xfrm>
            <a:off x="6766560" y="415137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 은퇴 개념이 없다. 뒤집힌 결과도 목록에 남아 계속 인용된다.</a:t>
            </a:r>
            <a:endParaRPr lang="en-US" sz="1000" dirty="0"/>
          </a:p>
        </p:txBody>
      </p:sp>
      <p:sp>
        <p:nvSpPr>
          <p:cNvPr id="61" name="Shape 44"/>
          <p:cNvSpPr/>
          <p:nvPr/>
        </p:nvSpPr>
        <p:spPr>
          <a:xfrm>
            <a:off x="6323076" y="4878324"/>
            <a:ext cx="5367528" cy="10424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45"/>
          <p:cNvSpPr/>
          <p:nvPr/>
        </p:nvSpPr>
        <p:spPr>
          <a:xfrm>
            <a:off x="6272784" y="4828032"/>
            <a:ext cx="5367528" cy="1042416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pic>
        <p:nvPicPr>
          <p:cNvPr id="6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55664" y="4992624"/>
            <a:ext cx="219456" cy="219456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6766560" y="495604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편수를 세지 않는다</a:t>
            </a:r>
            <a:endParaRPr lang="en-US" sz="1300" dirty="0"/>
          </a:p>
        </p:txBody>
      </p:sp>
      <p:sp>
        <p:nvSpPr>
          <p:cNvPr id="65" name="Text 47"/>
          <p:cNvSpPr txBox="1"/>
          <p:nvPr/>
        </p:nvSpPr>
        <p:spPr>
          <a:xfrm>
            <a:off x="6766560" y="5248656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"몇 편 있는가"가 아니라 "몇 편이 아직 살아있는가"를 센다. 채택은 상태이지 영구 자격이 아니다.</a:t>
            </a:r>
            <a:endParaRPr lang="en-US" sz="1050" dirty="0"/>
          </a:p>
        </p:txBody>
      </p:sp>
      <p:sp>
        <p:nvSpPr>
          <p:cNvPr id="66" name="Text 4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근거: stock-monitor/.papers.json — schema ki.papers/1 · verified 2026-09-05 · adopted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— 새 논문을 들여와 통과 테스트를 돌린다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아니라 매주 도는 사이클이다. 수확은 이미 있고(fetch_papers.py), 새로 넣는 것은 세 번째 — 재현 관문이다.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157984" cy="47548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HARVEST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 q-fin 8분류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 Scholar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OpenAlex · Crossref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~400건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3218688"/>
            <a:ext cx="274320" cy="17373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875788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5496" y="1700784"/>
            <a:ext cx="2157984" cy="47548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35224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SCREEN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875788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6"/>
          <p:cNvSpPr/>
          <p:nvPr/>
        </p:nvSpPr>
        <p:spPr>
          <a:xfrm>
            <a:off x="2825496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71800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초록으로 네 질문 중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하나를 바꾸는가 판정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프리프린트 등급 표시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~40건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3218688"/>
            <a:ext cx="274320" cy="17373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152644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2"/>
          <p:cNvSpPr/>
          <p:nvPr/>
        </p:nvSpPr>
        <p:spPr>
          <a:xfrm>
            <a:off x="5102352" y="1700784"/>
            <a:ext cx="2157984" cy="47548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212080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REPLICATE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152644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5"/>
          <p:cNvSpPr/>
          <p:nvPr/>
        </p:nvSpPr>
        <p:spPr>
          <a:xfrm>
            <a:off x="5102352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8656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5248656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원장 일봉에서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팩터를 실제로 계산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방향·유의성 대조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~6건</a:t>
            </a:r>
            <a:endParaRPr lang="en-US" sz="1000" dirty="0"/>
          </a:p>
        </p:txBody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3218688"/>
            <a:ext cx="274320" cy="173736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429500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1"/>
          <p:cNvSpPr/>
          <p:nvPr/>
        </p:nvSpPr>
        <p:spPr>
          <a:xfrm>
            <a:off x="7379208" y="1700784"/>
            <a:ext cx="2157984" cy="47548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488936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ADOPT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7429500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4"/>
          <p:cNvSpPr/>
          <p:nvPr/>
        </p:nvSpPr>
        <p:spPr>
          <a:xfrm>
            <a:off x="7379208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525512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7525512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Crossref 발행정보 재대조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작성 필수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채택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~2건</a:t>
            </a:r>
            <a:endParaRPr lang="en-US" sz="1000" dirty="0"/>
          </a:p>
        </p:txBody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3218688"/>
            <a:ext cx="274320" cy="17373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9706356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0"/>
          <p:cNvSpPr/>
          <p:nvPr/>
        </p:nvSpPr>
        <p:spPr>
          <a:xfrm>
            <a:off x="9656064" y="1700784"/>
            <a:ext cx="2157984" cy="47548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9765792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DECAY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9706356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3"/>
          <p:cNvSpPr/>
          <p:nvPr/>
        </p:nvSpPr>
        <p:spPr>
          <a:xfrm>
            <a:off x="9656064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802368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</a:t>
            </a:r>
            <a:endParaRPr lang="en-US" sz="1900" dirty="0"/>
          </a:p>
        </p:txBody>
      </p:sp>
      <p:sp>
        <p:nvSpPr>
          <p:cNvPr id="51" name="Text 45"/>
          <p:cNvSpPr txBox="1"/>
          <p:nvPr/>
        </p:nvSpPr>
        <p:spPr>
          <a:xfrm>
            <a:off x="9802368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반감기마다 재현 재검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실패 시 은퇴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절에 경고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상시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598932" y="4969764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9"/>
          <p:cNvSpPr/>
          <p:nvPr/>
        </p:nvSpPr>
        <p:spPr>
          <a:xfrm>
            <a:off x="548640" y="4919472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68096" y="5029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같은 깔때기를 돌린다</a:t>
            </a:r>
            <a:endParaRPr lang="en-US" sz="1250" dirty="0"/>
          </a:p>
        </p:txBody>
      </p:sp>
      <p:sp>
        <p:nvSpPr>
          <p:cNvPr id="57" name="Text 51"/>
          <p:cNvSpPr txBox="1"/>
          <p:nvPr/>
        </p:nvSpPr>
        <p:spPr>
          <a:xfrm>
            <a:off x="768096" y="530352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400건을 훑어 2건이 남는다. 같은 사이클에 반감기가 도래한 기존 채택본도 함께 태워 재검한다(주 최대 3편). 12편을 한꺼번에 검사하는 단계는 없다.</a:t>
            </a:r>
            <a:endParaRPr lang="en-US" sz="1050" dirty="0"/>
          </a:p>
        </p:txBody>
      </p:sp>
      <p:sp>
        <p:nvSpPr>
          <p:cNvPr id="58" name="Text 52"/>
          <p:cNvSpPr txBox="1"/>
          <p:nvPr/>
        </p:nvSpPr>
        <p:spPr>
          <a:xfrm>
            <a:off x="7772400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endParaRPr lang="en-US" sz="2200" dirty="0"/>
          </a:p>
        </p:txBody>
      </p:sp>
      <p:sp>
        <p:nvSpPr>
          <p:cNvPr id="59" name="Text 53"/>
          <p:cNvSpPr txBox="1"/>
          <p:nvPr/>
        </p:nvSpPr>
        <p:spPr>
          <a:xfrm>
            <a:off x="8430768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0" name="Text 54"/>
          <p:cNvSpPr txBox="1"/>
          <p:nvPr/>
        </p:nvSpPr>
        <p:spPr>
          <a:xfrm>
            <a:off x="7772400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수확</a:t>
            </a:r>
            <a:endParaRPr lang="en-US" sz="900" dirty="0"/>
          </a:p>
        </p:txBody>
      </p:sp>
      <p:sp>
        <p:nvSpPr>
          <p:cNvPr id="61" name="Text 55"/>
          <p:cNvSpPr txBox="1"/>
          <p:nvPr/>
        </p:nvSpPr>
        <p:spPr>
          <a:xfrm>
            <a:off x="8759952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2200" dirty="0"/>
          </a:p>
        </p:txBody>
      </p:sp>
      <p:sp>
        <p:nvSpPr>
          <p:cNvPr id="62" name="Text 56"/>
          <p:cNvSpPr txBox="1"/>
          <p:nvPr/>
        </p:nvSpPr>
        <p:spPr>
          <a:xfrm>
            <a:off x="9418320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759952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심사</a:t>
            </a:r>
            <a:endParaRPr lang="en-US" sz="900" dirty="0"/>
          </a:p>
        </p:txBody>
      </p:sp>
      <p:sp>
        <p:nvSpPr>
          <p:cNvPr id="64" name="Text 58"/>
          <p:cNvSpPr txBox="1"/>
          <p:nvPr/>
        </p:nvSpPr>
        <p:spPr>
          <a:xfrm>
            <a:off x="9747504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65" name="Text 59"/>
          <p:cNvSpPr txBox="1"/>
          <p:nvPr/>
        </p:nvSpPr>
        <p:spPr>
          <a:xfrm>
            <a:off x="10405872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6" name="Text 60"/>
          <p:cNvSpPr txBox="1"/>
          <p:nvPr/>
        </p:nvSpPr>
        <p:spPr>
          <a:xfrm>
            <a:off x="9747504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10735056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68" name="Text 62"/>
          <p:cNvSpPr txBox="1"/>
          <p:nvPr/>
        </p:nvSpPr>
        <p:spPr>
          <a:xfrm>
            <a:off x="10735056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채택</a:t>
            </a:r>
            <a:endParaRPr lang="en-US" sz="900" dirty="0"/>
          </a:p>
        </p:txBody>
      </p:sp>
      <p:sp>
        <p:nvSpPr>
          <p:cNvPr id="69" name="Text 6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주 1회 · 월요일 07:30 배치 · 수확 4곳은 이미 구현돼 있다 (docs/fetch_papers.py) · 03 재현과 05 감가가 신설분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★ REPLICATION GATE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— 인용하기 전에 우리 데이터로 계산해 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데스크가 다루는 것은 코스닥 소형주다. 논문 표본이 미국 대형주라면, 그 결론은 가설이지 근거가 아니다.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556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검정 가능한 주장 하나를 뽑는다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0116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"거래량이 낮을수록 이후 수익률이 높다" 처럼 방향이 있는 한 문장으로 환원한다. 환원되지 않으면 재현 대상이 아니다.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8932" y="2519172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468880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420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원장에서 그 팩터를 계산한다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27980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일봉으로 팩터를 만든다. 새 데이터를 받지 않는다 — 이미 KRX 공식 API 로 받아 둔 것만 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8932" y="3305556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255264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328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전종목에 적용해 방향을 본다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5844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포트폴리오 스프레드의 부호가 논문과 같은가. 표본이 부족하면 계산을 거부한다(기존 원칙 그대로).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" y="4091940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041648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07008" y="4114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중 하나로 판정한다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" y="4370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재현됨 / 방향 반대 / 판정 불가. 재현되지 않아도 지우지 않고 결과를 남긴다.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8932" y="4878324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828032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07008" y="490118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재현된 것만 채택본으로 넘긴다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207008" y="5157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결과와 표본 구간이 논문 항목에 함께 저장돼, 리포트에 인용될 때 같이 따라 나간다.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3428" y="1732788"/>
            <a:ext cx="4837176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4"/>
          <p:cNvSpPr/>
          <p:nvPr/>
        </p:nvSpPr>
        <p:spPr>
          <a:xfrm>
            <a:off x="6803136" y="1682496"/>
            <a:ext cx="4837176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86016" y="18105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예시  ·  win=60 · KOSDAQ 전종목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86016" y="2139696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095744" y="21396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 ↑ → 수익 ↑</a:t>
            </a:r>
            <a:endParaRPr lang="en-US" sz="95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56" y="2267712"/>
            <a:ext cx="155448" cy="15544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0497312" y="21396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986016" y="2615184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095744" y="26151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12480" y="26151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회전율 ↓ → 수익 ↑</a:t>
            </a:r>
            <a:endParaRPr lang="en-US" sz="9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7856" y="274320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497312" y="26151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6986016" y="3090672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7095744" y="30906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8412480" y="309067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 모멘텀 지속</a:t>
            </a:r>
            <a:endParaRPr lang="en-US" sz="9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856" y="3218688"/>
            <a:ext cx="155448" cy="155448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10497312" y="309067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방향 반대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6986016" y="3566160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095744" y="3566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8412480" y="356616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특이변동성 ↑ → 수익 ↓</a:t>
            </a:r>
            <a:endParaRPr lang="en-US" sz="950" dirty="0"/>
          </a:p>
        </p:txBody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7856" y="3694176"/>
            <a:ext cx="155448" cy="1554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0497312" y="35661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불가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986016" y="4041648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9" name="Text 53"/>
          <p:cNvSpPr txBox="1"/>
          <p:nvPr/>
        </p:nvSpPr>
        <p:spPr>
          <a:xfrm>
            <a:off x="7095744" y="404164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950" dirty="0"/>
          </a:p>
        </p:txBody>
      </p:sp>
      <p:sp>
        <p:nvSpPr>
          <p:cNvPr id="60" name="Text 54"/>
          <p:cNvSpPr txBox="1"/>
          <p:nvPr/>
        </p:nvSpPr>
        <p:spPr>
          <a:xfrm>
            <a:off x="8412480" y="4041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스프레드 추정</a:t>
            </a:r>
            <a:endParaRPr lang="en-US" sz="950" dirty="0"/>
          </a:p>
        </p:txBody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4169664"/>
            <a:ext cx="155448" cy="155448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10497312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63" name="Shape 56"/>
          <p:cNvSpPr/>
          <p:nvPr/>
        </p:nvSpPr>
        <p:spPr>
          <a:xfrm>
            <a:off x="7036308" y="4530852"/>
            <a:ext cx="4480560" cy="11338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7"/>
          <p:cNvSpPr/>
          <p:nvPr/>
        </p:nvSpPr>
        <p:spPr>
          <a:xfrm>
            <a:off x="6986016" y="4480560"/>
            <a:ext cx="4480560" cy="1133856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65" name="Text 58"/>
          <p:cNvSpPr txBox="1"/>
          <p:nvPr/>
        </p:nvSpPr>
        <p:spPr>
          <a:xfrm>
            <a:off x="7132320" y="4544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통과 임계  |t| ≥ 3.0</a:t>
            </a:r>
            <a:endParaRPr lang="en-US" sz="1100" dirty="0"/>
          </a:p>
        </p:txBody>
      </p:sp>
      <p:sp>
        <p:nvSpPr>
          <p:cNvPr id="66" name="Text 59"/>
          <p:cNvSpPr txBox="1"/>
          <p:nvPr/>
        </p:nvSpPr>
        <p:spPr>
          <a:xfrm>
            <a:off x="7132320" y="4773168"/>
            <a:ext cx="4187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2.0 은 검정을 한 번 할 때의 값이다. 주 1회 사이클이면 연 150회쯤 되고, 그때 2.0 은 효과 없는 팩터를 해마다 7~8개 통과시킨다 — '논문 근거 있음' 딱지를 달고서.</a:t>
            </a:r>
            <a:endParaRPr lang="en-US" sz="860" dirty="0"/>
          </a:p>
        </p:txBody>
      </p:sp>
      <p:sp>
        <p:nvSpPr>
          <p:cNvPr id="67" name="Text 60"/>
          <p:cNvSpPr txBox="1"/>
          <p:nvPr/>
        </p:nvSpPr>
        <p:spPr>
          <a:xfrm>
            <a:off x="7132320" y="5175504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표준오차는 Newey-West 로 잰다. 월간 스프레드는 자기상관이 있어 보통 표준오차를 쓰면 t 가 과장된다.</a:t>
            </a:r>
            <a:endParaRPr lang="en-US" sz="860" dirty="0"/>
          </a:p>
        </p:txBody>
      </p:sp>
      <p:sp>
        <p:nvSpPr>
          <p:cNvPr id="68" name="Text 61"/>
          <p:cNvSpPr txBox="1"/>
          <p:nvPr/>
        </p:nvSpPr>
        <p:spPr>
          <a:xfrm>
            <a:off x="7132320" y="5431536"/>
            <a:ext cx="4187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Harvey·Liu·Zhu (2016) RFS 29(1) 5-68   ·   Newey·West (1987) ECTA 55(3)</a:t>
            </a:r>
            <a:endParaRPr lang="en-US" sz="720" dirty="0"/>
          </a:p>
        </p:txBody>
      </p:sp>
      <p:sp>
        <p:nvSpPr>
          <p:cNvPr id="69" name="Shape 62"/>
          <p:cNvSpPr/>
          <p:nvPr/>
        </p:nvSpPr>
        <p:spPr>
          <a:xfrm>
            <a:off x="598932" y="5701284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0" name="Shape 63"/>
          <p:cNvSpPr/>
          <p:nvPr/>
        </p:nvSpPr>
        <p:spPr>
          <a:xfrm>
            <a:off x="548640" y="5650992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1" name="Text 64"/>
          <p:cNvSpPr txBox="1"/>
          <p:nvPr/>
        </p:nvSpPr>
        <p:spPr>
          <a:xfrm>
            <a:off x="786384" y="5650992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실패는 실패가 아니다.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논문은 코스닥에서 성립하지 않는다"는 것도 측정 결과다. 지우지 않고 남겨 두면, 다음 사람이 같은 논문을 다시 주워 오는 일을 막는다. 통과하지 못한 논문은 '미검증'으로 남아 표시를 달고 인용된다 — 관문은 정지 버튼이 아니다.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DECAY &amp; RETIRE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채택은 상태이지 영구 자격이 아니다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채택본에도 반감기를 둔다. 반감기가 지나면 재현을 다시 돌리고, 결과에 따라 유지·경고·은퇴로 나뉜다.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47088"/>
            <a:ext cx="146304" cy="43891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7552" y="179222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 180일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06654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후 180영업일이 지나면 재검 대상이 된다. 주간 사이클에 신규 후보와 함께 태운다 — 주 최대 3편, recheck_due 오래된 순.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" y="2592324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542032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706624"/>
            <a:ext cx="146304" cy="43891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26517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실패 → 경고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92608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깨지면 은퇴시키지 않고 '경고'로 표시한다. 그 팩터를 쓰는 리포트 절 하단에 그대로 찍힌다.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" y="3451860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401568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" y="3566160"/>
            <a:ext cx="146304" cy="43891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7552" y="35112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2회 실패 → 은퇴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8561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반감기에도 깨지면 은퇴한다. 인용이 끊기고, 그 팩터를 쓰던 계산은 '방법론 없음'으로 빠진다.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932" y="4311396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261104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4425696"/>
            <a:ext cx="146304" cy="43891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4370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이관분은 4주에 나눠 소화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46451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12편은 원 채택일 기준이라 전부 도래 상태다. 주 3편 상한이 자연히 분산시킨다 — 몰아서 돌리지 않는다.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02452" y="1732788"/>
            <a:ext cx="5788152" cy="3438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52160" y="1682496"/>
            <a:ext cx="5788152" cy="34381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71616" y="18105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채택본 — 12개월 시뮬레이션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071616" y="206654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 · 반감기 180일 · 재현 실패율 18% 가정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053328" y="2340864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5902452" y="5317236"/>
            <a:ext cx="5788152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52160" y="5266944"/>
            <a:ext cx="5788152" cy="9692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071616" y="5266944"/>
            <a:ext cx="5349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2편씩 들어오고 반감기마다 재검된다. 1년 뒤 63편은 결과일 뿐 목표가 아니다 — 편수가 아니라 통과 여부가 자격이다.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시뮬레이션 가정값이며 실측이 아니다. 실제 채택률은 Phase 2 병행 운영에서 측정한다.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LEDGER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채택도 은퇴도 이력으로 남는다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을 목록에서 append-only 원장으로 바꾼다. 상태가 바뀐 이유가 항상 남아 있어야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6400800" cy="39502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6400800" cy="395020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59893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"schema": "ki.papers/2",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"papers":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"amihud2002":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  "Illiquidity and stock returns",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"doi":     "10.1016/S1386-4181(01)00024-6",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"grade":   "저널 게재",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"question": "q2",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"state":   "adopted",   // unverified|adopted|warned|retired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"adopted_at":  "2026-02-11",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"half_life_d": 180,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"recheck_due": "2026-11-05",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"replication": [             // append-only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"at": "2026-02-11", "verdict": "재현됨",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"universe": "KOSDAQ", "n": 1418,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"window":   "2023-01-02..2026-02-07",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"claim":    "비유동성 상위분위 초과수익 &gt; 0",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"observed": { "spread_bp": 41, "t": 3.42 }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"limits": [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"표본은 미국 상장주 — 코스닥 외삽 근거 아님",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"거래정지 구간 제외 · 생존편의 보정 안 함"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237476" y="175107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7187184" y="170078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70064" y="187452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07808" y="18013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가 자격이다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70064" y="206654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adopted 는 재현 통과. unverified 는 아직 재검 순번이 안 온 것 — 인용은 되지만 '미검증' 이 붙는다. warned 는 경고, retired 는 인용 차단.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37476" y="275691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7187184" y="270662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2880360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07808" y="28072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replication 은 배열이다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70064" y="307238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쌓는다. 언제 재현했고 그때 무엇을 봤는지가 전부 남아, 판정이 바뀐 이유를 되짚을 수 있다.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237476" y="376275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87184" y="371246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0064" y="3886200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07808" y="38130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는 측정값이다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70064" y="407822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뭐라 했는지가 아니라 우리 원장에서 무엇이 나왔는지다. 이 값이 없으면 채택되지 않는다.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37476" y="476859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7187184" y="471830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70064" y="4892040"/>
            <a:ext cx="128016" cy="12801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07808" y="4818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는 여전히 필수다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70064" y="508406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주장하지 않는 것을 함께 낸다. 비어 있으면 게이트가 막는다 — 기존 규칙 그대로.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selftest 확장: 모든 팩터가 state=adopted 인 논문을 인용하는가 · replication 이 비어 있는 채택본이 없는가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WHY NINE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 질문이 정한다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안은 CATALOG(무슨 데이터가 있나)에서 데스크를 뽑았다. 그건 데이터 목록이지 결정 목록이 아니다. 이 도구가 답해야 하는 것은 네 질문이다.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2422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7393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16736" y="1865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왔는가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13969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대비 진척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773936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오늘 달라진 것 · §5 재무 · §7 목표단가 갭 · §9 총수익률</a:t>
            </a:r>
            <a:endParaRPr lang="en-US" sz="84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0" y="1773936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3편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8932" y="261061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56032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있는가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29260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 · 거래비용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2560320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집중도 · §6 자본구조 · §8 유동성 · §11 희석 · §13 사채 · §14 지분 · §15 감사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0" y="2560320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5편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39699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34670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16736" y="34381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팔 것인가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316736" y="37124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3346704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 집행 시뮬레이션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0" y="3346704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8932" y="418338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13308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16736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지금이 그 때인가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316736" y="4498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 · 국면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840480" y="4133088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국면 · §12 공시 이벤트 · CAR · §18 이번 주 일정</a:t>
            </a:r>
            <a:endParaRPr lang="en-US" sz="84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0" y="4133088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8932" y="5042916"/>
            <a:ext cx="5577840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48640" y="4992624"/>
            <a:ext cx="5577840" cy="1243584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" y="51023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안의 오류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5376672"/>
            <a:ext cx="5248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CATALOG 31개 항목 → SECTIONS 18개 절 → 데스크 20개로 뽑았다. 데이터가 있는 만큼 데스크를 만든 셈이다. 그러면 §16 스코어카드처럼 네 질문 중 어느 것도 바꾸지 않는 절에도 담당이 생긴다.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323076" y="5042916"/>
            <a:ext cx="5367528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992624"/>
            <a:ext cx="5367528" cy="1243584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510235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고친 방식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537667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하나에 데스크 하나. 절은 질문에 딸려 온다. 논문도 이미 네 질문으로 태그돼 있다(.papers.json 의 question 필드) — 코드가 처음부터 이 구조였고, 조직도만 딴 데서 뽑았던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TARGET ORG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 데스크 — 질문 넷 · 방법론 하나 · 통제 셋 · 간사 하나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자료 한 장을 만드는 데 필요한 최소 분업이다. 늘리는 것은 쉽고, 늘린 만큼 조정 비용이 든다.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120640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120640" cy="51206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92224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011680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FOUR QUESTIONS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598932" y="2409444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359152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" y="2459736"/>
            <a:ext cx="91440" cy="25603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84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25877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진척역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· §5 · §7 · §9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598932" y="2930652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880360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2980944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840" dirty="0"/>
          </a:p>
        </p:txBody>
      </p:sp>
      <p:sp>
        <p:nvSpPr>
          <p:cNvPr id="19" name="Text 17"/>
          <p:cNvSpPr txBox="1"/>
          <p:nvPr/>
        </p:nvSpPr>
        <p:spPr>
          <a:xfrm>
            <a:off x="877824" y="3108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처분역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· §6 · §8 · §11 · §13 · §14 · §15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598932" y="3451860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01568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3502152"/>
            <a:ext cx="91440" cy="25603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77824" y="36301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집행역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598932" y="3973068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922776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4023360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7824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77824" y="415137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시점역</a:t>
            </a:r>
            <a:endParaRPr lang="en-US" sz="88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· §12 · §18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5838444" y="1787652"/>
            <a:ext cx="5971032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788152" y="1737360"/>
            <a:ext cx="5971032" cy="512064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52744" y="179222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952744" y="2011680"/>
            <a:ext cx="5641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 · CONTROL · ASSEMBLY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5838444" y="2409444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788152" y="2359152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16168" y="2459736"/>
            <a:ext cx="91440" cy="25603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17336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6117336" y="2587752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계량역 — 팩터 · 논문 재현</a:t>
            </a:r>
            <a:endParaRPr lang="en-US" sz="880" dirty="0"/>
          </a:p>
        </p:txBody>
      </p:sp>
      <p:sp>
        <p:nvSpPr>
          <p:cNvPr id="42" name="Text 40"/>
          <p:cNvSpPr txBox="1"/>
          <p:nvPr/>
        </p:nvSpPr>
        <p:spPr>
          <a:xfrm>
            <a:off x="10387584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</a:t>
            </a:r>
            <a:endParaRPr lang="en-US" sz="740" dirty="0"/>
          </a:p>
        </p:txBody>
      </p:sp>
      <p:sp>
        <p:nvSpPr>
          <p:cNvPr id="43" name="Shape 41"/>
          <p:cNvSpPr/>
          <p:nvPr/>
        </p:nvSpPr>
        <p:spPr>
          <a:xfrm>
            <a:off x="5838444" y="2930652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2"/>
          <p:cNvSpPr/>
          <p:nvPr/>
        </p:nvSpPr>
        <p:spPr>
          <a:xfrm>
            <a:off x="5788152" y="2880360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16168" y="2980944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17336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840" dirty="0"/>
          </a:p>
        </p:txBody>
      </p:sp>
      <p:sp>
        <p:nvSpPr>
          <p:cNvPr id="47" name="Text 45"/>
          <p:cNvSpPr txBox="1"/>
          <p:nvPr/>
        </p:nvSpPr>
        <p:spPr>
          <a:xfrm>
            <a:off x="6117336" y="3108960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 — 숫자 재검산  (거부권)</a:t>
            </a:r>
            <a:endParaRPr lang="en-US" sz="880" dirty="0"/>
          </a:p>
        </p:txBody>
      </p:sp>
      <p:sp>
        <p:nvSpPr>
          <p:cNvPr id="48" name="Text 46"/>
          <p:cNvSpPr txBox="1"/>
          <p:nvPr/>
        </p:nvSpPr>
        <p:spPr>
          <a:xfrm>
            <a:off x="10387584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5838444" y="3451860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8152" y="3401568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916168" y="3502152"/>
            <a:ext cx="91440" cy="256032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17336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840" dirty="0"/>
          </a:p>
        </p:txBody>
      </p:sp>
      <p:sp>
        <p:nvSpPr>
          <p:cNvPr id="53" name="Text 51"/>
          <p:cNvSpPr txBox="1"/>
          <p:nvPr/>
        </p:nvSpPr>
        <p:spPr>
          <a:xfrm>
            <a:off x="6117336" y="3630168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준법감시역 — 게이트  (거부권)</a:t>
            </a:r>
            <a:endParaRPr lang="en-US" sz="880" dirty="0"/>
          </a:p>
        </p:txBody>
      </p:sp>
      <p:sp>
        <p:nvSpPr>
          <p:cNvPr id="54" name="Text 52"/>
          <p:cNvSpPr txBox="1"/>
          <p:nvPr/>
        </p:nvSpPr>
        <p:spPr>
          <a:xfrm>
            <a:off x="10387584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5838444" y="3973068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88152" y="3922776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16168" y="4023360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17336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840" dirty="0"/>
          </a:p>
        </p:txBody>
      </p:sp>
      <p:sp>
        <p:nvSpPr>
          <p:cNvPr id="59" name="Text 57"/>
          <p:cNvSpPr txBox="1"/>
          <p:nvPr/>
        </p:nvSpPr>
        <p:spPr>
          <a:xfrm>
            <a:off x="6117336" y="4151376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 — 쓰기 단독 · 품질</a:t>
            </a:r>
            <a:endParaRPr lang="en-US" sz="880" dirty="0"/>
          </a:p>
        </p:txBody>
      </p:sp>
      <p:sp>
        <p:nvSpPr>
          <p:cNvPr id="60" name="Text 58"/>
          <p:cNvSpPr txBox="1"/>
          <p:nvPr/>
        </p:nvSpPr>
        <p:spPr>
          <a:xfrm>
            <a:off x="10387584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5838444" y="4494276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5788152" y="4443984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916168" y="4544568"/>
            <a:ext cx="91440" cy="25603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17336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6117336" y="4672584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 — 조립 · 쟁점 정렬</a:t>
            </a:r>
            <a:endParaRPr lang="en-US" sz="880" dirty="0"/>
          </a:p>
        </p:txBody>
      </p:sp>
      <p:sp>
        <p:nvSpPr>
          <p:cNvPr id="66" name="Text 64"/>
          <p:cNvSpPr txBox="1"/>
          <p:nvPr/>
        </p:nvSpPr>
        <p:spPr>
          <a:xfrm>
            <a:off x="10387584" y="4443984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67" name="Shape 65"/>
          <p:cNvSpPr/>
          <p:nvPr/>
        </p:nvSpPr>
        <p:spPr>
          <a:xfrm>
            <a:off x="598932" y="502462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97433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86384" y="497433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 3 (data-ops · compliance · ic-chair) + 이벤트 소집 6.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상설 셋만 돈다. 질문 데스크는 그 질문의 답이 달라졌을 때만 소집된다.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98932" y="5701284"/>
            <a:ext cx="11094415" cy="5852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1" name="Shape 69"/>
          <p:cNvSpPr/>
          <p:nvPr/>
        </p:nvSpPr>
        <p:spPr>
          <a:xfrm>
            <a:off x="548640" y="5650992"/>
            <a:ext cx="11094415" cy="585216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86384" y="5650992"/>
            <a:ext cx="106189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  ·  투자심의위원회 (IC) — 아홉 데스크의 산출을 놓고 사람이 결정한다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1/2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 넷 — 각자 하나의 질문에만 답한다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질문 밖은 읽지 않는다. 읽지 않은 것에 대해 말할 여지가 없다는 뜻이다.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969264"/>
                <a:gridCol w="2816352"/>
                <a:gridCol w="2615184"/>
                <a:gridCol w="26974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질문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진척역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얼마나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왔는가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ledger.facts (종가·시총·배당)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dart.fs.* · exit_plan.csv (사내)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목표회수단가 갭 · 총수익률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 은 '사내' 등급.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1차와 같은 표에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처분역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ledger.facts (거래량·거래대금·지분)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ds002/004/005 · ledger.calendar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 소요일수 (평균·중앙값)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유동성 · 희석 · 락업 잔여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평균과 중앙값을 함께 낸다.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락업은 '추정' 등급 고정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집행역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것인가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ledger.facts (일별 거래량)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q2 의 처분 여건 봉투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 규칙 4종 비교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충격 가정의 민감도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권고를 쓰지 않는다.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API 호출 불가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시점역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때인가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ledger.macro · ledger.calendar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ledger.disclosure (CAR)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(수준 아닌 분위)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 · 다가오는 일정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등급을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(공표 · 규칙 · 추정)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 집행역만 q2 의 봉투를 읽는다 — "어떻게 팔 것인가"는 "팔 수 있는가"의 답 위에서만 성립하기 때문이다. 나머지 셋은 서로의 산출을 보지 않는다. 같은 결론으로 수렴하면 교차검증의 의미가 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2/2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 — 다섯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해석을 만들지 않는다. 근거를 대고, 검사하고, 원장을 유지하고, 회의에 올린다.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969264"/>
                <a:gridCol w="2743200"/>
                <a:gridCol w="2523744"/>
                <a:gridCol w="26060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역할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계량역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방법론 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ledger.factors · ledger.papers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(state=adopted 만)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해설 + limits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 재현 판정 검토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중 하나를 바꾸지 않는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논문은 채택 대상이 아니다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검산역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데스크의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ledger.facts 원본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인용값 vs 원장값 대조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가정 스트레스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숫자를 고쳐 주지 않는다 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돌려보낸다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준법감시역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게이트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직전의 모든 산출물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SECTION_SOURCES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게이트 판정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승인 / 반려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하나라도 걸리면 발행 중단.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조용히 통과시키지 않는다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원장운영역  (쓰기 단독)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· 품질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KRX·DART·ECOS·KIS·FRED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.api_fields.json · stale_days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그날의 유일한 원장 쓰기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§10 품질 · 결측 경고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해석을 만들지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데스크만 ki.sqlite 에 쓴다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투자심의위원회 간사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한 장으로 조립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 간 불일치 · 결측 쟁점화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의견 · 권고를 쓰지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쟁점을 정렬할 뿐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거부권은 실제로 발행을 멈추는 권한이다.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검산역과 준법감시 중 하나라도 반려하면 그날 회의자료에서 해당 질문이 통째로 빠지고, 그 자리에는 '반려됨 — 사유' 가 남는다. 빈칸으로 두지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WHERE THE DATA COMES FROM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API 를 부르지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쓰는 것은 API 가 아니라 API 가 가져다 놓은 것이다. 네트워크 호출과 판단은 시각이 다르다.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11094415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11094415" cy="1316736"/>
          </a:xfrm>
          <a:prstGeom prst="rect">
            <a:avLst/>
          </a:prstGeom>
          <a:solidFill>
            <a:srgbClr val="13241A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19072"/>
            <a:ext cx="1371600" cy="13167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7922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있음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ingest-ops 단독 — 그날의 유일한 원장 쓰기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15798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   ──→   ki.sqlite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450592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이때 받은 값이 기준일로 고정된다. 이후 모든 데스크가 같은 원장을 본다.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price_daily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9656064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index_daily</a:t>
            </a:r>
            <a:endParaRPr lang="en-US" sz="82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instruments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9656064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disclosure</a:t>
            </a:r>
            <a:endParaRPr lang="en-US" sz="82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fundamental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9656064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macro_daily</a:t>
            </a:r>
            <a:endParaRPr lang="en-US" sz="82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2670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alert_log</a:t>
            </a:r>
            <a:endParaRPr lang="en-US" sz="82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145536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════════════════════  하루의 경계  ════════════════════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525012"/>
            <a:ext cx="11094415" cy="14813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74720"/>
            <a:ext cx="11094415" cy="148132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474720"/>
            <a:ext cx="1371600" cy="14813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584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0050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없음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3602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19개 — 원장만 읽는다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103120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194560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ledger.facts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4498848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90288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ledger.candles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6894576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86016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ledger.factors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9290304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381744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ledger.calendar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2103120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194560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ledger.macro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4498848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90288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ledger.disclosure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6894576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986016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ledger.quality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290304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381744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ledger.papers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2103120" y="4608576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이미 끝나 있다 — 데스크는 읽고 서술할 뿐, 숫자를 만들지 않는다.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98932" y="5189220"/>
            <a:ext cx="4114800" cy="1097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5138928"/>
            <a:ext cx="4114800" cy="1097280"/>
          </a:xfrm>
          <a:prstGeom prst="rect">
            <a:avLst/>
          </a:prstGeom>
          <a:solidFill>
            <a:srgbClr val="241E1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5248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유일한 예외 — DART 원문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5522976"/>
            <a:ext cx="3785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접수번호와 제목까지만 있다. 발행조건·전환가·리픽싱 조항은 원문에 있으므로, 접수번호로 지정된 그 문서 한 건만 연다. 검색이 아니라 지정 조회다.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4914900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4864608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2624" y="5312664"/>
            <a:ext cx="146304" cy="146304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5212080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재생 가능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</a:t>
            </a:r>
            <a:endParaRPr lang="en-US" sz="860" dirty="0"/>
          </a:p>
        </p:txBody>
      </p:sp>
      <p:sp>
        <p:nvSpPr>
          <p:cNvPr id="53" name="Shape 50"/>
          <p:cNvSpPr/>
          <p:nvPr/>
        </p:nvSpPr>
        <p:spPr>
          <a:xfrm>
            <a:off x="8334756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1"/>
          <p:cNvSpPr/>
          <p:nvPr/>
        </p:nvSpPr>
        <p:spPr>
          <a:xfrm>
            <a:off x="8284464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5312664"/>
            <a:ext cx="146304" cy="146304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631936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기준일 고정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9656064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데스크가 같은 날을 본다</a:t>
            </a:r>
            <a:endParaRPr lang="en-US" sz="860" dirty="0"/>
          </a:p>
        </p:txBody>
      </p:sp>
      <p:sp>
        <p:nvSpPr>
          <p:cNvPr id="58" name="Shape 54"/>
          <p:cNvSpPr/>
          <p:nvPr/>
        </p:nvSpPr>
        <p:spPr>
          <a:xfrm>
            <a:off x="4914900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5"/>
          <p:cNvSpPr/>
          <p:nvPr/>
        </p:nvSpPr>
        <p:spPr>
          <a:xfrm>
            <a:off x="4864608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5879592"/>
            <a:ext cx="146304" cy="146304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5212080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오염 차단</a:t>
            </a:r>
            <a:endParaRPr lang="en-US" sz="900" dirty="0"/>
          </a:p>
        </p:txBody>
      </p:sp>
      <p:sp>
        <p:nvSpPr>
          <p:cNvPr id="62" name="Text 57"/>
          <p:cNvSpPr txBox="1"/>
          <p:nvPr/>
        </p:nvSpPr>
        <p:spPr>
          <a:xfrm>
            <a:off x="6236208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값이 일봉에 안 섞인다</a:t>
            </a:r>
            <a:endParaRPr lang="en-US" sz="860" dirty="0"/>
          </a:p>
        </p:txBody>
      </p:sp>
      <p:sp>
        <p:nvSpPr>
          <p:cNvPr id="63" name="Shape 58"/>
          <p:cNvSpPr/>
          <p:nvPr/>
        </p:nvSpPr>
        <p:spPr>
          <a:xfrm>
            <a:off x="8334756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9"/>
          <p:cNvSpPr/>
          <p:nvPr/>
        </p:nvSpPr>
        <p:spPr>
          <a:xfrm>
            <a:off x="8284464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5879592"/>
            <a:ext cx="146304" cy="146304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8631936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감사 가능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9656064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어디서 왔는지 남는다</a:t>
            </a:r>
            <a:endParaRPr lang="en-US" sz="860" dirty="0"/>
          </a:p>
        </p:txBody>
      </p:sp>
      <p:sp>
        <p:nvSpPr>
          <p:cNvPr id="68" name="Text 62"/>
          <p:cNvSpPr txBox="1"/>
          <p:nvPr/>
        </p:nvSpPr>
        <p:spPr>
          <a:xfrm>
            <a:off x="4864608" y="6291072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원장에서, 원문은 링크로.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DYNAMIC AGENTS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상설은 셋뿐이다. 나머지 여섯은 불릴 때만 온다.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조직도를 고정하지 않는다. 아홉 데스크를 매일 전부 돌리는 대신, 그 질문의 답이 달라졌을 때만 띄운다.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402336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402336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105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 ·  상설 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떠 있다. 하루의 리듬을 만든다.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2468880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551176"/>
            <a:ext cx="402336" cy="40233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16736" y="252374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16736" y="27249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적재 · 품질 — 그날의 유일한 쓰기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93008" y="246888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 단독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49808" y="3255264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337560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16736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316736" y="35112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게이트 판정 · 발행 승인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3255264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49808" y="4041648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123944"/>
            <a:ext cx="402336" cy="40233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16736" y="40965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316736" y="42976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수집 · 쟁점 정렬 · 조립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3493008" y="4041648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조립만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4914900" y="1714500"/>
            <a:ext cx="6775704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0"/>
          <p:cNvSpPr/>
          <p:nvPr/>
        </p:nvSpPr>
        <p:spPr>
          <a:xfrm>
            <a:off x="4864608" y="1664208"/>
            <a:ext cx="6775704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084064" y="181051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SPAWNED  ·  이벤트 소집 6 역할 × N 인스턴스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5084064" y="206654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뜰 때만 인스턴스가 생기고, 봉투를 내면 사라진다. 상태를 들고 있지 않으므로 같은 입력이면 같은 결과가 나온다.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5084064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175504" y="2505456"/>
            <a:ext cx="91440" cy="31089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5340096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740" dirty="0"/>
          </a:p>
        </p:txBody>
      </p:sp>
      <p:sp>
        <p:nvSpPr>
          <p:cNvPr id="31" name="Text 26"/>
          <p:cNvSpPr txBox="1"/>
          <p:nvPr/>
        </p:nvSpPr>
        <p:spPr>
          <a:xfrm>
            <a:off x="5340096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 변동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6729984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7242048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333488" y="2505456"/>
            <a:ext cx="91440" cy="31089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498080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740" dirty="0"/>
          </a:p>
        </p:txBody>
      </p:sp>
      <p:sp>
        <p:nvSpPr>
          <p:cNvPr id="36" name="Text 31"/>
          <p:cNvSpPr txBox="1"/>
          <p:nvPr/>
        </p:nvSpPr>
        <p:spPr>
          <a:xfrm>
            <a:off x="7498080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처분여건 변동</a:t>
            </a:r>
            <a:endParaRPr lang="en-US" sz="800" dirty="0"/>
          </a:p>
        </p:txBody>
      </p:sp>
      <p:sp>
        <p:nvSpPr>
          <p:cNvPr id="37" name="Text 32"/>
          <p:cNvSpPr txBox="1"/>
          <p:nvPr/>
        </p:nvSpPr>
        <p:spPr>
          <a:xfrm>
            <a:off x="8887968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9400032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9491472" y="2505456"/>
            <a:ext cx="91440" cy="31089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9656064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740" dirty="0"/>
          </a:p>
        </p:txBody>
      </p:sp>
      <p:sp>
        <p:nvSpPr>
          <p:cNvPr id="41" name="Text 36"/>
          <p:cNvSpPr txBox="1"/>
          <p:nvPr/>
        </p:nvSpPr>
        <p:spPr>
          <a:xfrm>
            <a:off x="9656064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 봉투 갱신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11045952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3" name="Shape 38"/>
          <p:cNvSpPr/>
          <p:nvPr/>
        </p:nvSpPr>
        <p:spPr>
          <a:xfrm>
            <a:off x="5084064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5175504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5340096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740" dirty="0"/>
          </a:p>
        </p:txBody>
      </p:sp>
      <p:sp>
        <p:nvSpPr>
          <p:cNvPr id="46" name="Text 41"/>
          <p:cNvSpPr txBox="1"/>
          <p:nvPr/>
        </p:nvSpPr>
        <p:spPr>
          <a:xfrm>
            <a:off x="5340096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· 일정</a:t>
            </a:r>
            <a:endParaRPr lang="en-US" sz="800" dirty="0"/>
          </a:p>
        </p:txBody>
      </p:sp>
      <p:sp>
        <p:nvSpPr>
          <p:cNvPr id="47" name="Text 42"/>
          <p:cNvSpPr txBox="1"/>
          <p:nvPr/>
        </p:nvSpPr>
        <p:spPr>
          <a:xfrm>
            <a:off x="6729984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7242048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7333488" y="3145536"/>
            <a:ext cx="91440" cy="31089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7498080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740" dirty="0"/>
          </a:p>
        </p:txBody>
      </p:sp>
      <p:sp>
        <p:nvSpPr>
          <p:cNvPr id="51" name="Text 46"/>
          <p:cNvSpPr txBox="1"/>
          <p:nvPr/>
        </p:nvSpPr>
        <p:spPr>
          <a:xfrm>
            <a:off x="7498080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재현</a:t>
            </a:r>
            <a:endParaRPr lang="en-US" sz="800" dirty="0"/>
          </a:p>
        </p:txBody>
      </p:sp>
      <p:sp>
        <p:nvSpPr>
          <p:cNvPr id="52" name="Text 47"/>
          <p:cNvSpPr txBox="1"/>
          <p:nvPr/>
        </p:nvSpPr>
        <p:spPr>
          <a:xfrm>
            <a:off x="8887968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9400032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9491472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9656064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740" dirty="0"/>
          </a:p>
        </p:txBody>
      </p:sp>
      <p:sp>
        <p:nvSpPr>
          <p:cNvPr id="56" name="Text 51"/>
          <p:cNvSpPr txBox="1"/>
          <p:nvPr/>
        </p:nvSpPr>
        <p:spPr>
          <a:xfrm>
            <a:off x="9656064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묶음</a:t>
            </a:r>
            <a:endParaRPr lang="en-US" sz="800" dirty="0"/>
          </a:p>
        </p:txBody>
      </p:sp>
      <p:sp>
        <p:nvSpPr>
          <p:cNvPr id="57" name="Text 52"/>
          <p:cNvSpPr txBox="1"/>
          <p:nvPr/>
        </p:nvSpPr>
        <p:spPr>
          <a:xfrm>
            <a:off x="11045952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8" name="Shape 53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4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소집인가 — 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85종목 × 종목단위 3데스크를 매일 돌리면 255회다. 어제와 달라진 것이 없는 종목을 다시 읽는 것은 같은 답을 다시 사는 일이다. 질문의 답이 달라진 곳에만 예산을 쓴다.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LIFECYCLE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 → 작업 → 봉투 → 소멸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세션을 갖지 않는다. 기억을 들고 있지 않으므로, 어제의 오해가 오늘로 넘어오지 않는다.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472" y="1901952"/>
            <a:ext cx="731520" cy="731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입력을 확정해서 넘긴다.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종목코드 · 공시 접수번호 · 기준일.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것은 볼 수 없다.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3393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9"/>
          <p:cNvSpPr/>
          <p:nvPr/>
        </p:nvSpPr>
        <p:spPr>
          <a:xfrm>
            <a:off x="93726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0"/>
          <p:cNvSpPr/>
          <p:nvPr/>
        </p:nvSpPr>
        <p:spPr>
          <a:xfrm>
            <a:off x="1040587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9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2"/>
          <p:cNvSpPr/>
          <p:nvPr/>
        </p:nvSpPr>
        <p:spPr>
          <a:xfrm>
            <a:off x="124724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3"/>
          <p:cNvSpPr/>
          <p:nvPr/>
        </p:nvSpPr>
        <p:spPr>
          <a:xfrm>
            <a:off x="135056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4"/>
          <p:cNvSpPr/>
          <p:nvPr/>
        </p:nvSpPr>
        <p:spPr>
          <a:xfrm>
            <a:off x="145389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5"/>
          <p:cNvSpPr/>
          <p:nvPr/>
        </p:nvSpPr>
        <p:spPr>
          <a:xfrm>
            <a:off x="155722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6"/>
          <p:cNvSpPr/>
          <p:nvPr/>
        </p:nvSpPr>
        <p:spPr>
          <a:xfrm>
            <a:off x="16605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7"/>
          <p:cNvSpPr/>
          <p:nvPr/>
        </p:nvSpPr>
        <p:spPr>
          <a:xfrm>
            <a:off x="176387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8"/>
          <p:cNvSpPr/>
          <p:nvPr/>
        </p:nvSpPr>
        <p:spPr>
          <a:xfrm>
            <a:off x="186720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19"/>
          <p:cNvSpPr/>
          <p:nvPr/>
        </p:nvSpPr>
        <p:spPr>
          <a:xfrm>
            <a:off x="197053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0"/>
          <p:cNvSpPr/>
          <p:nvPr/>
        </p:nvSpPr>
        <p:spPr>
          <a:xfrm>
            <a:off x="207385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718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2"/>
          <p:cNvSpPr/>
          <p:nvPr/>
        </p:nvSpPr>
        <p:spPr>
          <a:xfrm>
            <a:off x="22805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3"/>
          <p:cNvSpPr/>
          <p:nvPr/>
        </p:nvSpPr>
        <p:spPr>
          <a:xfrm>
            <a:off x="2383841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5"/>
          <p:cNvSpPr/>
          <p:nvPr/>
        </p:nvSpPr>
        <p:spPr>
          <a:xfrm>
            <a:off x="259049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6"/>
          <p:cNvSpPr/>
          <p:nvPr/>
        </p:nvSpPr>
        <p:spPr>
          <a:xfrm>
            <a:off x="269382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7"/>
          <p:cNvSpPr/>
          <p:nvPr/>
        </p:nvSpPr>
        <p:spPr>
          <a:xfrm>
            <a:off x="27971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39696"/>
            <a:ext cx="274320" cy="17373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3451860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9"/>
          <p:cNvSpPr/>
          <p:nvPr/>
        </p:nvSpPr>
        <p:spPr>
          <a:xfrm>
            <a:off x="3401568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4343400" y="1901952"/>
            <a:ext cx="731520" cy="7315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3547872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3547872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3566160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MCP 읽기 도구만 부른다.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예산(토큰·호출수)이 정해져 있고,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그대로 중단된다.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68686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9" name="Shape 34"/>
          <p:cNvSpPr/>
          <p:nvPr/>
        </p:nvSpPr>
        <p:spPr>
          <a:xfrm>
            <a:off x="379018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Shape 35"/>
          <p:cNvSpPr/>
          <p:nvPr/>
        </p:nvSpPr>
        <p:spPr>
          <a:xfrm>
            <a:off x="3893515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1" name="Shape 36"/>
          <p:cNvSpPr/>
          <p:nvPr/>
        </p:nvSpPr>
        <p:spPr>
          <a:xfrm>
            <a:off x="39968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2" name="Shape 37"/>
          <p:cNvSpPr/>
          <p:nvPr/>
        </p:nvSpPr>
        <p:spPr>
          <a:xfrm>
            <a:off x="410017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3" name="Shape 38"/>
          <p:cNvSpPr/>
          <p:nvPr/>
        </p:nvSpPr>
        <p:spPr>
          <a:xfrm>
            <a:off x="420349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4" name="Shape 39"/>
          <p:cNvSpPr/>
          <p:nvPr/>
        </p:nvSpPr>
        <p:spPr>
          <a:xfrm>
            <a:off x="430682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Shape 40"/>
          <p:cNvSpPr/>
          <p:nvPr/>
        </p:nvSpPr>
        <p:spPr>
          <a:xfrm>
            <a:off x="441015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6" name="Shape 41"/>
          <p:cNvSpPr/>
          <p:nvPr/>
        </p:nvSpPr>
        <p:spPr>
          <a:xfrm>
            <a:off x="451347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7" name="Shape 42"/>
          <p:cNvSpPr/>
          <p:nvPr/>
        </p:nvSpPr>
        <p:spPr>
          <a:xfrm>
            <a:off x="4616806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8" name="Shape 43"/>
          <p:cNvSpPr/>
          <p:nvPr/>
        </p:nvSpPr>
        <p:spPr>
          <a:xfrm>
            <a:off x="4720133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9" name="Shape 44"/>
          <p:cNvSpPr/>
          <p:nvPr/>
        </p:nvSpPr>
        <p:spPr>
          <a:xfrm>
            <a:off x="482346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Shape 45"/>
          <p:cNvSpPr/>
          <p:nvPr/>
        </p:nvSpPr>
        <p:spPr>
          <a:xfrm>
            <a:off x="492678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1" name="Shape 46"/>
          <p:cNvSpPr/>
          <p:nvPr/>
        </p:nvSpPr>
        <p:spPr>
          <a:xfrm>
            <a:off x="503011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2" name="Shape 47"/>
          <p:cNvSpPr/>
          <p:nvPr/>
        </p:nvSpPr>
        <p:spPr>
          <a:xfrm>
            <a:off x="51334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3" name="Shape 48"/>
          <p:cNvSpPr/>
          <p:nvPr/>
        </p:nvSpPr>
        <p:spPr>
          <a:xfrm>
            <a:off x="523676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49"/>
          <p:cNvSpPr/>
          <p:nvPr/>
        </p:nvSpPr>
        <p:spPr>
          <a:xfrm>
            <a:off x="534009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0"/>
          <p:cNvSpPr/>
          <p:nvPr/>
        </p:nvSpPr>
        <p:spPr>
          <a:xfrm>
            <a:off x="544342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1"/>
          <p:cNvSpPr/>
          <p:nvPr/>
        </p:nvSpPr>
        <p:spPr>
          <a:xfrm>
            <a:off x="554675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2"/>
          <p:cNvSpPr/>
          <p:nvPr/>
        </p:nvSpPr>
        <p:spPr>
          <a:xfrm>
            <a:off x="56500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139696"/>
            <a:ext cx="274320" cy="173736"/>
          </a:xfrm>
          <a:prstGeom prst="rect">
            <a:avLst/>
          </a:prstGeom>
        </p:spPr>
      </p:pic>
      <p:sp>
        <p:nvSpPr>
          <p:cNvPr id="59" name="Shape 53"/>
          <p:cNvSpPr/>
          <p:nvPr/>
        </p:nvSpPr>
        <p:spPr>
          <a:xfrm>
            <a:off x="6304788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4"/>
          <p:cNvSpPr/>
          <p:nvPr/>
        </p:nvSpPr>
        <p:spPr>
          <a:xfrm>
            <a:off x="6254496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7196328" y="1901952"/>
            <a:ext cx="731520" cy="731520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6400800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ENVELOPE</a:t>
            </a:r>
            <a:endParaRPr lang="en-US" sz="1050" dirty="0"/>
          </a:p>
        </p:txBody>
      </p:sp>
      <p:sp>
        <p:nvSpPr>
          <p:cNvPr id="63" name="Text 56"/>
          <p:cNvSpPr txBox="1"/>
          <p:nvPr/>
        </p:nvSpPr>
        <p:spPr>
          <a:xfrm>
            <a:off x="6400800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</a:t>
            </a:r>
            <a:endParaRPr lang="en-US" sz="1800" dirty="0"/>
          </a:p>
        </p:txBody>
      </p:sp>
      <p:sp>
        <p:nvSpPr>
          <p:cNvPr id="64" name="Text 57"/>
          <p:cNvSpPr txBox="1"/>
          <p:nvPr/>
        </p:nvSpPr>
        <p:spPr>
          <a:xfrm>
            <a:off x="6419088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 + 등급 + 가정 + 한계.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못 맞추면 산출이 아니라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실패로 기록된다.</a:t>
            </a:r>
            <a:endParaRPr lang="en-US" sz="1000" dirty="0"/>
          </a:p>
        </p:txBody>
      </p:sp>
      <p:sp>
        <p:nvSpPr>
          <p:cNvPr id="65" name="Shape 58"/>
          <p:cNvSpPr/>
          <p:nvPr/>
        </p:nvSpPr>
        <p:spPr>
          <a:xfrm>
            <a:off x="653978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59"/>
          <p:cNvSpPr/>
          <p:nvPr/>
        </p:nvSpPr>
        <p:spPr>
          <a:xfrm>
            <a:off x="664311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0"/>
          <p:cNvSpPr/>
          <p:nvPr/>
        </p:nvSpPr>
        <p:spPr>
          <a:xfrm>
            <a:off x="6746443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1"/>
          <p:cNvSpPr/>
          <p:nvPr/>
        </p:nvSpPr>
        <p:spPr>
          <a:xfrm>
            <a:off x="6849770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2"/>
          <p:cNvSpPr/>
          <p:nvPr/>
        </p:nvSpPr>
        <p:spPr>
          <a:xfrm>
            <a:off x="6953098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3"/>
          <p:cNvSpPr/>
          <p:nvPr/>
        </p:nvSpPr>
        <p:spPr>
          <a:xfrm>
            <a:off x="7056425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4"/>
          <p:cNvSpPr/>
          <p:nvPr/>
        </p:nvSpPr>
        <p:spPr>
          <a:xfrm>
            <a:off x="7159752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65"/>
          <p:cNvSpPr/>
          <p:nvPr/>
        </p:nvSpPr>
        <p:spPr>
          <a:xfrm>
            <a:off x="726307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66"/>
          <p:cNvSpPr/>
          <p:nvPr/>
        </p:nvSpPr>
        <p:spPr>
          <a:xfrm>
            <a:off x="736640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67"/>
          <p:cNvSpPr/>
          <p:nvPr/>
        </p:nvSpPr>
        <p:spPr>
          <a:xfrm>
            <a:off x="7469734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5" name="Shape 68"/>
          <p:cNvSpPr/>
          <p:nvPr/>
        </p:nvSpPr>
        <p:spPr>
          <a:xfrm>
            <a:off x="757306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Shape 69"/>
          <p:cNvSpPr/>
          <p:nvPr/>
        </p:nvSpPr>
        <p:spPr>
          <a:xfrm>
            <a:off x="767638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7" name="Shape 70"/>
          <p:cNvSpPr/>
          <p:nvPr/>
        </p:nvSpPr>
        <p:spPr>
          <a:xfrm>
            <a:off x="777971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8" name="Shape 71"/>
          <p:cNvSpPr/>
          <p:nvPr/>
        </p:nvSpPr>
        <p:spPr>
          <a:xfrm>
            <a:off x="788304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9" name="Shape 72"/>
          <p:cNvSpPr/>
          <p:nvPr/>
        </p:nvSpPr>
        <p:spPr>
          <a:xfrm>
            <a:off x="79863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0" name="Shape 73"/>
          <p:cNvSpPr/>
          <p:nvPr/>
        </p:nvSpPr>
        <p:spPr>
          <a:xfrm>
            <a:off x="808969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1" name="Shape 74"/>
          <p:cNvSpPr/>
          <p:nvPr/>
        </p:nvSpPr>
        <p:spPr>
          <a:xfrm>
            <a:off x="819302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2" name="Shape 75"/>
          <p:cNvSpPr/>
          <p:nvPr/>
        </p:nvSpPr>
        <p:spPr>
          <a:xfrm>
            <a:off x="829635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3" name="Shape 76"/>
          <p:cNvSpPr/>
          <p:nvPr/>
        </p:nvSpPr>
        <p:spPr>
          <a:xfrm>
            <a:off x="83996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4" name="Shape 77"/>
          <p:cNvSpPr/>
          <p:nvPr/>
        </p:nvSpPr>
        <p:spPr>
          <a:xfrm>
            <a:off x="85030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6256" y="2139696"/>
            <a:ext cx="274320" cy="173736"/>
          </a:xfrm>
          <a:prstGeom prst="rect">
            <a:avLst/>
          </a:prstGeom>
        </p:spPr>
      </p:pic>
      <p:sp>
        <p:nvSpPr>
          <p:cNvPr id="86" name="Shape 78"/>
          <p:cNvSpPr/>
          <p:nvPr/>
        </p:nvSpPr>
        <p:spPr>
          <a:xfrm>
            <a:off x="9157716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79"/>
          <p:cNvSpPr/>
          <p:nvPr/>
        </p:nvSpPr>
        <p:spPr>
          <a:xfrm>
            <a:off x="9107424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10049256" y="1901952"/>
            <a:ext cx="731520" cy="731520"/>
          </a:xfrm>
          <a:prstGeom prst="rect">
            <a:avLst/>
          </a:prstGeom>
        </p:spPr>
      </p:pic>
      <p:sp>
        <p:nvSpPr>
          <p:cNvPr id="89" name="Text 80"/>
          <p:cNvSpPr txBox="1"/>
          <p:nvPr/>
        </p:nvSpPr>
        <p:spPr>
          <a:xfrm>
            <a:off x="9253728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DISSOLVE</a:t>
            </a:r>
            <a:endParaRPr lang="en-US" sz="1050" dirty="0"/>
          </a:p>
        </p:txBody>
      </p:sp>
      <p:sp>
        <p:nvSpPr>
          <p:cNvPr id="90" name="Text 81"/>
          <p:cNvSpPr txBox="1"/>
          <p:nvPr/>
        </p:nvSpPr>
        <p:spPr>
          <a:xfrm>
            <a:off x="9253728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</a:t>
            </a:r>
            <a:endParaRPr lang="en-US" sz="1800" dirty="0"/>
          </a:p>
        </p:txBody>
      </p:sp>
      <p:sp>
        <p:nvSpPr>
          <p:cNvPr id="91" name="Text 82"/>
          <p:cNvSpPr txBox="1"/>
          <p:nvPr/>
        </p:nvSpPr>
        <p:spPr>
          <a:xfrm>
            <a:off x="9272016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사라진다.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것은 봉투와 실행 로그뿐 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재생 가능하다.</a:t>
            </a:r>
            <a:endParaRPr lang="en-US" sz="1000" dirty="0"/>
          </a:p>
        </p:txBody>
      </p:sp>
      <p:sp>
        <p:nvSpPr>
          <p:cNvPr id="92" name="Shape 83"/>
          <p:cNvSpPr/>
          <p:nvPr/>
        </p:nvSpPr>
        <p:spPr>
          <a:xfrm>
            <a:off x="9392717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3" name="Shape 84"/>
          <p:cNvSpPr/>
          <p:nvPr/>
        </p:nvSpPr>
        <p:spPr>
          <a:xfrm>
            <a:off x="9496044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4" name="Shape 85"/>
          <p:cNvSpPr/>
          <p:nvPr/>
        </p:nvSpPr>
        <p:spPr>
          <a:xfrm>
            <a:off x="9599371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5" name="Shape 86"/>
          <p:cNvSpPr/>
          <p:nvPr/>
        </p:nvSpPr>
        <p:spPr>
          <a:xfrm>
            <a:off x="97026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6" name="Shape 87"/>
          <p:cNvSpPr/>
          <p:nvPr/>
        </p:nvSpPr>
        <p:spPr>
          <a:xfrm>
            <a:off x="980602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88"/>
          <p:cNvSpPr/>
          <p:nvPr/>
        </p:nvSpPr>
        <p:spPr>
          <a:xfrm>
            <a:off x="990935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89"/>
          <p:cNvSpPr/>
          <p:nvPr/>
        </p:nvSpPr>
        <p:spPr>
          <a:xfrm>
            <a:off x="1001268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0"/>
          <p:cNvSpPr/>
          <p:nvPr/>
        </p:nvSpPr>
        <p:spPr>
          <a:xfrm>
            <a:off x="1011600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0" name="Shape 91"/>
          <p:cNvSpPr/>
          <p:nvPr/>
        </p:nvSpPr>
        <p:spPr>
          <a:xfrm>
            <a:off x="102193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1" name="Shape 92"/>
          <p:cNvSpPr/>
          <p:nvPr/>
        </p:nvSpPr>
        <p:spPr>
          <a:xfrm>
            <a:off x="1032266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2" name="Shape 93"/>
          <p:cNvSpPr/>
          <p:nvPr/>
        </p:nvSpPr>
        <p:spPr>
          <a:xfrm>
            <a:off x="1042598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3" name="Shape 94"/>
          <p:cNvSpPr/>
          <p:nvPr/>
        </p:nvSpPr>
        <p:spPr>
          <a:xfrm>
            <a:off x="1052931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4" name="Shape 95"/>
          <p:cNvSpPr/>
          <p:nvPr/>
        </p:nvSpPr>
        <p:spPr>
          <a:xfrm>
            <a:off x="1063264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5" name="Shape 96"/>
          <p:cNvSpPr/>
          <p:nvPr/>
        </p:nvSpPr>
        <p:spPr>
          <a:xfrm>
            <a:off x="107359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6" name="Shape 97"/>
          <p:cNvSpPr/>
          <p:nvPr/>
        </p:nvSpPr>
        <p:spPr>
          <a:xfrm>
            <a:off x="108392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7" name="Shape 98"/>
          <p:cNvSpPr/>
          <p:nvPr/>
        </p:nvSpPr>
        <p:spPr>
          <a:xfrm>
            <a:off x="1094262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8" name="Shape 99"/>
          <p:cNvSpPr/>
          <p:nvPr/>
        </p:nvSpPr>
        <p:spPr>
          <a:xfrm>
            <a:off x="1104595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9" name="Shape 100"/>
          <p:cNvSpPr/>
          <p:nvPr/>
        </p:nvSpPr>
        <p:spPr>
          <a:xfrm>
            <a:off x="1114927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0" name="Shape 101"/>
          <p:cNvSpPr/>
          <p:nvPr/>
        </p:nvSpPr>
        <p:spPr>
          <a:xfrm>
            <a:off x="112526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1" name="Shape 102"/>
          <p:cNvSpPr/>
          <p:nvPr/>
        </p:nvSpPr>
        <p:spPr>
          <a:xfrm>
            <a:off x="113559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2" name="Shape 103"/>
          <p:cNvSpPr/>
          <p:nvPr/>
        </p:nvSpPr>
        <p:spPr>
          <a:xfrm>
            <a:off x="598932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3" name="Shape 104"/>
          <p:cNvSpPr/>
          <p:nvPr/>
        </p:nvSpPr>
        <p:spPr>
          <a:xfrm>
            <a:off x="548640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4" name="Text 105"/>
          <p:cNvSpPr txBox="1"/>
          <p:nvPr/>
        </p:nvSpPr>
        <p:spPr>
          <a:xfrm>
            <a:off x="713232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무상태 (stateless)</a:t>
            </a:r>
            <a:endParaRPr lang="en-US" sz="1150" dirty="0"/>
          </a:p>
        </p:txBody>
      </p:sp>
      <p:sp>
        <p:nvSpPr>
          <p:cNvPr id="115" name="Text 106"/>
          <p:cNvSpPr txBox="1"/>
          <p:nvPr/>
        </p:nvSpPr>
        <p:spPr>
          <a:xfrm>
            <a:off x="713232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봉투. 어제 무엇을 봤는지 기억하지 않는다.</a:t>
            </a:r>
            <a:endParaRPr lang="en-US" sz="950" dirty="0"/>
          </a:p>
        </p:txBody>
      </p:sp>
      <p:sp>
        <p:nvSpPr>
          <p:cNvPr id="116" name="Shape 107"/>
          <p:cNvSpPr/>
          <p:nvPr/>
        </p:nvSpPr>
        <p:spPr>
          <a:xfrm>
            <a:off x="3451860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7" name="Shape 108"/>
          <p:cNvSpPr/>
          <p:nvPr/>
        </p:nvSpPr>
        <p:spPr>
          <a:xfrm>
            <a:off x="3401568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8" name="Text 109"/>
          <p:cNvSpPr txBox="1"/>
          <p:nvPr/>
        </p:nvSpPr>
        <p:spPr>
          <a:xfrm>
            <a:off x="3566160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제한</a:t>
            </a:r>
            <a:endParaRPr lang="en-US" sz="1150" dirty="0"/>
          </a:p>
        </p:txBody>
      </p:sp>
      <p:sp>
        <p:nvSpPr>
          <p:cNvPr id="119" name="Text 110"/>
          <p:cNvSpPr txBox="1"/>
          <p:nvPr/>
        </p:nvSpPr>
        <p:spPr>
          <a:xfrm>
            <a:off x="3566160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인스턴스마다 호출·토큰 상한. 초과하면 '미완'으로 끝나지 조용히 넘어가지 않는다.</a:t>
            </a:r>
            <a:endParaRPr lang="en-US" sz="950" dirty="0"/>
          </a:p>
        </p:txBody>
      </p:sp>
      <p:sp>
        <p:nvSpPr>
          <p:cNvPr id="120" name="Shape 111"/>
          <p:cNvSpPr/>
          <p:nvPr/>
        </p:nvSpPr>
        <p:spPr>
          <a:xfrm>
            <a:off x="6304788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1" name="Shape 112"/>
          <p:cNvSpPr/>
          <p:nvPr/>
        </p:nvSpPr>
        <p:spPr>
          <a:xfrm>
            <a:off x="6254496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2" name="Text 113"/>
          <p:cNvSpPr txBox="1"/>
          <p:nvPr/>
        </p:nvSpPr>
        <p:spPr>
          <a:xfrm>
            <a:off x="6419088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</a:t>
            </a:r>
            <a:endParaRPr lang="en-US" sz="1150" dirty="0"/>
          </a:p>
        </p:txBody>
      </p:sp>
      <p:sp>
        <p:nvSpPr>
          <p:cNvPr id="123" name="Text 114"/>
          <p:cNvSpPr txBox="1"/>
          <p:nvPr/>
        </p:nvSpPr>
        <p:spPr>
          <a:xfrm>
            <a:off x="6419088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인스턴스의 산출을 보지 않는다. 수렴하면 교차검증의 의미가 사라진다.</a:t>
            </a:r>
            <a:endParaRPr lang="en-US" sz="950" dirty="0"/>
          </a:p>
        </p:txBody>
      </p:sp>
      <p:sp>
        <p:nvSpPr>
          <p:cNvPr id="124" name="Shape 115"/>
          <p:cNvSpPr/>
          <p:nvPr/>
        </p:nvSpPr>
        <p:spPr>
          <a:xfrm>
            <a:off x="9157716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5" name="Shape 116"/>
          <p:cNvSpPr/>
          <p:nvPr/>
        </p:nvSpPr>
        <p:spPr>
          <a:xfrm>
            <a:off x="9107424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9272016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가능</a:t>
            </a:r>
            <a:endParaRPr lang="en-US" sz="1150" dirty="0"/>
          </a:p>
        </p:txBody>
      </p:sp>
      <p:sp>
        <p:nvSpPr>
          <p:cNvPr id="127" name="Text 118"/>
          <p:cNvSpPr txBox="1"/>
          <p:nvPr/>
        </p:nvSpPr>
        <p:spPr>
          <a:xfrm>
            <a:off x="9272016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로그로 같은 인스턴스를 다시 띄워 결과를 대조할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TRIGGERS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누구를 부르는가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트리거는 원장의 변화에서 나온다. 사람이 부르는 것이 아니라 데이터가 부른다.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432304"/>
                <a:gridCol w="2487168"/>
                <a:gridCol w="1773936"/>
                <a:gridCol w="960120"/>
                <a:gridCol w="343814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트리거 (원장의 변화)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소집되는 데스크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넘겨받는 입력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상한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산출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희석/지분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자본구조·희석 재계산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실적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 갱신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그 밖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이벤트로 시점 판단에 반영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종가 ±8% 이상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 · 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기준일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처분여건 재계산 · 숫자 재검산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 만료 D-30 진입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 · 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해제일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물량 압력 · 시점 (등급 '추정')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ECOS·캘린더 갱신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키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서술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재검 기한 도래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3편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→ 장부 append (T3)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묶음 완성 · 게이트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 · 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 봉투 전량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재검산 → 게이트 ①~⑦ → 발행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없으면 아무도 소집되지 않는다.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조용한 것이 정상이다 — 할 말이 없는데 데스크를 돌려 말을 만들게 하는 것이 이 구조가 막으려는 실패다. 상설 셋(data-ops · compliance-officer · ic-chair)은 그래도 매일 돈다.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LOAD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실행 대비 실제 부하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20영업일 시뮬레이션. 전수 방식은 종목수에 고정으로 묶이고, 이벤트 방식은 그날 일어난 일의 수만큼만 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758952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758952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에이전트 인스턴스 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0848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— 감시 85종목 · 종목단위 데스크 3 (q1·q2·q3) · 공시 발생률 6% · ±8% 변동 발생률 4%</a:t>
            </a:r>
            <a:endParaRPr lang="en-US" sz="9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377440"/>
          <a:ext cx="7223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389620" y="1732788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8339328" y="1682496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40496" y="17922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3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5,100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540496" y="21762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· 20일 누계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0496" y="23591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389620" y="2747772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8339328" y="2697480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0496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A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788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540496" y="31912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· 20일 누계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40496" y="33741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389620" y="3762756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8"/>
          <p:cNvSpPr/>
          <p:nvPr/>
        </p:nvSpPr>
        <p:spPr>
          <a:xfrm>
            <a:off x="8339328" y="3712464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0496" y="3822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-85%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8540496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 감소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40496" y="43891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89620" y="4777740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3"/>
          <p:cNvSpPr/>
          <p:nvPr/>
        </p:nvSpPr>
        <p:spPr>
          <a:xfrm>
            <a:off x="8339328" y="4727448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40496" y="4837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8540496" y="5221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피크일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40496" y="54041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D18 · 공시 집중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98932" y="581101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8640" y="5760720"/>
            <a:ext cx="11094415" cy="5303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86384" y="5760720"/>
            <a:ext cx="106189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절감이 아니라 피크다.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방식은 조용한 날에도 255를 쓰느라, 정작 공시가 몰린 날(D18)에 더 깊이 볼 여력이 없다. 이벤트 방식은 그날 예산을 그날 일에 쓴다.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발생률은 가정값이다. 실측은 Phase 1 에서 원장의 공시·변동 이력으로 역산한다.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ESCALATION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일에 비싼 모델을 쓰지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인스턴스가 같은 급일 필요는 없다. 아래에서 시작해, 걸리는 것만 위로 올린다.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경량  ·  정형 추출 · 분류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00784" y="2176272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제목에서 종류 판별, 값 파싱, 스키마 채우기처럼 답이 하나로 정해지는 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175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9501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2187245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24989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2733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0047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313822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596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370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5145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919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94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3" name="Shape 21"/>
          <p:cNvSpPr/>
          <p:nvPr/>
        </p:nvSpPr>
        <p:spPr>
          <a:xfrm>
            <a:off x="456468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80242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04017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6" name="Shape 24"/>
          <p:cNvSpPr/>
          <p:nvPr/>
        </p:nvSpPr>
        <p:spPr>
          <a:xfrm>
            <a:off x="527791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7" name="Shape 25"/>
          <p:cNvSpPr/>
          <p:nvPr/>
        </p:nvSpPr>
        <p:spPr>
          <a:xfrm>
            <a:off x="551566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8" name="Shape 26"/>
          <p:cNvSpPr/>
          <p:nvPr/>
        </p:nvSpPr>
        <p:spPr>
          <a:xfrm>
            <a:off x="575340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9" name="Shape 27"/>
          <p:cNvSpPr/>
          <p:nvPr/>
        </p:nvSpPr>
        <p:spPr>
          <a:xfrm>
            <a:off x="599114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2889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~70%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8932" y="3049524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2999232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700784" y="31638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 ·  해석 · 서술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00784" y="3474720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측정값을 읽고 §5·§6 초안을 쓰는 일. 대부분의 데스크 산출이 여기서 나온다.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71175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Shape 37"/>
          <p:cNvSpPr/>
          <p:nvPr/>
        </p:nvSpPr>
        <p:spPr>
          <a:xfrm>
            <a:off x="194950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0" name="Shape 38"/>
          <p:cNvSpPr/>
          <p:nvPr/>
        </p:nvSpPr>
        <p:spPr>
          <a:xfrm>
            <a:off x="218724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Shape 39"/>
          <p:cNvSpPr/>
          <p:nvPr/>
        </p:nvSpPr>
        <p:spPr>
          <a:xfrm>
            <a:off x="242498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2" name="Shape 40"/>
          <p:cNvSpPr/>
          <p:nvPr/>
        </p:nvSpPr>
        <p:spPr>
          <a:xfrm>
            <a:off x="266273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3" name="Shape 41"/>
          <p:cNvSpPr/>
          <p:nvPr/>
        </p:nvSpPr>
        <p:spPr>
          <a:xfrm>
            <a:off x="290047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4" name="Shape 42"/>
          <p:cNvSpPr/>
          <p:nvPr/>
        </p:nvSpPr>
        <p:spPr>
          <a:xfrm>
            <a:off x="313822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5" name="Shape 43"/>
          <p:cNvSpPr/>
          <p:nvPr/>
        </p:nvSpPr>
        <p:spPr>
          <a:xfrm>
            <a:off x="337596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370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85145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408919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432694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456468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242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017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77917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52"/>
          <p:cNvSpPr/>
          <p:nvPr/>
        </p:nvSpPr>
        <p:spPr>
          <a:xfrm>
            <a:off x="5515661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3"/>
          <p:cNvSpPr/>
          <p:nvPr/>
        </p:nvSpPr>
        <p:spPr>
          <a:xfrm>
            <a:off x="575340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4"/>
          <p:cNvSpPr/>
          <p:nvPr/>
        </p:nvSpPr>
        <p:spPr>
          <a:xfrm>
            <a:off x="599114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5"/>
          <p:cNvSpPr/>
          <p:nvPr/>
        </p:nvSpPr>
        <p:spPr>
          <a:xfrm>
            <a:off x="622889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0" y="38587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~25%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98932" y="4347972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4297680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2200" dirty="0"/>
          </a:p>
        </p:txBody>
      </p:sp>
      <p:sp>
        <p:nvSpPr>
          <p:cNvPr id="63" name="Text 61"/>
          <p:cNvSpPr txBox="1"/>
          <p:nvPr/>
        </p:nvSpPr>
        <p:spPr>
          <a:xfrm>
            <a:off x="1700784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 ·  이견 · 이상치 · 재현 설계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700784" y="4773168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판정이 갈리거나, 재현 관문 설계처럼 틀리면 비싼 일.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71175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6" name="Shape 64"/>
          <p:cNvSpPr/>
          <p:nvPr/>
        </p:nvSpPr>
        <p:spPr>
          <a:xfrm>
            <a:off x="194950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7" name="Shape 65"/>
          <p:cNvSpPr/>
          <p:nvPr/>
        </p:nvSpPr>
        <p:spPr>
          <a:xfrm>
            <a:off x="218724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8" name="Shape 66"/>
          <p:cNvSpPr/>
          <p:nvPr/>
        </p:nvSpPr>
        <p:spPr>
          <a:xfrm>
            <a:off x="242498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9" name="Shape 67"/>
          <p:cNvSpPr/>
          <p:nvPr/>
        </p:nvSpPr>
        <p:spPr>
          <a:xfrm>
            <a:off x="266273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0" name="Shape 68"/>
          <p:cNvSpPr/>
          <p:nvPr/>
        </p:nvSpPr>
        <p:spPr>
          <a:xfrm>
            <a:off x="290047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1" name="Shape 69"/>
          <p:cNvSpPr/>
          <p:nvPr/>
        </p:nvSpPr>
        <p:spPr>
          <a:xfrm>
            <a:off x="313822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2" name="Shape 70"/>
          <p:cNvSpPr/>
          <p:nvPr/>
        </p:nvSpPr>
        <p:spPr>
          <a:xfrm>
            <a:off x="337596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3" name="Shape 71"/>
          <p:cNvSpPr/>
          <p:nvPr/>
        </p:nvSpPr>
        <p:spPr>
          <a:xfrm>
            <a:off x="361370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4" name="Shape 72"/>
          <p:cNvSpPr/>
          <p:nvPr/>
        </p:nvSpPr>
        <p:spPr>
          <a:xfrm>
            <a:off x="385145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Shape 73"/>
          <p:cNvSpPr/>
          <p:nvPr/>
        </p:nvSpPr>
        <p:spPr>
          <a:xfrm>
            <a:off x="408919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6" name="Shape 74"/>
          <p:cNvSpPr/>
          <p:nvPr/>
        </p:nvSpPr>
        <p:spPr>
          <a:xfrm>
            <a:off x="432694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7" name="Shape 75"/>
          <p:cNvSpPr/>
          <p:nvPr/>
        </p:nvSpPr>
        <p:spPr>
          <a:xfrm>
            <a:off x="456468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8" name="Shape 76"/>
          <p:cNvSpPr/>
          <p:nvPr/>
        </p:nvSpPr>
        <p:spPr>
          <a:xfrm>
            <a:off x="480242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9" name="Shape 77"/>
          <p:cNvSpPr/>
          <p:nvPr/>
        </p:nvSpPr>
        <p:spPr>
          <a:xfrm>
            <a:off x="504017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27791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51566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75340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99114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622889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0" y="515721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~5%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298180" y="1751076"/>
            <a:ext cx="3392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85"/>
          <p:cNvSpPr/>
          <p:nvPr/>
        </p:nvSpPr>
        <p:spPr>
          <a:xfrm>
            <a:off x="8247888" y="1700784"/>
            <a:ext cx="3392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449056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 조건</a:t>
            </a:r>
            <a:endParaRPr lang="en-US" sz="1100" dirty="0"/>
          </a:p>
        </p:txBody>
      </p:sp>
      <p:pic>
        <p:nvPicPr>
          <p:cNvPr id="8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9056" y="2212848"/>
            <a:ext cx="219456" cy="137160"/>
          </a:xfrm>
          <a:prstGeom prst="rect">
            <a:avLst/>
          </a:prstGeom>
        </p:spPr>
      </p:pic>
      <p:sp>
        <p:nvSpPr>
          <p:cNvPr id="90" name="Text 87"/>
          <p:cNvSpPr txBox="1"/>
          <p:nvPr/>
        </p:nvSpPr>
        <p:spPr>
          <a:xfrm>
            <a:off x="8741664" y="2139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데스크의 판정이 갈릴 때</a:t>
            </a:r>
            <a:endParaRPr lang="en-US" sz="1000" dirty="0"/>
          </a:p>
        </p:txBody>
      </p:sp>
      <p:pic>
        <p:nvPicPr>
          <p:cNvPr id="9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9056" y="2596896"/>
            <a:ext cx="219456" cy="137160"/>
          </a:xfrm>
          <a:prstGeom prst="rect">
            <a:avLst/>
          </a:prstGeom>
        </p:spPr>
      </p:pic>
      <p:sp>
        <p:nvSpPr>
          <p:cNvPr id="92" name="Text 88"/>
          <p:cNvSpPr txBox="1"/>
          <p:nvPr/>
        </p:nvSpPr>
        <p:spPr>
          <a:xfrm>
            <a:off x="8741664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검산이 원장 값과 불일치할 때</a:t>
            </a:r>
            <a:endParaRPr lang="en-US" sz="1000" dirty="0"/>
          </a:p>
        </p:txBody>
      </p:sp>
      <p:pic>
        <p:nvPicPr>
          <p:cNvPr id="9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980944"/>
            <a:ext cx="219456" cy="137160"/>
          </a:xfrm>
          <a:prstGeom prst="rect">
            <a:avLst/>
          </a:prstGeom>
        </p:spPr>
      </p:pic>
      <p:sp>
        <p:nvSpPr>
          <p:cNvPr id="94" name="Text 89"/>
          <p:cNvSpPr txBox="1"/>
          <p:nvPr/>
        </p:nvSpPr>
        <p:spPr>
          <a:xfrm>
            <a:off x="8741664" y="2907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게이트에 두 번 연속 반려될 때</a:t>
            </a:r>
            <a:endParaRPr lang="en-US" sz="1000" dirty="0"/>
          </a:p>
        </p:txBody>
      </p:sp>
      <p:pic>
        <p:nvPicPr>
          <p:cNvPr id="9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9056" y="3364992"/>
            <a:ext cx="219456" cy="137160"/>
          </a:xfrm>
          <a:prstGeom prst="rect">
            <a:avLst/>
          </a:prstGeom>
        </p:spPr>
      </p:pic>
      <p:sp>
        <p:nvSpPr>
          <p:cNvPr id="96" name="Text 90"/>
          <p:cNvSpPr txBox="1"/>
          <p:nvPr/>
        </p:nvSpPr>
        <p:spPr>
          <a:xfrm>
            <a:off x="8741664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판정이 '판정 불가' 로 나올 때</a:t>
            </a:r>
            <a:endParaRPr lang="en-US" sz="1000" dirty="0"/>
          </a:p>
        </p:txBody>
      </p:sp>
      <p:pic>
        <p:nvPicPr>
          <p:cNvPr id="9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9056" y="3749040"/>
            <a:ext cx="219456" cy="137160"/>
          </a:xfrm>
          <a:prstGeom prst="rect">
            <a:avLst/>
          </a:prstGeom>
        </p:spPr>
      </p:pic>
      <p:sp>
        <p:nvSpPr>
          <p:cNvPr id="98" name="Text 91"/>
          <p:cNvSpPr txBox="1"/>
          <p:nvPr/>
        </p:nvSpPr>
        <p:spPr>
          <a:xfrm>
            <a:off x="8741664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초과로 T1·T2 가 미완일 때</a:t>
            </a:r>
            <a:endParaRPr lang="en-US" sz="1000" dirty="0"/>
          </a:p>
        </p:txBody>
      </p:sp>
      <p:sp>
        <p:nvSpPr>
          <p:cNvPr id="99" name="Shape 92"/>
          <p:cNvSpPr/>
          <p:nvPr/>
        </p:nvSpPr>
        <p:spPr>
          <a:xfrm>
            <a:off x="8298180" y="4402836"/>
            <a:ext cx="3392424" cy="19019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0" name="Shape 93"/>
          <p:cNvSpPr/>
          <p:nvPr/>
        </p:nvSpPr>
        <p:spPr>
          <a:xfrm>
            <a:off x="8247888" y="4352544"/>
            <a:ext cx="3392424" cy="19019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8449056" y="44805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승격은 기록된다</a:t>
            </a:r>
            <a:endParaRPr lang="en-US" sz="1100" dirty="0"/>
          </a:p>
        </p:txBody>
      </p:sp>
      <p:sp>
        <p:nvSpPr>
          <p:cNvPr id="102" name="Text 95"/>
          <p:cNvSpPr txBox="1"/>
          <p:nvPr/>
        </p:nvSpPr>
        <p:spPr>
          <a:xfrm>
            <a:off x="8449056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인스턴스가 왜 올라갔는지가 봉투에 남는다. 승격이 잦은 지점이 곧 이 시스템이 아직 약한 곳이므로, 그 분포를 스코어카드에서 본다.</a:t>
            </a:r>
            <a:endParaRPr lang="en-US" sz="1000" dirty="0"/>
          </a:p>
        </p:txBody>
      </p:sp>
      <p:sp>
        <p:nvSpPr>
          <p:cNvPr id="103" name="Text 96"/>
          <p:cNvSpPr txBox="1"/>
          <p:nvPr/>
        </p:nvSpPr>
        <p:spPr>
          <a:xfrm>
            <a:off x="8449056" y="5669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escalated_from: "T2"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escalation_reason: "desk_conflict"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THE WALL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바뀌어도 벽은 그대로다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매번 새로 생기더라도, 원장에 쓸 수 있는 도구를 받는 인스턴스는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4114800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4114800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83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  ·  측정층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231136"/>
            <a:ext cx="786384" cy="7863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2496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682496" y="26883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320040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182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5종의 값만 들어간다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" y="358444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주체는 data-ops 단독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96849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3950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장중 스냅샷은 persist=False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" y="435254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오염되면 되돌릴 수 없다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737360"/>
            <a:ext cx="548640" cy="548640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272284"/>
            <a:ext cx="548640" cy="548640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807208"/>
            <a:ext cx="548640" cy="548640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3342132"/>
            <a:ext cx="548640" cy="548640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877056"/>
            <a:ext cx="548640" cy="54864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4411980"/>
            <a:ext cx="548640" cy="54864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847588" y="1787652"/>
            <a:ext cx="5843016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19"/>
          <p:cNvSpPr/>
          <p:nvPr/>
        </p:nvSpPr>
        <p:spPr>
          <a:xfrm>
            <a:off x="5797296" y="1737360"/>
            <a:ext cx="5843016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016752" y="18836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INTERPRETATION  ·  판단층 (동적)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0167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2322576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3093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ledger.facts</a:t>
            </a:r>
            <a:endParaRPr lang="en-US" sz="950" dirty="0"/>
          </a:p>
        </p:txBody>
      </p:sp>
      <p:sp>
        <p:nvSpPr>
          <p:cNvPr id="33" name="Shape 23"/>
          <p:cNvSpPr/>
          <p:nvPr/>
        </p:nvSpPr>
        <p:spPr>
          <a:xfrm>
            <a:off x="87599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1392" y="232257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0525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ledger.candles</a:t>
            </a:r>
            <a:endParaRPr lang="en-US" sz="950" dirty="0"/>
          </a:p>
        </p:txBody>
      </p:sp>
      <p:sp>
        <p:nvSpPr>
          <p:cNvPr id="36" name="Shape 25"/>
          <p:cNvSpPr/>
          <p:nvPr/>
        </p:nvSpPr>
        <p:spPr>
          <a:xfrm>
            <a:off x="60167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8192" y="2706624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3093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ledger.factors</a:t>
            </a:r>
            <a:endParaRPr lang="en-US" sz="950" dirty="0"/>
          </a:p>
        </p:txBody>
      </p:sp>
      <p:sp>
        <p:nvSpPr>
          <p:cNvPr id="39" name="Shape 27"/>
          <p:cNvSpPr/>
          <p:nvPr/>
        </p:nvSpPr>
        <p:spPr>
          <a:xfrm>
            <a:off x="87599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1392" y="2706624"/>
            <a:ext cx="128016" cy="12801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0525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ledger.calendar</a:t>
            </a:r>
            <a:endParaRPr lang="en-US" sz="950" dirty="0"/>
          </a:p>
        </p:txBody>
      </p:sp>
      <p:sp>
        <p:nvSpPr>
          <p:cNvPr id="42" name="Shape 29"/>
          <p:cNvSpPr/>
          <p:nvPr/>
        </p:nvSpPr>
        <p:spPr>
          <a:xfrm>
            <a:off x="60167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08192" y="3090672"/>
            <a:ext cx="128016" cy="128016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63093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ledger.macro</a:t>
            </a:r>
            <a:endParaRPr lang="en-US" sz="950" dirty="0"/>
          </a:p>
        </p:txBody>
      </p:sp>
      <p:sp>
        <p:nvSpPr>
          <p:cNvPr id="45" name="Shape 31"/>
          <p:cNvSpPr/>
          <p:nvPr/>
        </p:nvSpPr>
        <p:spPr>
          <a:xfrm>
            <a:off x="87599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1392" y="3090672"/>
            <a:ext cx="128016" cy="128016"/>
          </a:xfrm>
          <a:prstGeom prst="rect">
            <a:avLst/>
          </a:prstGeom>
        </p:spPr>
      </p:pic>
      <p:sp>
        <p:nvSpPr>
          <p:cNvPr id="47" name="Text 32"/>
          <p:cNvSpPr txBox="1"/>
          <p:nvPr/>
        </p:nvSpPr>
        <p:spPr>
          <a:xfrm>
            <a:off x="90525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ledger.disclosure</a:t>
            </a:r>
            <a:endParaRPr lang="en-US" sz="950" dirty="0"/>
          </a:p>
        </p:txBody>
      </p:sp>
      <p:sp>
        <p:nvSpPr>
          <p:cNvPr id="48" name="Shape 33"/>
          <p:cNvSpPr/>
          <p:nvPr/>
        </p:nvSpPr>
        <p:spPr>
          <a:xfrm>
            <a:off x="60167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8192" y="3474720"/>
            <a:ext cx="128016" cy="12801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63093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ledger.quality</a:t>
            </a:r>
            <a:endParaRPr lang="en-US" sz="950" dirty="0"/>
          </a:p>
        </p:txBody>
      </p:sp>
      <p:sp>
        <p:nvSpPr>
          <p:cNvPr id="51" name="Shape 35"/>
          <p:cNvSpPr/>
          <p:nvPr/>
        </p:nvSpPr>
        <p:spPr>
          <a:xfrm>
            <a:off x="87599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5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1392" y="3474720"/>
            <a:ext cx="128016" cy="128016"/>
          </a:xfrm>
          <a:prstGeom prst="rect">
            <a:avLst/>
          </a:prstGeom>
        </p:spPr>
      </p:pic>
      <p:sp>
        <p:nvSpPr>
          <p:cNvPr id="53" name="Text 36"/>
          <p:cNvSpPr txBox="1"/>
          <p:nvPr/>
        </p:nvSpPr>
        <p:spPr>
          <a:xfrm>
            <a:off x="90525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ledger.papers</a:t>
            </a:r>
            <a:endParaRPr lang="en-US" sz="950" dirty="0"/>
          </a:p>
        </p:txBody>
      </p:sp>
      <p:sp>
        <p:nvSpPr>
          <p:cNvPr id="54" name="Text 37"/>
          <p:cNvSpPr txBox="1"/>
          <p:nvPr/>
        </p:nvSpPr>
        <p:spPr>
          <a:xfrm>
            <a:off x="6016752" y="395020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 · catchup · fundamentals · KIS 주문  →  도구가 존재하지 않는다</a:t>
            </a:r>
            <a:endParaRPr lang="en-US" sz="950" dirty="0"/>
          </a:p>
        </p:txBody>
      </p:sp>
      <p:sp>
        <p:nvSpPr>
          <p:cNvPr id="55" name="Text 38"/>
          <p:cNvSpPr txBox="1"/>
          <p:nvPr/>
        </p:nvSpPr>
        <p:spPr>
          <a:xfrm>
            <a:off x="6016752" y="42428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도구 ledger.papers 가 추가된다 — 논문 원장을 읽기만 한다. 채택·은퇴를 쓰는 것은 재현 파이프라인(배치)이지 에이전트가 아니다.</a:t>
            </a:r>
            <a:endParaRPr lang="en-US" sz="1000" dirty="0"/>
          </a:p>
        </p:txBody>
      </p:sp>
      <p:sp>
        <p:nvSpPr>
          <p:cNvPr id="56" name="Shape 39"/>
          <p:cNvSpPr/>
          <p:nvPr/>
        </p:nvSpPr>
        <p:spPr>
          <a:xfrm>
            <a:off x="598932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0"/>
          <p:cNvSpPr/>
          <p:nvPr/>
        </p:nvSpPr>
        <p:spPr>
          <a:xfrm>
            <a:off x="548640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8" name="Text 41"/>
          <p:cNvSpPr txBox="1"/>
          <p:nvPr/>
        </p:nvSpPr>
        <p:spPr>
          <a:xfrm>
            <a:off x="731520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벽은 구조다</a:t>
            </a:r>
            <a:endParaRPr lang="en-US" sz="1200" dirty="0"/>
          </a:p>
        </p:txBody>
      </p:sp>
      <p:sp>
        <p:nvSpPr>
          <p:cNvPr id="59" name="Text 42"/>
          <p:cNvSpPr txBox="1"/>
          <p:nvPr/>
        </p:nvSpPr>
        <p:spPr>
          <a:xfrm>
            <a:off x="731520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"쓰지 마라"라고 적는 대신, 쓸 수 있는 도구를 만들지 않는다.</a:t>
            </a:r>
            <a:endParaRPr lang="en-US" sz="1000" dirty="0"/>
          </a:p>
        </p:txBody>
      </p:sp>
      <p:sp>
        <p:nvSpPr>
          <p:cNvPr id="60" name="Shape 43"/>
          <p:cNvSpPr/>
          <p:nvPr/>
        </p:nvSpPr>
        <p:spPr>
          <a:xfrm>
            <a:off x="4357116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44"/>
          <p:cNvSpPr/>
          <p:nvPr/>
        </p:nvSpPr>
        <p:spPr>
          <a:xfrm>
            <a:off x="4306824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Text 45"/>
          <p:cNvSpPr txBox="1"/>
          <p:nvPr/>
        </p:nvSpPr>
        <p:spPr>
          <a:xfrm>
            <a:off x="4489704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역류가 없다</a:t>
            </a:r>
            <a:endParaRPr lang="en-US" sz="1200" dirty="0"/>
          </a:p>
        </p:txBody>
      </p:sp>
      <p:sp>
        <p:nvSpPr>
          <p:cNvPr id="63" name="Text 46"/>
          <p:cNvSpPr txBox="1"/>
          <p:nvPr/>
        </p:nvSpPr>
        <p:spPr>
          <a:xfrm>
            <a:off x="4489704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경로가 스키마에도 도구에도 없다.</a:t>
            </a:r>
            <a:endParaRPr lang="en-US" sz="1000" dirty="0"/>
          </a:p>
        </p:txBody>
      </p:sp>
      <p:sp>
        <p:nvSpPr>
          <p:cNvPr id="64" name="Shape 47"/>
          <p:cNvSpPr/>
          <p:nvPr/>
        </p:nvSpPr>
        <p:spPr>
          <a:xfrm>
            <a:off x="8115300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48"/>
          <p:cNvSpPr/>
          <p:nvPr/>
        </p:nvSpPr>
        <p:spPr>
          <a:xfrm>
            <a:off x="8065008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49"/>
          <p:cNvSpPr txBox="1"/>
          <p:nvPr/>
        </p:nvSpPr>
        <p:spPr>
          <a:xfrm>
            <a:off x="8247888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늘어도 같다</a:t>
            </a:r>
            <a:endParaRPr lang="en-US" sz="1200" dirty="0"/>
          </a:p>
        </p:txBody>
      </p:sp>
      <p:sp>
        <p:nvSpPr>
          <p:cNvPr id="67" name="Text 50"/>
          <p:cNvSpPr txBox="1"/>
          <p:nvPr/>
        </p:nvSpPr>
        <p:spPr>
          <a:xfrm>
            <a:off x="8247888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1개든 400개든 전부 같은 읽기 도구 집합만 받는다.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PERMISSIONS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매트릭스 — 누가 무엇을 할 수 있는가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권한은 프롬프트가 아니라 도구 노출과 훅으로 강제한다. 아래는 실제로 부여할 도구 목록이다.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94415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170432"/>
                <a:gridCol w="1170432"/>
                <a:gridCol w="1691640"/>
                <a:gridCol w="1170432"/>
                <a:gridCol w="1481328"/>
                <a:gridCol w="1060704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읽기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쓰기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 주문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발행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거부권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논문 4곳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5종 전부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초안만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58430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50976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 는 ingest-ops 뿐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네트워크를 쓰지 않는다. 실시간 호출을 허용하면 데스크마다 다른 시각의 값을 보게 되고 기준일이 깨진다.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4357116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9"/>
          <p:cNvSpPr/>
          <p:nvPr/>
        </p:nvSpPr>
        <p:spPr>
          <a:xfrm>
            <a:off x="4306824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9704" y="5843016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쓰기는 한 칸뿐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489704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만 ●. 나머지 여덟은 MCP 읽기 도구만 받는다. 데스크가 몇이든 이 칸은 하나다.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8115300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7888" y="5843016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467344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는 DART 원문 조회뿐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247888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수치는 전부 원장에서 읽는다. 밖으로 나가는 것은 접수번호로 지정된 공시 문서 한 건을 열 때뿐이다 — 검색이 아니다.</a:t>
            </a:r>
            <a:endParaRPr lang="en-US" sz="8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ENVELOPE v2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재현 결과가 함께 실린다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키만 다는 것으로는 부족하다. 그 논문이 우리 표본에서 어떻게 나왔는지가 같이 가야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6126480" cy="38770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6126480" cy="387705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47088"/>
            <a:ext cx="5715000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"claim":        "처분 소요일수 12.4 영업일",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"value":        12.4,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"unit":         "business_days",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"asof":         "2026-09-11",  "stale_days": 2,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"source_grade": "해석",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     ["KRX/일별매매정보"],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{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"paper":       "amihud2002",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"paper_state": "adopted",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"replication": {                    // ← v2 신설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 "재현됨",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"at":       "2026-02-11",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"universe": "KOSDAQ", "n": 1418,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"observed": { "spread_bp": 41, "t": 3.42 }   // 임계 3.0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"assumes": { "participation": 0.15 }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"limits": ["논문 표본은 미국 상장주 — 코스닥 외삽 근거 아님"],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"desk": "q3-execution",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"instance": "q3-execution-20260911-000660-a91f",  // ← v2 신설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"T2",  "escalated_from": null,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"reviewed_by": ["risk", "compliance"]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926580" y="1769364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19072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7456" y="18105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326880" y="1819656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우리 표본에서 어떻게 나왔는가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066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verdict 가 '재현됨'이 아니면 그 팩터는 리포트에서 경고와 함께 나가거나 아예 빠진다.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756916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706624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77456" y="27980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280720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논문이 어느 상태인가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0540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· 방향 반대는 반려. unverified 는 통과하되 '미검증' 표시가 함께 나간다.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744468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694176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7456" y="378561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794760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만들었는가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041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ID 로 같은 실행을 다시 띄워 결과를 대조할 수 있다 — 재생 가능성의 열쇠.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4732020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681728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77456" y="47731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· escalated_from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478231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급이 처리했고 왜 올라왔는가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029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승격이 잦은 지점이 이 시스템이 약한 곳이다. 스코어카드가 이 분포를 본다.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926580" y="5737860"/>
            <a:ext cx="4764024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876288" y="5687568"/>
            <a:ext cx="4764024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77456" y="56875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'해석' 은 그대로다 — 재현까지 통과해도 에이전트 문장은 1차 자료가 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GATES ×7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전 일곱 관문 — 하나라도 걸리면 멈춘다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개는 지난 방안 그대로이고, ③ 재현 관문이 새로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65376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어휘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점수·등급·목표주가·매수/매도 어휘가 있는가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3232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문장 삭제 후 반려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3396996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1"/>
          <p:cNvSpPr/>
          <p:nvPr/>
        </p:nvSpPr>
        <p:spPr>
          <a:xfrm>
            <a:off x="3346704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65376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9936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2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059936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511296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주장에 grade 가 있는가 · '해석'이 승격되지 않았는가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511296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602736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등급 없는 주장 차단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6195060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8"/>
          <p:cNvSpPr/>
          <p:nvPr/>
        </p:nvSpPr>
        <p:spPr>
          <a:xfrm>
            <a:off x="6144768" y="1700784"/>
            <a:ext cx="2615184" cy="1883664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65376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3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논문의 state 가 무엇인가 (4상태)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309360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400800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retired · 방향 반대 → 반려</a:t>
            </a:r>
            <a:endParaRPr lang="en-US" sz="88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1847088"/>
            <a:ext cx="201168" cy="201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993124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5"/>
          <p:cNvSpPr/>
          <p:nvPr/>
        </p:nvSpPr>
        <p:spPr>
          <a:xfrm>
            <a:off x="8942832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1865376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56064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4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9656064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실재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107424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장부에 실재하는 논문인가 · limits 가 비어 있지 않은가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9107424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198864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지어낸 인용 차단</a:t>
            </a:r>
            <a:endParaRPr lang="en-US" sz="880" dirty="0"/>
          </a:p>
        </p:txBody>
      </p:sp>
      <p:sp>
        <p:nvSpPr>
          <p:cNvPr id="38" name="Shape 31"/>
          <p:cNvSpPr/>
          <p:nvPr/>
        </p:nvSpPr>
        <p:spPr>
          <a:xfrm>
            <a:off x="598932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2"/>
          <p:cNvSpPr/>
          <p:nvPr/>
        </p:nvSpPr>
        <p:spPr>
          <a:xfrm>
            <a:off x="548640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913632"/>
            <a:ext cx="457200" cy="4572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61872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5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261872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713232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asof·stale_days 가 임계(3영업일)를 넘지 않는가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713232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804672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값 대신 '데이터 없음'</a:t>
            </a:r>
            <a:endParaRPr lang="en-US" sz="880" dirty="0"/>
          </a:p>
        </p:txBody>
      </p:sp>
      <p:sp>
        <p:nvSpPr>
          <p:cNvPr id="46" name="Shape 38"/>
          <p:cNvSpPr/>
          <p:nvPr/>
        </p:nvSpPr>
        <p:spPr>
          <a:xfrm>
            <a:off x="3396996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9"/>
          <p:cNvSpPr/>
          <p:nvPr/>
        </p:nvSpPr>
        <p:spPr>
          <a:xfrm>
            <a:off x="3346704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1296" y="3913632"/>
            <a:ext cx="457200" cy="45720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4059936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6</a:t>
            </a:r>
            <a:endParaRPr lang="en-US" sz="900" dirty="0"/>
          </a:p>
        </p:txBody>
      </p:sp>
      <p:sp>
        <p:nvSpPr>
          <p:cNvPr id="50" name="Text 41"/>
          <p:cNvSpPr txBox="1"/>
          <p:nvPr/>
        </p:nvSpPr>
        <p:spPr>
          <a:xfrm>
            <a:off x="4059936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유출 검사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3511296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키·URL·포트폴리오사 실명이 남았는가 (scrub())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3511296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3602736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전체 발행 중단</a:t>
            </a:r>
            <a:endParaRPr lang="en-US" sz="880" dirty="0"/>
          </a:p>
        </p:txBody>
      </p:sp>
      <p:sp>
        <p:nvSpPr>
          <p:cNvPr id="54" name="Shape 45"/>
          <p:cNvSpPr/>
          <p:nvPr/>
        </p:nvSpPr>
        <p:spPr>
          <a:xfrm>
            <a:off x="6195060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6"/>
          <p:cNvSpPr/>
          <p:nvPr/>
        </p:nvSpPr>
        <p:spPr>
          <a:xfrm>
            <a:off x="6144768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3913632"/>
            <a:ext cx="457200" cy="45720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6858000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7</a:t>
            </a:r>
            <a:endParaRPr 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6858000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4-eyes</a:t>
            </a:r>
            <a:endParaRPr lang="en-US" sz="1400" dirty="0"/>
          </a:p>
        </p:txBody>
      </p:sp>
      <p:sp>
        <p:nvSpPr>
          <p:cNvPr id="59" name="Text 49"/>
          <p:cNvSpPr txBox="1"/>
          <p:nvPr/>
        </p:nvSpPr>
        <p:spPr>
          <a:xfrm>
            <a:off x="6309360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준법감시 양쪽이 승인했는가</a:t>
            </a:r>
            <a:endParaRPr lang="en-US" sz="950" dirty="0"/>
          </a:p>
        </p:txBody>
      </p:sp>
      <p:sp>
        <p:nvSpPr>
          <p:cNvPr id="60" name="Shape 50"/>
          <p:cNvSpPr/>
          <p:nvPr/>
        </p:nvSpPr>
        <p:spPr>
          <a:xfrm>
            <a:off x="6309360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1" name="Text 51"/>
          <p:cNvSpPr txBox="1"/>
          <p:nvPr/>
        </p:nvSpPr>
        <p:spPr>
          <a:xfrm>
            <a:off x="6400800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해당 절 제외</a:t>
            </a:r>
            <a:endParaRPr lang="en-US" sz="880" dirty="0"/>
          </a:p>
        </p:txBody>
      </p:sp>
      <p:sp>
        <p:nvSpPr>
          <p:cNvPr id="62" name="Shape 52"/>
          <p:cNvSpPr/>
          <p:nvPr/>
        </p:nvSpPr>
        <p:spPr>
          <a:xfrm>
            <a:off x="8993124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3" name="Shape 53"/>
          <p:cNvSpPr/>
          <p:nvPr/>
        </p:nvSpPr>
        <p:spPr>
          <a:xfrm>
            <a:off x="8942832" y="3749040"/>
            <a:ext cx="2615184" cy="18836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9107424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아니면 반려다</a:t>
            </a:r>
            <a:endParaRPr lang="en-US" sz="1300" dirty="0"/>
          </a:p>
        </p:txBody>
      </p:sp>
      <p:sp>
        <p:nvSpPr>
          <p:cNvPr id="65" name="Text 55"/>
          <p:cNvSpPr txBox="1"/>
          <p:nvPr/>
        </p:nvSpPr>
        <p:spPr>
          <a:xfrm>
            <a:off x="9107424" y="4206240"/>
            <a:ext cx="2304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"대체로 지켜졌다"는 판정이 없다. 반려된 절은 회의자료에서 빈칸이 아니라 '반려됨 — 사유' 로 보인다. 조용히 통과시키는 것이 가장 위험하다.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selftest 128개는 그대로 둔다. 게이트는 코드가 아니라 '에이전트가 쓴 문장'을 검사하는 층으로 그 위에 얹는다.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SCORECARD &amp; REPLAY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계측한다 — 다만 자동으로 고치지는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얼마나 반려됐고 무엇이 재현에 실패했는지를 매주 본다. 프롬프트를 고치는 것은 사람이다.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760720" cy="2743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760720" cy="2743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데스크 스코어카드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57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데스크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통과율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157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반려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4561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3" name="Shape 11"/>
          <p:cNvSpPr/>
          <p:nvPr/>
        </p:nvSpPr>
        <p:spPr>
          <a:xfrm>
            <a:off x="296448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Shape 12"/>
          <p:cNvSpPr/>
          <p:nvPr/>
        </p:nvSpPr>
        <p:spPr>
          <a:xfrm>
            <a:off x="308335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222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Shape 14"/>
          <p:cNvSpPr/>
          <p:nvPr/>
        </p:nvSpPr>
        <p:spPr>
          <a:xfrm>
            <a:off x="332110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Shape 15"/>
          <p:cNvSpPr/>
          <p:nvPr/>
        </p:nvSpPr>
        <p:spPr>
          <a:xfrm>
            <a:off x="343997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Shape 16"/>
          <p:cNvSpPr/>
          <p:nvPr/>
        </p:nvSpPr>
        <p:spPr>
          <a:xfrm>
            <a:off x="355884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367771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Shape 18"/>
          <p:cNvSpPr/>
          <p:nvPr/>
        </p:nvSpPr>
        <p:spPr>
          <a:xfrm>
            <a:off x="379658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546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2" name="Shape 20"/>
          <p:cNvSpPr/>
          <p:nvPr/>
        </p:nvSpPr>
        <p:spPr>
          <a:xfrm>
            <a:off x="403433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415320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4" name="Shape 22"/>
          <p:cNvSpPr/>
          <p:nvPr/>
        </p:nvSpPr>
        <p:spPr>
          <a:xfrm>
            <a:off x="427207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094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982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2869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Shape 26"/>
          <p:cNvSpPr/>
          <p:nvPr/>
        </p:nvSpPr>
        <p:spPr>
          <a:xfrm>
            <a:off x="474756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Shape 27"/>
          <p:cNvSpPr/>
          <p:nvPr/>
        </p:nvSpPr>
        <p:spPr>
          <a:xfrm>
            <a:off x="486643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Shape 28"/>
          <p:cNvSpPr/>
          <p:nvPr/>
        </p:nvSpPr>
        <p:spPr>
          <a:xfrm>
            <a:off x="498530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04181" y="2478024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0" y="23957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6%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2743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4561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Shape 33"/>
          <p:cNvSpPr/>
          <p:nvPr/>
        </p:nvSpPr>
        <p:spPr>
          <a:xfrm>
            <a:off x="296448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335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Shape 35"/>
          <p:cNvSpPr/>
          <p:nvPr/>
        </p:nvSpPr>
        <p:spPr>
          <a:xfrm>
            <a:off x="320222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110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Shape 37"/>
          <p:cNvSpPr/>
          <p:nvPr/>
        </p:nvSpPr>
        <p:spPr>
          <a:xfrm>
            <a:off x="343997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Shape 38"/>
          <p:cNvSpPr/>
          <p:nvPr/>
        </p:nvSpPr>
        <p:spPr>
          <a:xfrm>
            <a:off x="355884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1" name="Shape 39"/>
          <p:cNvSpPr/>
          <p:nvPr/>
        </p:nvSpPr>
        <p:spPr>
          <a:xfrm>
            <a:off x="367771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Shape 40"/>
          <p:cNvSpPr/>
          <p:nvPr/>
        </p:nvSpPr>
        <p:spPr>
          <a:xfrm>
            <a:off x="379658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3" name="Shape 41"/>
          <p:cNvSpPr/>
          <p:nvPr/>
        </p:nvSpPr>
        <p:spPr>
          <a:xfrm>
            <a:off x="391546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Shape 42"/>
          <p:cNvSpPr/>
          <p:nvPr/>
        </p:nvSpPr>
        <p:spPr>
          <a:xfrm>
            <a:off x="403433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5" name="Shape 43"/>
          <p:cNvSpPr/>
          <p:nvPr/>
        </p:nvSpPr>
        <p:spPr>
          <a:xfrm>
            <a:off x="415320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Shape 44"/>
          <p:cNvSpPr/>
          <p:nvPr/>
        </p:nvSpPr>
        <p:spPr>
          <a:xfrm>
            <a:off x="427207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7" name="Shape 45"/>
          <p:cNvSpPr/>
          <p:nvPr/>
        </p:nvSpPr>
        <p:spPr>
          <a:xfrm>
            <a:off x="439094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8" name="Shape 46"/>
          <p:cNvSpPr/>
          <p:nvPr/>
        </p:nvSpPr>
        <p:spPr>
          <a:xfrm>
            <a:off x="450982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Shape 47"/>
          <p:cNvSpPr/>
          <p:nvPr/>
        </p:nvSpPr>
        <p:spPr>
          <a:xfrm>
            <a:off x="462869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0" name="Shape 48"/>
          <p:cNvSpPr/>
          <p:nvPr/>
        </p:nvSpPr>
        <p:spPr>
          <a:xfrm>
            <a:off x="4747565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66437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4985309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104181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19%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768096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84561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296448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308335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320222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332110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3997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355884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367771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379658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391546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64"/>
          <p:cNvSpPr/>
          <p:nvPr/>
        </p:nvSpPr>
        <p:spPr>
          <a:xfrm>
            <a:off x="403433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5"/>
          <p:cNvSpPr/>
          <p:nvPr/>
        </p:nvSpPr>
        <p:spPr>
          <a:xfrm>
            <a:off x="415320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6"/>
          <p:cNvSpPr/>
          <p:nvPr/>
        </p:nvSpPr>
        <p:spPr>
          <a:xfrm>
            <a:off x="427207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7"/>
          <p:cNvSpPr/>
          <p:nvPr/>
        </p:nvSpPr>
        <p:spPr>
          <a:xfrm>
            <a:off x="439094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8"/>
          <p:cNvSpPr/>
          <p:nvPr/>
        </p:nvSpPr>
        <p:spPr>
          <a:xfrm>
            <a:off x="450982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9"/>
          <p:cNvSpPr/>
          <p:nvPr/>
        </p:nvSpPr>
        <p:spPr>
          <a:xfrm>
            <a:off x="462869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70"/>
          <p:cNvSpPr/>
          <p:nvPr/>
        </p:nvSpPr>
        <p:spPr>
          <a:xfrm>
            <a:off x="474756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71"/>
          <p:cNvSpPr/>
          <p:nvPr/>
        </p:nvSpPr>
        <p:spPr>
          <a:xfrm>
            <a:off x="486643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72"/>
          <p:cNvSpPr/>
          <p:nvPr/>
        </p:nvSpPr>
        <p:spPr>
          <a:xfrm>
            <a:off x="4985309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5" name="Shape 73"/>
          <p:cNvSpPr/>
          <p:nvPr/>
        </p:nvSpPr>
        <p:spPr>
          <a:xfrm>
            <a:off x="5104181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394960" y="3090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68096" y="34381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84561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9" name="Shape 77"/>
          <p:cNvSpPr/>
          <p:nvPr/>
        </p:nvSpPr>
        <p:spPr>
          <a:xfrm>
            <a:off x="296448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0" name="Shape 78"/>
          <p:cNvSpPr/>
          <p:nvPr/>
        </p:nvSpPr>
        <p:spPr>
          <a:xfrm>
            <a:off x="308335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1" name="Shape 79"/>
          <p:cNvSpPr/>
          <p:nvPr/>
        </p:nvSpPr>
        <p:spPr>
          <a:xfrm>
            <a:off x="320222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2" name="Shape 80"/>
          <p:cNvSpPr/>
          <p:nvPr/>
        </p:nvSpPr>
        <p:spPr>
          <a:xfrm>
            <a:off x="332110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3997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4" name="Shape 82"/>
          <p:cNvSpPr/>
          <p:nvPr/>
        </p:nvSpPr>
        <p:spPr>
          <a:xfrm>
            <a:off x="355884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5" name="Shape 83"/>
          <p:cNvSpPr/>
          <p:nvPr/>
        </p:nvSpPr>
        <p:spPr>
          <a:xfrm>
            <a:off x="367771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6" name="Shape 84"/>
          <p:cNvSpPr/>
          <p:nvPr/>
        </p:nvSpPr>
        <p:spPr>
          <a:xfrm>
            <a:off x="379658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7" name="Shape 85"/>
          <p:cNvSpPr/>
          <p:nvPr/>
        </p:nvSpPr>
        <p:spPr>
          <a:xfrm>
            <a:off x="391546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8" name="Shape 86"/>
          <p:cNvSpPr/>
          <p:nvPr/>
        </p:nvSpPr>
        <p:spPr>
          <a:xfrm>
            <a:off x="403433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9" name="Shape 87"/>
          <p:cNvSpPr/>
          <p:nvPr/>
        </p:nvSpPr>
        <p:spPr>
          <a:xfrm>
            <a:off x="415320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Shape 88"/>
          <p:cNvSpPr/>
          <p:nvPr/>
        </p:nvSpPr>
        <p:spPr>
          <a:xfrm>
            <a:off x="427207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1" name="Shape 89"/>
          <p:cNvSpPr/>
          <p:nvPr/>
        </p:nvSpPr>
        <p:spPr>
          <a:xfrm>
            <a:off x="439094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Shape 90"/>
          <p:cNvSpPr/>
          <p:nvPr/>
        </p:nvSpPr>
        <p:spPr>
          <a:xfrm>
            <a:off x="450982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3" name="Shape 91"/>
          <p:cNvSpPr/>
          <p:nvPr/>
        </p:nvSpPr>
        <p:spPr>
          <a:xfrm>
            <a:off x="462869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Shape 92"/>
          <p:cNvSpPr/>
          <p:nvPr/>
        </p:nvSpPr>
        <p:spPr>
          <a:xfrm>
            <a:off x="474756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5" name="Shape 93"/>
          <p:cNvSpPr/>
          <p:nvPr/>
        </p:nvSpPr>
        <p:spPr>
          <a:xfrm>
            <a:off x="486643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6" name="Shape 94"/>
          <p:cNvSpPr/>
          <p:nvPr/>
        </p:nvSpPr>
        <p:spPr>
          <a:xfrm>
            <a:off x="4985309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5104181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94960" y="34381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12%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76809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84561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6448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335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0222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2110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43997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55884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7771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79658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91546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03433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15320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27207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094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50982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62869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74756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86643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8530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04181" y="3867912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5394960" y="3785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3%</a:t>
            </a:r>
            <a:endParaRPr lang="en-US" sz="950" dirty="0"/>
          </a:p>
        </p:txBody>
      </p:sp>
      <p:sp>
        <p:nvSpPr>
          <p:cNvPr id="121" name="Text 119"/>
          <p:cNvSpPr txBox="1"/>
          <p:nvPr/>
        </p:nvSpPr>
        <p:spPr>
          <a:xfrm>
            <a:off x="768096" y="41148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q2-disposal 의 반려 19% 는 대부분 limits 누락이다 — 프롬프트가 아니라 스킬 문서를 고쳐야 한다는 신호다.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542532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92240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6656832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82%</a:t>
            </a:r>
            <a:endParaRPr lang="en-US" sz="2300" dirty="0"/>
          </a:p>
        </p:txBody>
      </p:sp>
      <p:sp>
        <p:nvSpPr>
          <p:cNvPr id="125" name="Text 123"/>
          <p:cNvSpPr txBox="1"/>
          <p:nvPr/>
        </p:nvSpPr>
        <p:spPr>
          <a:xfrm>
            <a:off x="6656832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성공률</a:t>
            </a:r>
            <a:endParaRPr lang="en-US" sz="1050" dirty="0"/>
          </a:p>
        </p:txBody>
      </p:sp>
      <p:sp>
        <p:nvSpPr>
          <p:cNvPr id="126" name="Text 124"/>
          <p:cNvSpPr txBox="1"/>
          <p:nvPr/>
        </p:nvSpPr>
        <p:spPr>
          <a:xfrm>
            <a:off x="6656832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심사 통과분 기준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9157716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107424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272016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4.1%</a:t>
            </a:r>
            <a:endParaRPr lang="en-US" sz="2300" dirty="0"/>
          </a:p>
        </p:txBody>
      </p:sp>
      <p:sp>
        <p:nvSpPr>
          <p:cNvPr id="130" name="Text 128"/>
          <p:cNvSpPr txBox="1"/>
          <p:nvPr/>
        </p:nvSpPr>
        <p:spPr>
          <a:xfrm>
            <a:off x="9272016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승격률 (T2→T3)</a:t>
            </a:r>
            <a:endParaRPr lang="en-US" sz="1050" dirty="0"/>
          </a:p>
        </p:txBody>
      </p:sp>
      <p:sp>
        <p:nvSpPr>
          <p:cNvPr id="131" name="Text 129"/>
          <p:cNvSpPr txBox="1"/>
          <p:nvPr/>
        </p:nvSpPr>
        <p:spPr>
          <a:xfrm>
            <a:off x="9272016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이견이 주 원인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542532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492240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6656832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</a:t>
            </a:r>
            <a:endParaRPr lang="en-US" sz="2300" dirty="0"/>
          </a:p>
        </p:txBody>
      </p:sp>
      <p:sp>
        <p:nvSpPr>
          <p:cNvPr id="135" name="Text 133"/>
          <p:cNvSpPr txBox="1"/>
          <p:nvPr/>
        </p:nvSpPr>
        <p:spPr>
          <a:xfrm>
            <a:off x="6656832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stale_days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6656832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3영업일 이내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157716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07424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9272016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6편</a:t>
            </a:r>
            <a:endParaRPr lang="en-US" sz="2300" dirty="0"/>
          </a:p>
        </p:txBody>
      </p:sp>
      <p:sp>
        <p:nvSpPr>
          <p:cNvPr id="140" name="Text 138"/>
          <p:cNvSpPr txBox="1"/>
          <p:nvPr/>
        </p:nvSpPr>
        <p:spPr>
          <a:xfrm>
            <a:off x="9272016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은퇴 논문 누계</a:t>
            </a:r>
            <a:endParaRPr lang="en-US" sz="1050" dirty="0"/>
          </a:p>
        </p:txBody>
      </p:sp>
      <p:sp>
        <p:nvSpPr>
          <p:cNvPr id="141" name="Text 139"/>
          <p:cNvSpPr txBox="1"/>
          <p:nvPr/>
        </p:nvSpPr>
        <p:spPr>
          <a:xfrm>
            <a:off x="9272016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2회 연속 실패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598932" y="4640580"/>
            <a:ext cx="11094415" cy="1645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48640" y="4590288"/>
            <a:ext cx="11094415" cy="164592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786384" y="47183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 — 왜 그렇게 읽었는가를 되짚는다</a:t>
            </a:r>
            <a:endParaRPr lang="en-US" sz="1400" dirty="0"/>
          </a:p>
        </p:txBody>
      </p:sp>
      <p:pic>
        <p:nvPicPr>
          <p:cNvPr id="1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5102352"/>
            <a:ext cx="164592" cy="164592"/>
          </a:xfrm>
          <a:prstGeom prst="rect">
            <a:avLst/>
          </a:prstGeom>
        </p:spPr>
      </p:pic>
      <p:sp>
        <p:nvSpPr>
          <p:cNvPr id="146" name="Text 143"/>
          <p:cNvSpPr txBox="1"/>
          <p:nvPr/>
        </p:nvSpPr>
        <p:spPr>
          <a:xfrm>
            <a:off x="1024128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instance ID 가 있다</a:t>
            </a:r>
            <a:endParaRPr lang="en-US" sz="1150" dirty="0"/>
          </a:p>
        </p:txBody>
      </p:sp>
      <p:sp>
        <p:nvSpPr>
          <p:cNvPr id="147" name="Text 144"/>
          <p:cNvSpPr txBox="1"/>
          <p:nvPr/>
        </p:nvSpPr>
        <p:spPr>
          <a:xfrm>
            <a:off x="1024128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어떤 입력으로 만든 문장인지 특정된다.</a:t>
            </a:r>
            <a:endParaRPr lang="en-US" sz="950" dirty="0"/>
          </a:p>
        </p:txBody>
      </p:sp>
      <p:pic>
        <p:nvPicPr>
          <p:cNvPr id="1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5102352"/>
            <a:ext cx="164592" cy="164592"/>
          </a:xfrm>
          <a:prstGeom prst="rect">
            <a:avLst/>
          </a:prstGeom>
        </p:spPr>
      </p:pic>
      <p:sp>
        <p:nvSpPr>
          <p:cNvPr id="149" name="Text 145"/>
          <p:cNvSpPr txBox="1"/>
          <p:nvPr/>
        </p:nvSpPr>
        <p:spPr>
          <a:xfrm>
            <a:off x="4709160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인스턴스는 무상태다</a:t>
            </a:r>
            <a:endParaRPr lang="en-US" sz="1150" dirty="0"/>
          </a:p>
        </p:txBody>
      </p:sp>
      <p:sp>
        <p:nvSpPr>
          <p:cNvPr id="150" name="Text 146"/>
          <p:cNvSpPr txBox="1"/>
          <p:nvPr/>
        </p:nvSpPr>
        <p:spPr>
          <a:xfrm>
            <a:off x="4709160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입력을 다시 넣으면 같은 봉투가 나와야 한다 — 안 나오면 그것이 신호다.</a:t>
            </a:r>
            <a:endParaRPr lang="en-US" sz="950" dirty="0"/>
          </a:p>
        </p:txBody>
      </p:sp>
      <p:pic>
        <p:nvPicPr>
          <p:cNvPr id="1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5102352"/>
            <a:ext cx="164592" cy="164592"/>
          </a:xfrm>
          <a:prstGeom prst="rect">
            <a:avLst/>
          </a:prstGeom>
        </p:spPr>
      </p:pic>
      <p:sp>
        <p:nvSpPr>
          <p:cNvPr id="152" name="Text 147"/>
          <p:cNvSpPr txBox="1"/>
          <p:nvPr/>
        </p:nvSpPr>
        <p:spPr>
          <a:xfrm>
            <a:off x="8394192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원장은 append-only</a:t>
            </a:r>
            <a:endParaRPr lang="en-US" sz="1150" dirty="0"/>
          </a:p>
        </p:txBody>
      </p:sp>
      <p:sp>
        <p:nvSpPr>
          <p:cNvPr id="153" name="Text 148"/>
          <p:cNvSpPr txBox="1"/>
          <p:nvPr/>
        </p:nvSpPr>
        <p:spPr>
          <a:xfrm>
            <a:off x="8394192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재현 판정이 남아 있어, 지금 기준이 아니라 그때 기준으로 되짚을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TECH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— 8,684줄을 다시 쓰지 않고 감싼다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한 줄도 고치지 않는다. 이미 있는 JSON 출력 명령(facts · candles · factors · calendar · macro)이 그대로 인터페이스가 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179222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ic-chair 오케스트레이터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79222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Agent SDK · 서브에이전트 팬아웃/팬인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91472" y="179222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통과분만 조립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8932" y="244602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39572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239572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.claude/agents/*.md  9개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39572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에이전트별 시스템 프롬프트 · 허용 도구 목록 · 담당 절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491472" y="239572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도구 목록이 곧 권한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8932" y="3049524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999232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29992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.claude/skills/  5종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299923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source-grading · envelope-schema · paper-adoption · replication · compliance-gate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91472" y="29992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규칙을 프롬프트에 흩지 않는다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8932" y="3653028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602736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572768" y="360273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 ki-ledger (stdio · Python)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36027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의 읽기 명령만 감싼 8개 도구. 쓰기 도구 없음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91472" y="3602736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벽이 세워지는 지점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8932" y="425653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206240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572768" y="420624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· 수확 · 감가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212080" y="420624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코드. 에이전트가 아니라 스케줄러가 돌린다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491472" y="4206240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매번 같은 답이 나와야 한다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8932" y="486003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8640" y="480974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572768" y="480974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 PreToolUse / PostToolUse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480974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화이트리스트 밖 호출 차단 · 모든 출력에 scrub() 강제 · 봉투 스키마 검증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491472" y="480974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지키는 마지막 선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8932" y="546354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8640" y="541324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1572768" y="541324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 ·  SCHEDULE.cmd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212080" y="541324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없음. 07:30 · 08:50 · 16:10 자동 실행도 그대로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9491472" y="541324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손대지 않는다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98932" y="6103620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8640" y="6053328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86384" y="605332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쓰는 파이썬은 MCP 서버(~200줄) · 재현 러너(~250줄) · 게이트 검사기(~150줄) 셋뿐이다.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나머지는 마크다운 정의 파일이고, 기존 코드 변경은 0줄이다.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MCP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ki-ledger — 벽이 실제로 세워지는 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노출하는 도구가 곧 권한이다. 아래 여덟 개 외에는 존재하지 않으므로, 에이전트는 원장을 고칠 방법 자체가 없다.</a:t>
            </a:r>
            <a:endParaRPr lang="en-US" sz="12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73936"/>
          <a:ext cx="6967728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084832"/>
                <a:gridCol w="2395728"/>
                <a:gridCol w="73152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MCP 도구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대응 CLI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반환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쓰기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ledger.facts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 --codes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종목별 관측 사실 전량 (계산 없음)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ledger.candles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candles --code --days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수정주가 일봉 · 빈 봉은 버린다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ledger.factors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factors --codes --win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값 + 논문 키 + limits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ledger.calendar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calendar --days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+ 등급 (공표 · 규칙 · 추정)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ledger.macro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 --limit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 100대 통계 · 통계명 · 단위 · 시점 보존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ledger.disclosure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 --with-disclosures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공시 목록 + 접수번호 원문 링크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ledger.quality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(신규) 얇은 래퍼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stale_days · 결측 항목 · 필드매핑 검증 상태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ledger.papers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(신규) 논문 원장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 · replication · limits (읽기만)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49540" y="1824228"/>
            <a:ext cx="3941064" cy="173736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7699248" y="1773936"/>
            <a:ext cx="3941064" cy="173736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18704" y="19385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 것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04" y="2304288"/>
            <a:ext cx="146304" cy="1463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56448" y="22677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 · catchup · fundamentals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2587752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56448" y="25511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macro-us · import-keys · migrate-keys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2871216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56448" y="2834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· live · eod (알림 발송)</a:t>
            </a:r>
            <a:endParaRPr 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154680"/>
            <a:ext cx="146304" cy="14630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156448" y="31181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주문 계열 전부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7749540" y="3707892"/>
            <a:ext cx="3941064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1"/>
          <p:cNvSpPr/>
          <p:nvPr/>
        </p:nvSpPr>
        <p:spPr>
          <a:xfrm>
            <a:off x="7699248" y="3657600"/>
            <a:ext cx="3941064" cy="1316736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918704" y="38039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는 예외다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7918704" y="4114800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원장운영역만 MCP 가 아니라 Bash 로 ki_monitor.py 를 직접 부른다. 대신 이 데스크에는 해석을 쓰는 권한이 없고, 산출물은 '적재 결과'와 '품질 경고'뿐이다.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7749540" y="5170932"/>
            <a:ext cx="3941064" cy="1152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5"/>
          <p:cNvSpPr/>
          <p:nvPr/>
        </p:nvSpPr>
        <p:spPr>
          <a:xfrm>
            <a:off x="7699248" y="5120640"/>
            <a:ext cx="3941064" cy="1152144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918704" y="52669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네트워크를 쓰지 않는다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7918704" y="5559552"/>
            <a:ext cx="3529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여덟 도구 전부 원장만 읽는다. 오래됐으면 stale_days 로 알릴 뿐, 몰래 새로 받아오지 않는다 — facts 가 이미 지키는 규칙이다.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규약 유지 — stdout 은 JSON 만, 진단 메시지는 전부 stderr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IMPLEMENTATION SPEC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옮기기 전에 정해야 할 값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아래가 비어 있으면 구현할 때 임의로 정하게 된다. 제안값이며, 착수 전에 확정해야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577840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577840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105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재현 관문 — 판정 기준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유니버스</a:t>
            </a:r>
            <a:endParaRPr lang="en-US" sz="860" dirty="0"/>
          </a:p>
        </p:txBody>
      </p:sp>
      <p:sp>
        <p:nvSpPr>
          <p:cNvPr id="9" name="Text 7"/>
          <p:cNvSpPr txBox="1"/>
          <p:nvPr/>
        </p:nvSpPr>
        <p:spPr>
          <a:xfrm>
            <a:off x="1975104" y="209397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KOSDAQ 전종목 · 관리종목 · 거래정지 · 스팩 제외</a:t>
            </a:r>
            <a:endParaRPr lang="en-US" sz="82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591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최소 표본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1975104" y="235000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종목 n ≥ 200  AND  영업일 ≥ 500 (미달 시 계산 거부)</a:t>
            </a:r>
            <a:endParaRPr lang="en-US" sz="82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151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포트폴리오</a:t>
            </a:r>
            <a:endParaRPr lang="en-US" sz="860" dirty="0"/>
          </a:p>
        </p:txBody>
      </p:sp>
      <p:sp>
        <p:nvSpPr>
          <p:cNvPr id="13" name="Text 11"/>
          <p:cNvSpPr txBox="1"/>
          <p:nvPr/>
        </p:nvSpPr>
        <p:spPr>
          <a:xfrm>
            <a:off x="1975104" y="2606040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팩터값 5분위 · 월말 리밸런싱 · 동일가중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712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검정 통계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1975104" y="2862072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Q5 − Q1 스프레드 · Newey-West 보정 t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1455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</a:t>
            </a:r>
            <a:endParaRPr lang="en-US" sz="860" dirty="0"/>
          </a:p>
        </p:txBody>
      </p:sp>
      <p:sp>
        <p:nvSpPr>
          <p:cNvPr id="17" name="Text 15"/>
          <p:cNvSpPr txBox="1"/>
          <p:nvPr/>
        </p:nvSpPr>
        <p:spPr>
          <a:xfrm>
            <a:off x="1975104" y="3136392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≥ 2.0 &amp; 부호 일치 → 재현됨 · 부호 반대 → 방향 반대</a:t>
            </a:r>
            <a:endParaRPr lang="en-US" sz="82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&lt; 2.0                        → 판정 불가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5661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재검 순번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1975104" y="355701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recheck_due 오래된 순 · 주 ≤3편 · 이관분 12편은 4주에 소화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6323076" y="1751076"/>
            <a:ext cx="5367528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6272784" y="1700784"/>
            <a:ext cx="5367528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5664" y="181051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트리거 임계값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55664" y="2121408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47104" y="212140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신규 공시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212140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dilution · risk 태그가 붙은 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455664" y="2368296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47104" y="236829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급변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36829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|일간수익률| ≥ 8%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55664" y="2615184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47104" y="2615184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거래대금 급증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615184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20일 중앙값 대비 ≥ 3배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455664" y="2862072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47104" y="286207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변동</a:t>
            </a:r>
            <a:endParaRPr lang="en-US" sz="84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2862072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exit_plan.csv 행 변경 감지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55664" y="3108960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47104" y="310896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 만료 임박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3108960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D-30 진입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55664" y="3355848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47104" y="335584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논문 사이클</a:t>
            </a:r>
            <a:endParaRPr lang="en-US" sz="84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335584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월 07:30 · 신규 ~6 + 재검 ≤3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455664" y="3602736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47104" y="360273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 경보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8321040" y="360273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stale_days ≥ 3 영업일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98932" y="4110228"/>
            <a:ext cx="5577840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4059936"/>
            <a:ext cx="5577840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416966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봉투 — 필수 필드 (게이트가 검사)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4462272"/>
            <a:ext cx="5175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required: claim · unit · asof · stale_days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source_grade · sources[] · limits[]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desk · instance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는 null 허용 — 단 null 이면 reason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method.paper 가 있으면 method.replication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 ∈ {unverified, adopted, warned, retired}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 이관분 unverified · 반감기는 원 채택일 기준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전부 도래 상태 → 주 3편 상한으로 4주에 분산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6323076" y="4110228"/>
            <a:ext cx="5367528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4059936"/>
            <a:ext cx="5367528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55664" y="416966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예산 상한 · 판정 어휘 차단 목록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5566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4710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경량</a:t>
            </a:r>
            <a:endParaRPr lang="en-US" sz="820" dirty="0"/>
          </a:p>
        </p:txBody>
      </p:sp>
      <p:sp>
        <p:nvSpPr>
          <p:cNvPr id="53" name="Text 51"/>
          <p:cNvSpPr txBox="1"/>
          <p:nvPr/>
        </p:nvSpPr>
        <p:spPr>
          <a:xfrm>
            <a:off x="654710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8K 토큰 · 도구 3회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819302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8446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 표준</a:t>
            </a:r>
            <a:endParaRPr lang="en-US" sz="82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32K · 12회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993038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02182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 상위</a:t>
            </a:r>
            <a:endParaRPr lang="en-US" sz="820" dirty="0"/>
          </a:p>
        </p:txBody>
      </p:sp>
      <p:sp>
        <p:nvSpPr>
          <p:cNvPr id="59" name="Text 57"/>
          <p:cNvSpPr txBox="1"/>
          <p:nvPr/>
        </p:nvSpPr>
        <p:spPr>
          <a:xfrm>
            <a:off x="1002182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128K · 40회</a:t>
            </a:r>
            <a:endParaRPr lang="en-US" sz="760" dirty="0"/>
          </a:p>
        </p:txBody>
      </p:sp>
      <p:sp>
        <p:nvSpPr>
          <p:cNvPr id="60" name="Text 58"/>
          <p:cNvSpPr txBox="1"/>
          <p:nvPr/>
        </p:nvSpPr>
        <p:spPr>
          <a:xfrm>
            <a:off x="6455664" y="493776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초과 시 '미완' 으로 기록 — 조용히 넘어가지 않는다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455664" y="5212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① 차단 어휘 (정규식)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6455664" y="543153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매수 · 매도 · 비중확대 · 비중축소 · 목표주가 · 적정주가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투자의견 · 저평가 · 고평가 · 유망 · 추천 · 상승여력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98932" y="6121908"/>
            <a:ext cx="11094415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62"/>
          <p:cNvSpPr/>
          <p:nvPr/>
        </p:nvSpPr>
        <p:spPr>
          <a:xfrm>
            <a:off x="548640" y="6071616"/>
            <a:ext cx="11094415" cy="42062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86384" y="6071616"/>
            <a:ext cx="10618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값들이 Phase 1 의 실제 산출물이다. </a:t>
            </a:r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코드보다 먼저 한 장으로 합의하고, 바뀌면 이 장을 고친다 — 코드에 흩어 두지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A 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— 기존 자동 실행 시각은 그대로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SCHEDULE.cmd 의 07:30 · 08:50 · 16:10 을 바꾸지 않는다. 그 사이에 소집·게이트·조립을 끼워 넣는다.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07:30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8932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· 재현 배치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" y="3200400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arXiv·S2·OpenAlex·Crossref 훑기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76732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도래분 재현 실행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33425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최대 1편 · 은퇴 판정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 (에이전트 아님)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866644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08:50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2866644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+ 소집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80944" y="3200400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생성 (기존 그대로)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76732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스캔 → 인스턴스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33425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병렬 작업 · 봉투 제출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 ~50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5134356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~15:30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134356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(읽기만)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48656" y="3200400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스냅샷은 화면에만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76732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 쓰지 않는다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33425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돌지 않는다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only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7402068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900" dirty="0"/>
          </a:p>
        </p:txBody>
      </p:sp>
      <p:sp>
        <p:nvSpPr>
          <p:cNvPr id="50" name="Shape 48"/>
          <p:cNvSpPr/>
          <p:nvPr/>
        </p:nvSpPr>
        <p:spPr>
          <a:xfrm>
            <a:off x="7402068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적재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7516368" y="3200400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유일한 원장 쓰기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76732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catchup 으로 영업일 채움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33425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stale_days 갱신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 단독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9669780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900" dirty="0"/>
          </a:p>
        </p:txBody>
      </p:sp>
      <p:sp>
        <p:nvSpPr>
          <p:cNvPr id="64" name="Shape 62"/>
          <p:cNvSpPr/>
          <p:nvPr/>
        </p:nvSpPr>
        <p:spPr>
          <a:xfrm>
            <a:off x="9669780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→ 조립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784080" y="3200400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 검산 → compliance 판정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767328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ic-chair 로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334256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반려분은 사유와 함께 남는다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발행</a:t>
            </a:r>
            <a:endParaRPr lang="en-US" sz="880" dirty="0"/>
          </a:p>
        </p:txBody>
      </p:sp>
      <p:sp>
        <p:nvSpPr>
          <p:cNvPr id="75" name="Shape 73"/>
          <p:cNvSpPr/>
          <p:nvPr/>
        </p:nvSpPr>
        <p:spPr>
          <a:xfrm>
            <a:off x="598932" y="5500116"/>
            <a:ext cx="11094415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49824"/>
            <a:ext cx="11094415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86384" y="5449824"/>
            <a:ext cx="1061892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장중에 데스크를 돌리지 않는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일봉 장부 위에 세운 해석을 장중 값과 섞으면 무엇을 근거로 읽었는지가 시각마다 달라진다. 하루 한 번, 같은 기준일 위에서만 읽는다.
</a:t>
            </a:r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07:30 배치로 두는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판단이 아니라 계산이다. 에이전트가 아니라 결정적 코드가 돌려야 매번 같은 답이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10주 — 재현 관문을 먼저 세우고 그 위에 소집을 얹는다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파이프라인이 먼저다. 재현되지 않은 방법론 위에 에이전트를 아무리 많이 띄워도 의미가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 ·  W1–2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13232" y="303580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전환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60273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반감기 필드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169664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 이관 (미검증 상태로)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13232" y="4736592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ledger.papers MCP 도구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866644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 ·  W3–4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866644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2980944" y="303580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 재현 러너 (결정적 코드)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60273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 1회 시범 가동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169664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→ 원장 append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80944" y="4736592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145536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코드화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134356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 ·  W5–6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134356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상시화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5248656" y="303580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07:30 주간 배치 등록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60273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후보 + 재검 도래분 합류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169664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 · 경고 · 은퇴 자동화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48656" y="4736592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413248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채택률 실측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402068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  ·  W7–8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7402068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소집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7516368" y="303580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스캐너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60273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생성·예산·소멸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169664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T1~T3 에스컬레이션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516368" y="4736592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680960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v2 · instance ID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9669780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 ·  W9–10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9669780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운영</a:t>
            </a:r>
            <a:endParaRPr lang="en-US" sz="1500" dirty="0"/>
          </a:p>
        </p:txBody>
      </p:sp>
      <p:sp>
        <p:nvSpPr>
          <p:cNvPr id="67" name="Shape 65"/>
          <p:cNvSpPr/>
          <p:nvPr/>
        </p:nvSpPr>
        <p:spPr>
          <a:xfrm>
            <a:off x="9784080" y="3035808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산출과 2주 대조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60273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 · 리플레이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169664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 원인 전수 분석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84080" y="4736592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948672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여부는 사람이 결정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98932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31520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종료</a:t>
            </a:r>
            <a:endParaRPr lang="en-US" sz="1000" dirty="0"/>
          </a:p>
        </p:txBody>
      </p:sp>
      <p:sp>
        <p:nvSpPr>
          <p:cNvPr id="78" name="Text 76"/>
          <p:cNvSpPr txBox="1"/>
          <p:nvPr/>
        </p:nvSpPr>
        <p:spPr>
          <a:xfrm>
            <a:off x="731520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사이클이 한 바퀴 돌아 첫 판정이 원장에 쌓인다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357116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0" name="Shape 78"/>
          <p:cNvSpPr/>
          <p:nvPr/>
        </p:nvSpPr>
        <p:spPr>
          <a:xfrm>
            <a:off x="4306824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489704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종료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4489704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대지 않아도 채택본이 갱신된다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8115300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4" name="Shape 82"/>
          <p:cNvSpPr/>
          <p:nvPr/>
        </p:nvSpPr>
        <p:spPr>
          <a:xfrm>
            <a:off x="8065008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8247888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종료</a:t>
            </a:r>
            <a:endParaRPr lang="en-US" sz="1000" dirty="0"/>
          </a:p>
        </p:txBody>
      </p:sp>
      <p:sp>
        <p:nvSpPr>
          <p:cNvPr id="86" name="Text 84"/>
          <p:cNvSpPr txBox="1"/>
          <p:nvPr/>
        </p:nvSpPr>
        <p:spPr>
          <a:xfrm>
            <a:off x="8247888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결과로 전환 여부를 사람이 결정한다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RISK REGISTER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완화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위험은 에이전트가 틀리는 것이 아니라, 틀린 것이 맞는 것처럼 회의에 올라가는 것이다.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042416"/>
                <a:gridCol w="2121408"/>
                <a:gridCol w="4133088"/>
                <a:gridCol w="3758184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등급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무엇이 문제인가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완화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D6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환각 — 없는 값 생성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원장에 없는 값을 그럴듯하게 채우는 것이 LLM 의 기본 실패 양식이다. 0 으로 채우는 것보다 나쁘다.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스키마가 null 을 허용하고 근거 필드를 필수로 한다 + 게이트 ⑤ 신선도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 혼입 — 해석이 사실로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 문장이 §5 표에서 측정값과 같은 무게로 읽히면, 이 도구가 막으려던 실패가 재현된다.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'해석' 등급 신설 + 게이트 ② + 리포트에서 별도 블록으로 분리 렌더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8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78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관문의 과신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재현됐다고 인과가 성립하는 것은 아니다. 표본 구간을 바꾸면 판정이 뒤집힐 수 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판정에 표본 구간·n 을 항상 붙이고, 반감기마다 재검해 변화 자체를 기록한다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치명·비가역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D7B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오염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추정치가 ki.sqlite 에 한 번 들어가면 다음 측정이 오염되고 되돌릴 수 없다.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에 쓰기 도구 미노출 + data-ops 단독 권한 + PreToolUse 훅 차단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D6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5D6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유사투자자문 규제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· 목표가를 생성하는 순간 산출물의 성격이 바뀐다.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미생성 원칙 유지 + 배포통제 배너(STAGE) + 내부 검토용 고지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FA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·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이벤트가 몰린 날에는 인스턴스가 급증한다 (시뮬 피크 95).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T1~T3 등급 분리 · 인스턴스별 예산 상한 · 17:00 배치로 몰아서 실행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5614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70585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70585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자격증명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압축본의 env.txt 에 6종 키가 평문으로 있었다. 파일명이 .env 가 아니어서 기존 .gitignore 어떤 규칙에도 걸리지 않는다. 저장소에는 넣지 않았고 규칙을 추가했다.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20624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NEXT STEP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9494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주에 할 것과, 무엇으로 성공을 판정할 것인가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598932" y="1531620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548640" y="1481328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261872" y="15819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주장으로 환원하는 규칙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1261872" y="185623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방향 있는 한 문장을 뽑는 기준을 정한다. 환원 안 되는 논문은 재현 대상에서 뺀다.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601968" y="1581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98932" y="2391156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640" y="2340864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261872" y="244144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확정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1261872" y="271576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half_life · limits. 코드보다 먼저 한 장으로 합의한다.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601968" y="2441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98932" y="3250692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59"/>
          <p:cNvSpPr/>
          <p:nvPr/>
        </p:nvSpPr>
        <p:spPr>
          <a:xfrm>
            <a:off x="548640" y="3200400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261872" y="3300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골격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1261872" y="35753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 하나(amihud2002)만 먼저. 원장 일봉으로 분위 스프레드 부호를 본다.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601968" y="33009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8932" y="4110228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059936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1261872" y="41605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 1회 수동 실행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1261872" y="44348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후보로 수확 → 심사 → 재현을 손으로 한 바퀴 돌려 본다. 자동화는 그다음이다.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601968" y="41605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98932" y="4969764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5" name="Shape 73"/>
          <p:cNvSpPr/>
          <p:nvPr/>
        </p:nvSpPr>
        <p:spPr>
          <a:xfrm>
            <a:off x="548640" y="4919472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261872" y="502005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발생률 역산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1261872" y="529437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원장의 공시·변동 이력으로 실제 소집 건수를 계산한다. 가정값을 실측으로 바꾼다.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6601968" y="50200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863840" y="14813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성공 판정 지표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7863840" y="184708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5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사이클이 도는가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4871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손대지 않아도 매주 돌아야 한다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863840" y="29077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≥2편/주</a:t>
            </a:r>
            <a:endParaRPr lang="en-US" sz="2500" dirty="0"/>
          </a:p>
        </p:txBody>
      </p:sp>
      <p:sp>
        <p:nvSpPr>
          <p:cNvPr id="86" name="Text 84"/>
          <p:cNvSpPr txBox="1"/>
          <p:nvPr/>
        </p:nvSpPr>
        <p:spPr>
          <a:xfrm>
            <a:off x="7863840" y="33284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채택 유입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786384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산출물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68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0건</a:t>
            </a:r>
            <a:endParaRPr lang="en-US" sz="2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3891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미재현 논문 인용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7863840" y="46085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반려 건수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63840" y="50292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-80%</a:t>
            </a:r>
            <a:endParaRPr lang="en-US" sz="2500" dirty="0"/>
          </a:p>
        </p:txBody>
      </p:sp>
      <p:sp>
        <p:nvSpPr>
          <p:cNvPr id="92" name="Text 90"/>
          <p:cNvSpPr txBox="1"/>
          <p:nvPr/>
        </p:nvSpPr>
        <p:spPr>
          <a:xfrm>
            <a:off x="7863840" y="544982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부하</a:t>
            </a:r>
            <a:endParaRPr lang="en-US" sz="11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66928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 기준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598932" y="5829300"/>
            <a:ext cx="704088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5" name="Shape 93"/>
          <p:cNvSpPr/>
          <p:nvPr/>
        </p:nvSpPr>
        <p:spPr>
          <a:xfrm>
            <a:off x="548640" y="5779008"/>
            <a:ext cx="7040880" cy="457200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68096" y="57790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만들 것은 판정 결과가 아니라 "매주 도는 사이클" 이다. 12편은 반감기 순번이 오면 거기에 실린다.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검토용 · 대외비 · 투자권유 자료 아님 · 계획안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저장소에 추가되는 것 — 파일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파일은 하나도 옮기지 않는다. 아래는 전부 새로 생기는 경로다.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6126480" cy="42062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6126480" cy="4206240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847088"/>
            <a:ext cx="57607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stock-monitor/        변경 없음 (ki_monitor.py 8,684줄)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      변경 없음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agents/               ← 들어감 (자체 검사 109개)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envelope.py          봉투 스키마 · 검증기      16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papers.py            논문 장부 ki.papers/2    19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replication.py       재현 러너 (결정적)     16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gates.py             게이트 ①~⑦ 검사기     20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ki_ledger_mcp.py     MCP 서버 · 읽기 8종    21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selftest.py          다섯 개를 한 번에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triggers.py          트리거 스캐너 · 소집      16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.claude/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agents/              데스크 9개 정의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q1-progress.md    q2-disposal.md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q3-execution.md   q4-timing.md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quant-method.md   risk-officer.md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compliance-officer.md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data-ops.md       ic-chair.md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skills/              규칙 5종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source-grading/     등급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envelope-schema/    봉투 작성법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replication/        재현 설계 · 판정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paper-adoption/     채택 · 감가 · 은퇴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compliance-gate/    게이트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 settings.json        훅 · MCP 등록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926580" y="1787652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37360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77456" y="19202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1847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열지 않는다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139696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CRLF 파일이라 편집 도구가 줄바꿈을 바꾸면 파일 전체가 diff 에 잡힌다. 감싸기만 하고 손대지 않는 이유이기도 하다.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866644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816352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77456" y="2999232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0" y="2926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러너는 에이전트가 아니다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218688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파이썬 코드다. 같은 원장·같은 구간이면 항상 같은 판정이 나와야 하므로 LLM 을 쓰지 않는다.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945636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895344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77456" y="4078224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게이트는 selftest 와 나란히 돈다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297680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agents/gates.py --selftest 를 기존 128개 옆에 붙인다. 검증은 한 곳에서 돌아야 실제로 돌아간다.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5024628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974336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7456" y="51572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50840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규칙은 확장한다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376672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산출 봉투도 포트폴리오사 실명을 담는다. out/ 과 같은 등급으로 .gitignore 에 넣는다.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실제로 들어갔다 — agents/ 파이썬 6 · 데스크 정의 9 · 스킬 5 · 자체 검사 109개 · ki_monitor.py 변경 0줄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Agent v2 — 살아있는 리서치 데스크</dc:title>
  <dc:subject>PptxGenJS Presentation</dc:subject>
  <dc:creator>PptxGenJS</dc:creator>
  <cp:lastModifiedBy>PptxGenJS</cp:lastModifiedBy>
  <cp:revision>1</cp:revision>
  <dcterms:created xsi:type="dcterms:W3CDTF">2026-09-17T10:30:03Z</dcterms:created>
  <dcterms:modified xsi:type="dcterms:W3CDTF">2026-09-17T10:30:03Z</dcterms:modified>
</cp:coreProperties>
</file>