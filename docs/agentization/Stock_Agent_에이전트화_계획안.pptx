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유지</c:v>
                </c:pt>
              </c:strCache>
            </c:strRef>
          </c:tx>
          <c:spPr>
            <a:solidFill>
              <a:srgbClr val="26A455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32</c:v>
                </c:pt>
                <c:pt idx="4">
                  <c:v>38</c:v>
                </c:pt>
                <c:pt idx="5">
                  <c:v>43</c:v>
                </c:pt>
                <c:pt idx="6">
                  <c:v>47</c:v>
                </c:pt>
                <c:pt idx="7">
                  <c:v>50</c:v>
                </c:pt>
                <c:pt idx="8">
                  <c:v>54</c:v>
                </c:pt>
                <c:pt idx="9">
                  <c:v>57</c:v>
                </c:pt>
                <c:pt idx="10">
                  <c:v>60</c:v>
                </c:pt>
                <c:pt idx="11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신규 채택</c:v>
                </c:pt>
              </c:strCache>
            </c:strRef>
          </c:tx>
          <c:spPr>
            <a:solidFill>
              <a:srgbClr val="2596B0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  <c:pt idx="8">
                  <c:v>8</c:v>
                </c:pt>
                <c:pt idx="9">
                  <c:v>8</c:v>
                </c:pt>
                <c:pt idx="10">
                  <c:v>8</c:v>
                </c:pt>
                <c:pt idx="11">
                  <c:v>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은퇴</c:v>
                </c:pt>
              </c:strCache>
            </c:strRef>
          </c:tx>
          <c:spPr>
            <a:solidFill>
              <a:srgbClr val="C93B54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3</c:v>
                </c:pt>
                <c:pt idx="6">
                  <c:v>4</c:v>
                </c:pt>
                <c:pt idx="7">
                  <c:v>4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전수 실행 (85×3)</c:v>
                </c:pt>
              </c:strCache>
            </c:strRef>
          </c:tx>
          <c:spPr>
            <a:solidFill>
              <a:srgbClr val="C93B54"/>
            </a:solidFill>
            <a:ln w="38100" cap="flat">
              <a:solidFill>
                <a:srgbClr val="C93B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93B54"/>
              </a:solidFill>
              <a:ln w="9525" cap="flat">
                <a:solidFill>
                  <a:srgbClr val="C93B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255</c:v>
                </c:pt>
                <c:pt idx="1">
                  <c:v>255</c:v>
                </c:pt>
                <c:pt idx="2">
                  <c:v>255</c:v>
                </c:pt>
                <c:pt idx="3">
                  <c:v>255</c:v>
                </c:pt>
                <c:pt idx="4">
                  <c:v>255</c:v>
                </c:pt>
                <c:pt idx="5">
                  <c:v>255</c:v>
                </c:pt>
                <c:pt idx="6">
                  <c:v>255</c:v>
                </c:pt>
                <c:pt idx="7">
                  <c:v>255</c:v>
                </c:pt>
                <c:pt idx="8">
                  <c:v>255</c:v>
                </c:pt>
                <c:pt idx="9">
                  <c:v>255</c:v>
                </c:pt>
                <c:pt idx="10">
                  <c:v>255</c:v>
                </c:pt>
                <c:pt idx="11">
                  <c:v>255</c:v>
                </c:pt>
                <c:pt idx="12">
                  <c:v>255</c:v>
                </c:pt>
                <c:pt idx="13">
                  <c:v>255</c:v>
                </c:pt>
                <c:pt idx="14">
                  <c:v>255</c:v>
                </c:pt>
                <c:pt idx="15">
                  <c:v>255</c:v>
                </c:pt>
                <c:pt idx="16">
                  <c:v>255</c:v>
                </c:pt>
                <c:pt idx="17">
                  <c:v>255</c:v>
                </c:pt>
                <c:pt idx="18">
                  <c:v>255</c:v>
                </c:pt>
                <c:pt idx="19">
                  <c:v>255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이벤트 소집</c:v>
                </c:pt>
              </c:strCache>
            </c:strRef>
          </c:tx>
          <c:spPr>
            <a:solidFill>
              <a:srgbClr val="26A455"/>
            </a:solidFill>
            <a:ln w="38100" cap="flat">
              <a:solidFill>
                <a:srgbClr val="26A4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6A455"/>
              </a:solidFill>
              <a:ln w="9525" cap="flat">
                <a:solidFill>
                  <a:srgbClr val="26A4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28</c:v>
                </c:pt>
                <c:pt idx="1">
                  <c:v>38</c:v>
                </c:pt>
                <c:pt idx="2">
                  <c:v>32</c:v>
                </c:pt>
                <c:pt idx="3">
                  <c:v>44</c:v>
                </c:pt>
                <c:pt idx="4">
                  <c:v>26</c:v>
                </c:pt>
                <c:pt idx="5">
                  <c:v>36</c:v>
                </c:pt>
                <c:pt idx="6">
                  <c:v>64</c:v>
                </c:pt>
                <c:pt idx="7">
                  <c:v>30</c:v>
                </c:pt>
                <c:pt idx="8">
                  <c:v>42</c:v>
                </c:pt>
                <c:pt idx="9">
                  <c:v>34</c:v>
                </c:pt>
                <c:pt idx="10">
                  <c:v>52</c:v>
                </c:pt>
                <c:pt idx="11">
                  <c:v>29</c:v>
                </c:pt>
                <c:pt idx="12">
                  <c:v>40</c:v>
                </c:pt>
                <c:pt idx="13">
                  <c:v>47</c:v>
                </c:pt>
                <c:pt idx="14">
                  <c:v>31</c:v>
                </c:pt>
                <c:pt idx="15">
                  <c:v>37</c:v>
                </c:pt>
                <c:pt idx="16">
                  <c:v>34</c:v>
                </c:pt>
                <c:pt idx="17">
                  <c:v>70</c:v>
                </c:pt>
                <c:pt idx="18">
                  <c:v>42</c:v>
                </c:pt>
                <c:pt idx="19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E6B87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3A2C0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png"/><Relationship Id="rId13" Type="http://schemas.openxmlformats.org/officeDocument/2006/relationships/image" Target="../media/image-25-13.png"/><Relationship Id="rId14" Type="http://schemas.openxmlformats.org/officeDocument/2006/relationships/image" Target="../media/image-25-14.png"/><Relationship Id="rId15" Type="http://schemas.openxmlformats.org/officeDocument/2006/relationships/image" Target="../media/image-25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7548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  ·  에이전트화 계획안  ·  INTERNAL  ·  NOT INVESTMENT ADVICE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1170432"/>
            <a:ext cx="10424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리서치 데스크</a:t>
            </a:r>
            <a:endParaRPr lang="en-US" sz="46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1975104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논문이 흐르고, 에이전트가 소집된다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2450592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증권사 조직을 그대로 옮기되, 논문은 매주 새로 들어와 재현 검사를 통과한 것만 살아남고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이벤트가 뜰 때만 소집됐다가 봉투를 내고 사라진다.</a:t>
            </a:r>
            <a:endParaRPr lang="en-US" sz="13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75888"/>
            <a:ext cx="749808" cy="749808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43891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기업분석</a:t>
            </a:r>
            <a:endParaRPr lang="en-US" sz="850" dirty="0"/>
          </a:p>
        </p:txBody>
      </p:sp>
      <p:pic>
        <p:nvPicPr>
          <p:cNvPr id="5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3675888"/>
            <a:ext cx="749808" cy="749808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0584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</a:t>
            </a:r>
            <a:endParaRPr lang="en-US" sz="850" dirty="0"/>
          </a:p>
        </p:txBody>
      </p:sp>
      <p:pic>
        <p:nvPicPr>
          <p:cNvPr id="5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2496" y="3675888"/>
            <a:ext cx="749808" cy="749808"/>
          </a:xfrm>
          <a:prstGeom prst="rect">
            <a:avLst/>
          </a:prstGeom>
        </p:spPr>
      </p:pic>
      <p:sp>
        <p:nvSpPr>
          <p:cNvPr id="53" name="Text 48"/>
          <p:cNvSpPr txBox="1"/>
          <p:nvPr/>
        </p:nvSpPr>
        <p:spPr>
          <a:xfrm>
            <a:off x="157276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매크로</a:t>
            </a:r>
            <a:endParaRPr lang="en-US" sz="850" dirty="0"/>
          </a:p>
        </p:txBody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424" y="3675888"/>
            <a:ext cx="749808" cy="74980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2139696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집행</a:t>
            </a:r>
            <a:endParaRPr lang="en-US" sz="850" dirty="0"/>
          </a:p>
        </p:txBody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6352" y="3675888"/>
            <a:ext cx="749808" cy="749808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2706624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리스크</a:t>
            </a:r>
            <a:endParaRPr lang="en-US" sz="850" dirty="0"/>
          </a:p>
        </p:txBody>
      </p:sp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675888"/>
            <a:ext cx="749808" cy="749808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327355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</a:t>
            </a:r>
            <a:endParaRPr lang="en-US" sz="850" dirty="0"/>
          </a:p>
        </p:txBody>
      </p:sp>
      <p:pic>
        <p:nvPicPr>
          <p:cNvPr id="6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50208" y="3675888"/>
            <a:ext cx="749808" cy="749808"/>
          </a:xfrm>
          <a:prstGeom prst="rect">
            <a:avLst/>
          </a:prstGeom>
        </p:spPr>
      </p:pic>
      <p:sp>
        <p:nvSpPr>
          <p:cNvPr id="61" name="Text 52"/>
          <p:cNvSpPr txBox="1"/>
          <p:nvPr/>
        </p:nvSpPr>
        <p:spPr>
          <a:xfrm>
            <a:off x="384048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데이터</a:t>
            </a:r>
            <a:endParaRPr lang="en-US" sz="850" dirty="0"/>
          </a:p>
        </p:txBody>
      </p:sp>
      <p:pic>
        <p:nvPicPr>
          <p:cNvPr id="6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17136" y="3675888"/>
            <a:ext cx="749808" cy="749808"/>
          </a:xfrm>
          <a:prstGeom prst="rect">
            <a:avLst/>
          </a:prstGeom>
        </p:spPr>
      </p:pic>
      <p:sp>
        <p:nvSpPr>
          <p:cNvPr id="63" name="Text 53"/>
          <p:cNvSpPr txBox="1"/>
          <p:nvPr/>
        </p:nvSpPr>
        <p:spPr>
          <a:xfrm>
            <a:off x="440740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간사</a:t>
            </a:r>
            <a:endParaRPr lang="en-US" sz="850" dirty="0"/>
          </a:p>
        </p:txBody>
      </p:sp>
      <p:sp>
        <p:nvSpPr>
          <p:cNvPr id="64" name="Shape 54"/>
          <p:cNvSpPr/>
          <p:nvPr/>
        </p:nvSpPr>
        <p:spPr>
          <a:xfrm>
            <a:off x="53035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5" name="Shape 55"/>
          <p:cNvSpPr/>
          <p:nvPr/>
        </p:nvSpPr>
        <p:spPr>
          <a:xfrm>
            <a:off x="64831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6" name="Shape 56"/>
          <p:cNvSpPr/>
          <p:nvPr/>
        </p:nvSpPr>
        <p:spPr>
          <a:xfrm>
            <a:off x="766267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7" name="Shape 57"/>
          <p:cNvSpPr/>
          <p:nvPr/>
        </p:nvSpPr>
        <p:spPr>
          <a:xfrm>
            <a:off x="88422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8" name="Shape 58"/>
          <p:cNvSpPr/>
          <p:nvPr/>
        </p:nvSpPr>
        <p:spPr>
          <a:xfrm>
            <a:off x="100218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9" name="Shape 59"/>
          <p:cNvSpPr/>
          <p:nvPr/>
        </p:nvSpPr>
        <p:spPr>
          <a:xfrm>
            <a:off x="112014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0" name="Shape 60"/>
          <p:cNvSpPr/>
          <p:nvPr/>
        </p:nvSpPr>
        <p:spPr>
          <a:xfrm>
            <a:off x="123809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1" name="Shape 61"/>
          <p:cNvSpPr/>
          <p:nvPr/>
        </p:nvSpPr>
        <p:spPr>
          <a:xfrm>
            <a:off x="135605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2" name="Shape 62"/>
          <p:cNvSpPr/>
          <p:nvPr/>
        </p:nvSpPr>
        <p:spPr>
          <a:xfrm>
            <a:off x="147401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3" name="Shape 63"/>
          <p:cNvSpPr/>
          <p:nvPr/>
        </p:nvSpPr>
        <p:spPr>
          <a:xfrm>
            <a:off x="159197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4" name="Shape 64"/>
          <p:cNvSpPr/>
          <p:nvPr/>
        </p:nvSpPr>
        <p:spPr>
          <a:xfrm>
            <a:off x="170992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5" name="Shape 65"/>
          <p:cNvSpPr/>
          <p:nvPr/>
        </p:nvSpPr>
        <p:spPr>
          <a:xfrm>
            <a:off x="182788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6" name="Shape 66"/>
          <p:cNvSpPr/>
          <p:nvPr/>
        </p:nvSpPr>
        <p:spPr>
          <a:xfrm>
            <a:off x="194584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7" name="Shape 67"/>
          <p:cNvSpPr/>
          <p:nvPr/>
        </p:nvSpPr>
        <p:spPr>
          <a:xfrm>
            <a:off x="206380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8" name="Shape 68"/>
          <p:cNvSpPr/>
          <p:nvPr/>
        </p:nvSpPr>
        <p:spPr>
          <a:xfrm>
            <a:off x="218175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9" name="Shape 69"/>
          <p:cNvSpPr/>
          <p:nvPr/>
        </p:nvSpPr>
        <p:spPr>
          <a:xfrm>
            <a:off x="229971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0" name="Shape 70"/>
          <p:cNvSpPr/>
          <p:nvPr/>
        </p:nvSpPr>
        <p:spPr>
          <a:xfrm>
            <a:off x="241767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1" name="Shape 71"/>
          <p:cNvSpPr/>
          <p:nvPr/>
        </p:nvSpPr>
        <p:spPr>
          <a:xfrm>
            <a:off x="253563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2" name="Shape 72"/>
          <p:cNvSpPr/>
          <p:nvPr/>
        </p:nvSpPr>
        <p:spPr>
          <a:xfrm>
            <a:off x="265358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3" name="Shape 73"/>
          <p:cNvSpPr/>
          <p:nvPr/>
        </p:nvSpPr>
        <p:spPr>
          <a:xfrm>
            <a:off x="277154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4" name="Shape 74"/>
          <p:cNvSpPr/>
          <p:nvPr/>
        </p:nvSpPr>
        <p:spPr>
          <a:xfrm>
            <a:off x="288950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5" name="Shape 75"/>
          <p:cNvSpPr/>
          <p:nvPr/>
        </p:nvSpPr>
        <p:spPr>
          <a:xfrm>
            <a:off x="300746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6" name="Shape 76"/>
          <p:cNvSpPr/>
          <p:nvPr/>
        </p:nvSpPr>
        <p:spPr>
          <a:xfrm>
            <a:off x="312541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7" name="Shape 77"/>
          <p:cNvSpPr/>
          <p:nvPr/>
        </p:nvSpPr>
        <p:spPr>
          <a:xfrm>
            <a:off x="324337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8" name="Shape 78"/>
          <p:cNvSpPr/>
          <p:nvPr/>
        </p:nvSpPr>
        <p:spPr>
          <a:xfrm>
            <a:off x="336133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9" name="Shape 79"/>
          <p:cNvSpPr/>
          <p:nvPr/>
        </p:nvSpPr>
        <p:spPr>
          <a:xfrm>
            <a:off x="347929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0" name="Shape 80"/>
          <p:cNvSpPr/>
          <p:nvPr/>
        </p:nvSpPr>
        <p:spPr>
          <a:xfrm>
            <a:off x="359725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1" name="Shape 81"/>
          <p:cNvSpPr/>
          <p:nvPr/>
        </p:nvSpPr>
        <p:spPr>
          <a:xfrm>
            <a:off x="371520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2" name="Shape 82"/>
          <p:cNvSpPr/>
          <p:nvPr/>
        </p:nvSpPr>
        <p:spPr>
          <a:xfrm>
            <a:off x="383316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3" name="Shape 83"/>
          <p:cNvSpPr/>
          <p:nvPr/>
        </p:nvSpPr>
        <p:spPr>
          <a:xfrm>
            <a:off x="395112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4" name="Shape 84"/>
          <p:cNvSpPr/>
          <p:nvPr/>
        </p:nvSpPr>
        <p:spPr>
          <a:xfrm>
            <a:off x="406908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5" name="Shape 85"/>
          <p:cNvSpPr/>
          <p:nvPr/>
        </p:nvSpPr>
        <p:spPr>
          <a:xfrm>
            <a:off x="418703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6" name="Shape 86"/>
          <p:cNvSpPr/>
          <p:nvPr/>
        </p:nvSpPr>
        <p:spPr>
          <a:xfrm>
            <a:off x="430499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7" name="Shape 87"/>
          <p:cNvSpPr/>
          <p:nvPr/>
        </p:nvSpPr>
        <p:spPr>
          <a:xfrm>
            <a:off x="442295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8" name="Shape 88"/>
          <p:cNvSpPr/>
          <p:nvPr/>
        </p:nvSpPr>
        <p:spPr>
          <a:xfrm>
            <a:off x="454091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9" name="Shape 89"/>
          <p:cNvSpPr/>
          <p:nvPr/>
        </p:nvSpPr>
        <p:spPr>
          <a:xfrm>
            <a:off x="465886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0" name="Shape 90"/>
          <p:cNvSpPr/>
          <p:nvPr/>
        </p:nvSpPr>
        <p:spPr>
          <a:xfrm>
            <a:off x="4776826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1" name="Shape 91"/>
          <p:cNvSpPr/>
          <p:nvPr/>
        </p:nvSpPr>
        <p:spPr>
          <a:xfrm>
            <a:off x="489478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2" name="Shape 92"/>
          <p:cNvSpPr/>
          <p:nvPr/>
        </p:nvSpPr>
        <p:spPr>
          <a:xfrm>
            <a:off x="5012741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3" name="Shape 93"/>
          <p:cNvSpPr/>
          <p:nvPr/>
        </p:nvSpPr>
        <p:spPr>
          <a:xfrm>
            <a:off x="513069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4" name="Shape 94"/>
          <p:cNvSpPr/>
          <p:nvPr/>
        </p:nvSpPr>
        <p:spPr>
          <a:xfrm>
            <a:off x="598932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5" name="Shape 95"/>
          <p:cNvSpPr/>
          <p:nvPr/>
        </p:nvSpPr>
        <p:spPr>
          <a:xfrm>
            <a:off x="548640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6" name="Text 96"/>
          <p:cNvSpPr txBox="1"/>
          <p:nvPr/>
        </p:nvSpPr>
        <p:spPr>
          <a:xfrm>
            <a:off x="694944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100" dirty="0"/>
          </a:p>
        </p:txBody>
      </p:sp>
      <p:sp>
        <p:nvSpPr>
          <p:cNvPr id="107" name="Text 97"/>
          <p:cNvSpPr txBox="1"/>
          <p:nvPr/>
        </p:nvSpPr>
        <p:spPr>
          <a:xfrm>
            <a:off x="694944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1100" dirty="0"/>
          </a:p>
        </p:txBody>
      </p:sp>
      <p:sp>
        <p:nvSpPr>
          <p:cNvPr id="108" name="Text 98"/>
          <p:cNvSpPr txBox="1"/>
          <p:nvPr/>
        </p:nvSpPr>
        <p:spPr>
          <a:xfrm>
            <a:off x="694944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12편이 아니다</a:t>
            </a:r>
            <a:endParaRPr lang="en-US" sz="950" dirty="0"/>
          </a:p>
        </p:txBody>
      </p:sp>
      <p:sp>
        <p:nvSpPr>
          <p:cNvPr id="109" name="Shape 99"/>
          <p:cNvSpPr/>
          <p:nvPr/>
        </p:nvSpPr>
        <p:spPr>
          <a:xfrm>
            <a:off x="3396996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0" name="Shape 100"/>
          <p:cNvSpPr/>
          <p:nvPr/>
        </p:nvSpPr>
        <p:spPr>
          <a:xfrm>
            <a:off x="3346704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1" name="Text 101"/>
          <p:cNvSpPr txBox="1"/>
          <p:nvPr/>
        </p:nvSpPr>
        <p:spPr>
          <a:xfrm>
            <a:off x="3493008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2100" dirty="0"/>
          </a:p>
        </p:txBody>
      </p:sp>
      <p:sp>
        <p:nvSpPr>
          <p:cNvPr id="112" name="Text 102"/>
          <p:cNvSpPr txBox="1"/>
          <p:nvPr/>
        </p:nvSpPr>
        <p:spPr>
          <a:xfrm>
            <a:off x="3493008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1100" dirty="0"/>
          </a:p>
        </p:txBody>
      </p:sp>
      <p:sp>
        <p:nvSpPr>
          <p:cNvPr id="113" name="Text 103"/>
          <p:cNvSpPr txBox="1"/>
          <p:nvPr/>
        </p:nvSpPr>
        <p:spPr>
          <a:xfrm>
            <a:off x="3493008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아니다</a:t>
            </a:r>
            <a:endParaRPr lang="en-US" sz="950" dirty="0"/>
          </a:p>
        </p:txBody>
      </p:sp>
      <p:sp>
        <p:nvSpPr>
          <p:cNvPr id="114" name="Shape 104"/>
          <p:cNvSpPr/>
          <p:nvPr/>
        </p:nvSpPr>
        <p:spPr>
          <a:xfrm>
            <a:off x="6195060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5" name="Shape 105"/>
          <p:cNvSpPr/>
          <p:nvPr/>
        </p:nvSpPr>
        <p:spPr>
          <a:xfrm>
            <a:off x="6144768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6" name="Text 106"/>
          <p:cNvSpPr txBox="1"/>
          <p:nvPr/>
        </p:nvSpPr>
        <p:spPr>
          <a:xfrm>
            <a:off x="6291072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100" dirty="0"/>
          </a:p>
        </p:txBody>
      </p:sp>
      <p:sp>
        <p:nvSpPr>
          <p:cNvPr id="117" name="Text 107"/>
          <p:cNvSpPr txBox="1"/>
          <p:nvPr/>
        </p:nvSpPr>
        <p:spPr>
          <a:xfrm>
            <a:off x="6291072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1100" dirty="0"/>
          </a:p>
        </p:txBody>
      </p:sp>
      <p:sp>
        <p:nvSpPr>
          <p:cNvPr id="118" name="Text 108"/>
          <p:cNvSpPr txBox="1"/>
          <p:nvPr/>
        </p:nvSpPr>
        <p:spPr>
          <a:xfrm>
            <a:off x="6291072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950" dirty="0"/>
          </a:p>
        </p:txBody>
      </p:sp>
      <p:sp>
        <p:nvSpPr>
          <p:cNvPr id="119" name="Shape 109"/>
          <p:cNvSpPr/>
          <p:nvPr/>
        </p:nvSpPr>
        <p:spPr>
          <a:xfrm>
            <a:off x="8993124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0" name="Shape 110"/>
          <p:cNvSpPr/>
          <p:nvPr/>
        </p:nvSpPr>
        <p:spPr>
          <a:xfrm>
            <a:off x="8942832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1" name="Text 111"/>
          <p:cNvSpPr txBox="1"/>
          <p:nvPr/>
        </p:nvSpPr>
        <p:spPr>
          <a:xfrm>
            <a:off x="9089136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100" dirty="0"/>
          </a:p>
        </p:txBody>
      </p:sp>
      <p:sp>
        <p:nvSpPr>
          <p:cNvPr id="122" name="Text 112"/>
          <p:cNvSpPr txBox="1"/>
          <p:nvPr/>
        </p:nvSpPr>
        <p:spPr>
          <a:xfrm>
            <a:off x="9089136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1100" dirty="0"/>
          </a:p>
        </p:txBody>
      </p:sp>
      <p:sp>
        <p:nvSpPr>
          <p:cNvPr id="123" name="Text 113"/>
          <p:cNvSpPr txBox="1"/>
          <p:nvPr/>
        </p:nvSpPr>
        <p:spPr>
          <a:xfrm>
            <a:off x="9089136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950" dirty="0"/>
          </a:p>
        </p:txBody>
      </p:sp>
      <p:sp>
        <p:nvSpPr>
          <p:cNvPr id="124" name="Text 114"/>
          <p:cNvSpPr txBox="1"/>
          <p:nvPr/>
        </p:nvSpPr>
        <p:spPr>
          <a:xfrm>
            <a:off x="548640" y="614476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2026-09-13  ·  InnbumBaek/Stock_Agent  ·  최종 결정은 사람이 한다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— 무엇을 바꾸고, 무엇을 지키는가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파이프라인은 이미 완성돼 있다. 이 방안이 손대는 것은 측정 결과를 읽는 층과, 그 읽기의 근거가 되는 논문이다.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773936" y="18105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새 논문을 들여와 통과 테스트를 돌린다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773936" y="2103120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→ 심사 → 재현 → 채택이 매주 한 번 돈다. 반감기가 도래한 기존 채택본도 같은 사이클에서 재검된다.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932" y="2683764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633472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773936" y="277977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질문마다 데스크 하나 — 아홉으로 나눈다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773936" y="3072384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질문(q1~q4) 각각에 담당을 두고, 그 질문의 답이 달라졌을 때만 소집한다.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8932" y="3653028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602736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773936" y="37490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원장(ki.sqlite)은 여전히 사실만 담는다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773936" y="4041648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에이전트에게 쓰기 도구를 아예 주지 않는다. 규칙이 아니라 구조로 막는다.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8932" y="4622292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572000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773936" y="471830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여전히 회의에서 사람이 한다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1773936" y="501091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 올라가는 것은 쟁점이지 결론이 아니다.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23860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7973568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01584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101584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101584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+ 재검 도래분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70948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33"/>
          <p:cNvSpPr/>
          <p:nvPr/>
        </p:nvSpPr>
        <p:spPr>
          <a:xfrm>
            <a:off x="9820656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948672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9948672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948672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고정값이 아니다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023860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7973568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01584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900" dirty="0"/>
          </a:p>
        </p:txBody>
      </p:sp>
      <p:sp>
        <p:nvSpPr>
          <p:cNvPr id="42" name="Text 40"/>
          <p:cNvSpPr txBox="1"/>
          <p:nvPr/>
        </p:nvSpPr>
        <p:spPr>
          <a:xfrm>
            <a:off x="8101584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8101584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870948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9820656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948672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900" dirty="0"/>
          </a:p>
        </p:txBody>
      </p:sp>
      <p:sp>
        <p:nvSpPr>
          <p:cNvPr id="47" name="Text 45"/>
          <p:cNvSpPr txBox="1"/>
          <p:nvPr/>
        </p:nvSpPr>
        <p:spPr>
          <a:xfrm>
            <a:off x="9948672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948672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023860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7973568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01584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0줄</a:t>
            </a:r>
            <a:endParaRPr lang="en-US" sz="1900" dirty="0"/>
          </a:p>
        </p:txBody>
      </p:sp>
      <p:sp>
        <p:nvSpPr>
          <p:cNvPr id="52" name="Text 50"/>
          <p:cNvSpPr txBox="1"/>
          <p:nvPr/>
        </p:nvSpPr>
        <p:spPr>
          <a:xfrm>
            <a:off x="8101584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변경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8101584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측정층은 그대로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9870948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9820656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948672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273개</a:t>
            </a:r>
            <a:endParaRPr lang="en-US" sz="1900" dirty="0"/>
          </a:p>
        </p:txBody>
      </p:sp>
      <p:sp>
        <p:nvSpPr>
          <p:cNvPr id="57" name="Text 55"/>
          <p:cNvSpPr txBox="1"/>
          <p:nvPr/>
        </p:nvSpPr>
        <p:spPr>
          <a:xfrm>
            <a:off x="9948672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검사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948672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키·망·원장 없이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8932" y="5664708"/>
            <a:ext cx="11094415" cy="6217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5614416"/>
            <a:ext cx="11094415" cy="62179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86384" y="5614416"/>
            <a:ext cx="106189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사이클이다 —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논문을 한 번에 검증하고 끝내는 것이 아니라, 매주 새 논문이 들어오고 오래된 것이 재검되는 흐름을 만든다. 기존 12편도 반감기 순번이 오면 이 사이클에 들어온다.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THE WHOLE THING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장으로 — 무엇이 어디로 흐르는가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 장만 보셔도 됩니다. 각 블록에 붙은 PART 가 그것을 설명하는 곳입니다.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97380"/>
            <a:ext cx="301752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847088"/>
            <a:ext cx="301752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47088"/>
            <a:ext cx="3017520" cy="32918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측정층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1847088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2860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5237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  16:10 · ingest-ops 단독</a:t>
            </a:r>
            <a:endParaRPr lang="en-US" sz="9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798064"/>
            <a:ext cx="493776" cy="49377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298448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98448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94944" y="33649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94944" y="3584448"/>
            <a:ext cx="2724912" cy="60350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621024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 — 계산은 여기서 끝난다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" y="3858768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리픽싱 · 완전희석 · 처분소요일 · 집행시뮬</a:t>
            </a:r>
            <a:endParaRPr lang="en-US" sz="76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1847088"/>
            <a:ext cx="512064" cy="512064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176" y="2345436"/>
            <a:ext cx="512064" cy="512064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176" y="2843784"/>
            <a:ext cx="512064" cy="512064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176" y="3342132"/>
            <a:ext cx="512064" cy="512064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94176" y="3840480"/>
            <a:ext cx="512064" cy="512064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85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850" dirty="0"/>
          </a:p>
        </p:txBody>
      </p:sp>
      <p:sp>
        <p:nvSpPr>
          <p:cNvPr id="26" name="Text 18"/>
          <p:cNvSpPr txBox="1"/>
          <p:nvPr/>
        </p:nvSpPr>
        <p:spPr>
          <a:xfrm>
            <a:off x="3529584" y="437083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8</a:t>
            </a:r>
            <a:endParaRPr lang="en-US" sz="800" dirty="0"/>
          </a:p>
        </p:txBody>
      </p:sp>
      <p:sp>
        <p:nvSpPr>
          <p:cNvPr id="27" name="Shape 19"/>
          <p:cNvSpPr/>
          <p:nvPr/>
        </p:nvSpPr>
        <p:spPr>
          <a:xfrm>
            <a:off x="4494276" y="1897380"/>
            <a:ext cx="3236976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0"/>
          <p:cNvSpPr/>
          <p:nvPr/>
        </p:nvSpPr>
        <p:spPr>
          <a:xfrm>
            <a:off x="4443984" y="1847088"/>
            <a:ext cx="3236976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443984" y="1847088"/>
            <a:ext cx="3236976" cy="329184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4572000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판단층</a:t>
            </a:r>
            <a:endParaRPr lang="en-US" sz="1050" dirty="0"/>
          </a:p>
        </p:txBody>
      </p:sp>
      <p:sp>
        <p:nvSpPr>
          <p:cNvPr id="31" name="Text 23"/>
          <p:cNvSpPr txBox="1"/>
          <p:nvPr/>
        </p:nvSpPr>
        <p:spPr>
          <a:xfrm>
            <a:off x="6309360" y="1847088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4590288" y="224942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9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4590288" y="25603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상설 3  +  이벤트 소집 6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459028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5" name="Shape 27"/>
          <p:cNvSpPr/>
          <p:nvPr/>
        </p:nvSpPr>
        <p:spPr>
          <a:xfrm>
            <a:off x="4590288" y="2852928"/>
            <a:ext cx="64008" cy="27432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71830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진척</a:t>
            </a:r>
            <a:endParaRPr lang="en-US" sz="740" dirty="0"/>
          </a:p>
        </p:txBody>
      </p:sp>
      <p:sp>
        <p:nvSpPr>
          <p:cNvPr id="37" name="Shape 29"/>
          <p:cNvSpPr/>
          <p:nvPr/>
        </p:nvSpPr>
        <p:spPr>
          <a:xfrm>
            <a:off x="559612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Shape 30"/>
          <p:cNvSpPr/>
          <p:nvPr/>
        </p:nvSpPr>
        <p:spPr>
          <a:xfrm>
            <a:off x="5596128" y="2852928"/>
            <a:ext cx="64008" cy="27432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572414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처분</a:t>
            </a:r>
            <a:endParaRPr lang="en-US" sz="740" dirty="0"/>
          </a:p>
        </p:txBody>
      </p:sp>
      <p:sp>
        <p:nvSpPr>
          <p:cNvPr id="40" name="Shape 32"/>
          <p:cNvSpPr/>
          <p:nvPr/>
        </p:nvSpPr>
        <p:spPr>
          <a:xfrm>
            <a:off x="660196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1" name="Shape 33"/>
          <p:cNvSpPr/>
          <p:nvPr/>
        </p:nvSpPr>
        <p:spPr>
          <a:xfrm>
            <a:off x="6601968" y="2852928"/>
            <a:ext cx="64008" cy="27432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672998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 집행</a:t>
            </a:r>
            <a:endParaRPr lang="en-US" sz="740" dirty="0"/>
          </a:p>
        </p:txBody>
      </p:sp>
      <p:sp>
        <p:nvSpPr>
          <p:cNvPr id="43" name="Shape 35"/>
          <p:cNvSpPr/>
          <p:nvPr/>
        </p:nvSpPr>
        <p:spPr>
          <a:xfrm>
            <a:off x="459028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4" name="Shape 36"/>
          <p:cNvSpPr/>
          <p:nvPr/>
        </p:nvSpPr>
        <p:spPr>
          <a:xfrm>
            <a:off x="4590288" y="3182112"/>
            <a:ext cx="64008" cy="27432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471830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 시점</a:t>
            </a:r>
            <a:endParaRPr lang="en-US" sz="740" dirty="0"/>
          </a:p>
        </p:txBody>
      </p:sp>
      <p:sp>
        <p:nvSpPr>
          <p:cNvPr id="46" name="Shape 38"/>
          <p:cNvSpPr/>
          <p:nvPr/>
        </p:nvSpPr>
        <p:spPr>
          <a:xfrm>
            <a:off x="559612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7" name="Shape 39"/>
          <p:cNvSpPr/>
          <p:nvPr/>
        </p:nvSpPr>
        <p:spPr>
          <a:xfrm>
            <a:off x="5596128" y="3182112"/>
            <a:ext cx="64008" cy="27432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8" name="Text 40"/>
          <p:cNvSpPr txBox="1"/>
          <p:nvPr/>
        </p:nvSpPr>
        <p:spPr>
          <a:xfrm>
            <a:off x="572414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 · 검산</a:t>
            </a:r>
            <a:endParaRPr lang="en-US" sz="740" dirty="0"/>
          </a:p>
        </p:txBody>
      </p:sp>
      <p:sp>
        <p:nvSpPr>
          <p:cNvPr id="49" name="Shape 41"/>
          <p:cNvSpPr/>
          <p:nvPr/>
        </p:nvSpPr>
        <p:spPr>
          <a:xfrm>
            <a:off x="660196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0" name="Shape 42"/>
          <p:cNvSpPr/>
          <p:nvPr/>
        </p:nvSpPr>
        <p:spPr>
          <a:xfrm>
            <a:off x="6601968" y="3182112"/>
            <a:ext cx="64008" cy="274320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672998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 · 원장 · 간사</a:t>
            </a:r>
            <a:endParaRPr lang="en-US" sz="740" dirty="0"/>
          </a:p>
        </p:txBody>
      </p:sp>
      <p:sp>
        <p:nvSpPr>
          <p:cNvPr id="52" name="Shape 44"/>
          <p:cNvSpPr/>
          <p:nvPr/>
        </p:nvSpPr>
        <p:spPr>
          <a:xfrm>
            <a:off x="4590288" y="3584448"/>
            <a:ext cx="2944368" cy="603504"/>
          </a:xfrm>
          <a:prstGeom prst="rect">
            <a:avLst/>
          </a:prstGeom>
          <a:solidFill>
            <a:srgbClr val="1A1428"/>
          </a:solidFill>
          <a:ln/>
        </p:spPr>
      </p:sp>
      <p:sp>
        <p:nvSpPr>
          <p:cNvPr id="53" name="Text 45"/>
          <p:cNvSpPr txBox="1"/>
          <p:nvPr/>
        </p:nvSpPr>
        <p:spPr>
          <a:xfrm>
            <a:off x="4700016" y="36210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제출 — 등급 '해석'</a:t>
            </a:r>
            <a:endParaRPr lang="en-US" sz="950" dirty="0"/>
          </a:p>
        </p:txBody>
      </p:sp>
      <p:sp>
        <p:nvSpPr>
          <p:cNvPr id="54" name="Text 46"/>
          <p:cNvSpPr txBox="1"/>
          <p:nvPr/>
        </p:nvSpPr>
        <p:spPr>
          <a:xfrm>
            <a:off x="4700016" y="38587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계산하지 않는다 · 읽고 서술한다</a:t>
            </a:r>
            <a:endParaRPr lang="en-US" sz="760" dirty="0"/>
          </a:p>
        </p:txBody>
      </p:sp>
      <p:pic>
        <p:nvPicPr>
          <p:cNvPr id="5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5824" y="2962656"/>
            <a:ext cx="292608" cy="182880"/>
          </a:xfrm>
          <a:prstGeom prst="rect">
            <a:avLst/>
          </a:prstGeom>
        </p:spPr>
      </p:pic>
      <p:sp>
        <p:nvSpPr>
          <p:cNvPr id="56" name="Shape 47"/>
          <p:cNvSpPr/>
          <p:nvPr/>
        </p:nvSpPr>
        <p:spPr>
          <a:xfrm>
            <a:off x="8151876" y="1897380"/>
            <a:ext cx="201168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8"/>
          <p:cNvSpPr/>
          <p:nvPr/>
        </p:nvSpPr>
        <p:spPr>
          <a:xfrm>
            <a:off x="8101584" y="1847088"/>
            <a:ext cx="201168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8" name="Shape 49"/>
          <p:cNvSpPr/>
          <p:nvPr/>
        </p:nvSpPr>
        <p:spPr>
          <a:xfrm>
            <a:off x="8101584" y="1847088"/>
            <a:ext cx="2011680" cy="32918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229600" y="18470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통제</a:t>
            </a:r>
            <a:endParaRPr lang="en-US" sz="1050" dirty="0"/>
          </a:p>
        </p:txBody>
      </p:sp>
      <p:sp>
        <p:nvSpPr>
          <p:cNvPr id="60" name="Text 51"/>
          <p:cNvSpPr txBox="1"/>
          <p:nvPr/>
        </p:nvSpPr>
        <p:spPr>
          <a:xfrm>
            <a:off x="8778240" y="184708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4</a:t>
            </a:r>
            <a:endParaRPr lang="en-US" sz="900" dirty="0"/>
          </a:p>
        </p:txBody>
      </p:sp>
      <p:pic>
        <p:nvPicPr>
          <p:cNvPr id="6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7888" y="2286000"/>
            <a:ext cx="402336" cy="402336"/>
          </a:xfrm>
          <a:prstGeom prst="rect">
            <a:avLst/>
          </a:prstGeom>
        </p:spPr>
      </p:pic>
      <p:sp>
        <p:nvSpPr>
          <p:cNvPr id="62" name="Text 52"/>
          <p:cNvSpPr txBox="1"/>
          <p:nvPr/>
        </p:nvSpPr>
        <p:spPr>
          <a:xfrm>
            <a:off x="8741664" y="23225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×7</a:t>
            </a:r>
            <a:endParaRPr lang="en-US" sz="1400" dirty="0"/>
          </a:p>
        </p:txBody>
      </p:sp>
      <p:sp>
        <p:nvSpPr>
          <p:cNvPr id="63" name="Text 53"/>
          <p:cNvSpPr txBox="1"/>
          <p:nvPr/>
        </p:nvSpPr>
        <p:spPr>
          <a:xfrm>
            <a:off x="8247888" y="28346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판정 어휘</a:t>
            </a:r>
            <a:endParaRPr lang="en-US" sz="760" dirty="0"/>
          </a:p>
        </p:txBody>
      </p:sp>
      <p:sp>
        <p:nvSpPr>
          <p:cNvPr id="64" name="Text 54"/>
          <p:cNvSpPr txBox="1"/>
          <p:nvPr/>
        </p:nvSpPr>
        <p:spPr>
          <a:xfrm>
            <a:off x="8247888" y="303580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출처 등급</a:t>
            </a:r>
            <a:endParaRPr lang="en-US" sz="760" dirty="0"/>
          </a:p>
        </p:txBody>
      </p:sp>
      <p:sp>
        <p:nvSpPr>
          <p:cNvPr id="65" name="Text 55"/>
          <p:cNvSpPr txBox="1"/>
          <p:nvPr/>
        </p:nvSpPr>
        <p:spPr>
          <a:xfrm>
            <a:off x="8247888" y="323697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★ 재현</a:t>
            </a:r>
            <a:endParaRPr lang="en-US" sz="760" dirty="0"/>
          </a:p>
        </p:txBody>
      </p:sp>
      <p:sp>
        <p:nvSpPr>
          <p:cNvPr id="66" name="Text 56"/>
          <p:cNvSpPr txBox="1"/>
          <p:nvPr/>
        </p:nvSpPr>
        <p:spPr>
          <a:xfrm>
            <a:off x="8247888" y="343814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논문 실재</a:t>
            </a:r>
            <a:endParaRPr lang="en-US" sz="760" dirty="0"/>
          </a:p>
        </p:txBody>
      </p:sp>
      <p:sp>
        <p:nvSpPr>
          <p:cNvPr id="67" name="Text 57"/>
          <p:cNvSpPr txBox="1"/>
          <p:nvPr/>
        </p:nvSpPr>
        <p:spPr>
          <a:xfrm>
            <a:off x="8247888" y="363931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신선도</a:t>
            </a:r>
            <a:endParaRPr lang="en-US" sz="760" dirty="0"/>
          </a:p>
        </p:txBody>
      </p:sp>
      <p:sp>
        <p:nvSpPr>
          <p:cNvPr id="68" name="Text 58"/>
          <p:cNvSpPr txBox="1"/>
          <p:nvPr/>
        </p:nvSpPr>
        <p:spPr>
          <a:xfrm>
            <a:off x="8247888" y="38404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유출 검사</a:t>
            </a:r>
            <a:endParaRPr lang="en-US" sz="760" dirty="0"/>
          </a:p>
        </p:txBody>
      </p:sp>
      <p:sp>
        <p:nvSpPr>
          <p:cNvPr id="69" name="Text 59"/>
          <p:cNvSpPr txBox="1"/>
          <p:nvPr/>
        </p:nvSpPr>
        <p:spPr>
          <a:xfrm>
            <a:off x="8247888" y="40416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 4-eyes</a:t>
            </a:r>
            <a:endParaRPr lang="en-US" sz="760" dirty="0"/>
          </a:p>
        </p:txBody>
      </p:sp>
      <p:pic>
        <p:nvPicPr>
          <p:cNvPr id="7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8128" y="2962656"/>
            <a:ext cx="292608" cy="182880"/>
          </a:xfrm>
          <a:prstGeom prst="rect">
            <a:avLst/>
          </a:prstGeom>
        </p:spPr>
      </p:pic>
      <p:sp>
        <p:nvSpPr>
          <p:cNvPr id="71" name="Shape 60"/>
          <p:cNvSpPr/>
          <p:nvPr/>
        </p:nvSpPr>
        <p:spPr>
          <a:xfrm>
            <a:off x="10584180" y="1897380"/>
            <a:ext cx="1106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2" name="Shape 61"/>
          <p:cNvSpPr/>
          <p:nvPr/>
        </p:nvSpPr>
        <p:spPr>
          <a:xfrm>
            <a:off x="10533888" y="1847088"/>
            <a:ext cx="1106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73" name="Shape 62"/>
          <p:cNvSpPr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4" name="Text 63"/>
          <p:cNvSpPr txBox="1"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의결</a:t>
            </a:r>
            <a:endParaRPr lang="en-US" sz="950" dirty="0"/>
          </a:p>
        </p:txBody>
      </p:sp>
      <p:pic>
        <p:nvPicPr>
          <p:cNvPr id="7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08208" y="2340864"/>
            <a:ext cx="548640" cy="548640"/>
          </a:xfrm>
          <a:prstGeom prst="rect">
            <a:avLst/>
          </a:prstGeom>
        </p:spPr>
      </p:pic>
      <p:sp>
        <p:nvSpPr>
          <p:cNvPr id="76" name="Text 64"/>
          <p:cNvSpPr txBox="1"/>
          <p:nvPr/>
        </p:nvSpPr>
        <p:spPr>
          <a:xfrm>
            <a:off x="10588752" y="298094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위원회</a:t>
            </a:r>
            <a:endParaRPr lang="en-US" sz="1100" dirty="0"/>
          </a:p>
        </p:txBody>
      </p:sp>
      <p:sp>
        <p:nvSpPr>
          <p:cNvPr id="77" name="Text 65"/>
          <p:cNvSpPr txBox="1"/>
          <p:nvPr/>
        </p:nvSpPr>
        <p:spPr>
          <a:xfrm>
            <a:off x="10588752" y="37673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결정한다</a:t>
            </a:r>
            <a:endParaRPr lang="en-US" sz="800" dirty="0"/>
          </a:p>
        </p:txBody>
      </p:sp>
      <p:sp>
        <p:nvSpPr>
          <p:cNvPr id="78" name="Shape 66"/>
          <p:cNvSpPr/>
          <p:nvPr/>
        </p:nvSpPr>
        <p:spPr>
          <a:xfrm>
            <a:off x="4494276" y="4622292"/>
            <a:ext cx="3236976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9" name="Shape 67"/>
          <p:cNvSpPr/>
          <p:nvPr/>
        </p:nvSpPr>
        <p:spPr>
          <a:xfrm>
            <a:off x="4443984" y="4572000"/>
            <a:ext cx="3236976" cy="78638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pic>
        <p:nvPicPr>
          <p:cNvPr id="8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90288" y="4718304"/>
            <a:ext cx="347472" cy="347472"/>
          </a:xfrm>
          <a:prstGeom prst="rect">
            <a:avLst/>
          </a:prstGeom>
        </p:spPr>
      </p:pic>
      <p:sp>
        <p:nvSpPr>
          <p:cNvPr id="81" name="Text 68"/>
          <p:cNvSpPr txBox="1"/>
          <p:nvPr/>
        </p:nvSpPr>
        <p:spPr>
          <a:xfrm>
            <a:off x="5029200" y="46817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재현 통과분만 인용 가능</a:t>
            </a:r>
            <a:endParaRPr lang="en-US" sz="1050" dirty="0"/>
          </a:p>
        </p:txBody>
      </p:sp>
      <p:sp>
        <p:nvSpPr>
          <p:cNvPr id="82" name="Text 69"/>
          <p:cNvSpPr txBox="1"/>
          <p:nvPr/>
        </p:nvSpPr>
        <p:spPr>
          <a:xfrm>
            <a:off x="5029200" y="4956048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ki.papers/2 · adopted | warned | retired</a:t>
            </a:r>
            <a:endParaRPr lang="en-US" sz="760" dirty="0"/>
          </a:p>
        </p:txBody>
      </p:sp>
      <p:sp>
        <p:nvSpPr>
          <p:cNvPr id="83" name="Text 70"/>
          <p:cNvSpPr txBox="1"/>
          <p:nvPr/>
        </p:nvSpPr>
        <p:spPr>
          <a:xfrm>
            <a:off x="6858000" y="51206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800" dirty="0"/>
          </a:p>
        </p:txBody>
      </p:sp>
      <p:sp>
        <p:nvSpPr>
          <p:cNvPr id="84" name="Text 71"/>
          <p:cNvSpPr txBox="1"/>
          <p:nvPr/>
        </p:nvSpPr>
        <p:spPr>
          <a:xfrm>
            <a:off x="4590288" y="43708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▲</a:t>
            </a:r>
            <a:endParaRPr lang="en-US" sz="900" dirty="0"/>
          </a:p>
        </p:txBody>
      </p:sp>
      <p:sp>
        <p:nvSpPr>
          <p:cNvPr id="85" name="Shape 72"/>
          <p:cNvSpPr/>
          <p:nvPr/>
        </p:nvSpPr>
        <p:spPr>
          <a:xfrm>
            <a:off x="598932" y="4622292"/>
            <a:ext cx="3017520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6" name="Shape 73"/>
          <p:cNvSpPr/>
          <p:nvPr/>
        </p:nvSpPr>
        <p:spPr>
          <a:xfrm>
            <a:off x="548640" y="4572000"/>
            <a:ext cx="3017520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7" name="Text 74"/>
          <p:cNvSpPr txBox="1"/>
          <p:nvPr/>
        </p:nvSpPr>
        <p:spPr>
          <a:xfrm>
            <a:off x="694944" y="46451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여기서만 네트워크를 쓴다</a:t>
            </a:r>
            <a:endParaRPr lang="en-US" sz="1000" dirty="0"/>
          </a:p>
        </p:txBody>
      </p:sp>
      <p:sp>
        <p:nvSpPr>
          <p:cNvPr id="88" name="Text 75"/>
          <p:cNvSpPr txBox="1"/>
          <p:nvPr/>
        </p:nvSpPr>
        <p:spPr>
          <a:xfrm>
            <a:off x="694944" y="4882896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한 번, ingest-ops 하나. 그날의 유일한 원장 쓰기다.</a:t>
            </a:r>
            <a:endParaRPr lang="en-US" sz="860" dirty="0"/>
          </a:p>
        </p:txBody>
      </p:sp>
      <p:sp>
        <p:nvSpPr>
          <p:cNvPr id="89" name="Shape 76"/>
          <p:cNvSpPr/>
          <p:nvPr/>
        </p:nvSpPr>
        <p:spPr>
          <a:xfrm>
            <a:off x="8151876" y="4622292"/>
            <a:ext cx="3538728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0" name="Shape 77"/>
          <p:cNvSpPr/>
          <p:nvPr/>
        </p:nvSpPr>
        <p:spPr>
          <a:xfrm>
            <a:off x="8101584" y="4572000"/>
            <a:ext cx="3538728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1" name="Text 78"/>
          <p:cNvSpPr txBox="1"/>
          <p:nvPr/>
        </p:nvSpPr>
        <p:spPr>
          <a:xfrm>
            <a:off x="8247888" y="464515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걸리면 멈춘다</a:t>
            </a:r>
            <a:endParaRPr lang="en-US" sz="1000" dirty="0"/>
          </a:p>
        </p:txBody>
      </p:sp>
      <p:sp>
        <p:nvSpPr>
          <p:cNvPr id="92" name="Text 79"/>
          <p:cNvSpPr txBox="1"/>
          <p:nvPr/>
        </p:nvSpPr>
        <p:spPr>
          <a:xfrm>
            <a:off x="8247888" y="4882896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반려된 절은 빈칸이 아니라 '반려됨 — 사유' 로 회의자료에 남는다.</a:t>
            </a:r>
            <a:endParaRPr lang="en-US" sz="860" dirty="0"/>
          </a:p>
        </p:txBody>
      </p:sp>
      <p:sp>
        <p:nvSpPr>
          <p:cNvPr id="93" name="Shape 80"/>
          <p:cNvSpPr/>
          <p:nvPr/>
        </p:nvSpPr>
        <p:spPr>
          <a:xfrm>
            <a:off x="598932" y="5591556"/>
            <a:ext cx="11094415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4" name="Shape 81"/>
          <p:cNvSpPr/>
          <p:nvPr/>
        </p:nvSpPr>
        <p:spPr>
          <a:xfrm>
            <a:off x="548640" y="5541264"/>
            <a:ext cx="11094415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5" name="Text 82"/>
          <p:cNvSpPr txBox="1"/>
          <p:nvPr/>
        </p:nvSpPr>
        <p:spPr>
          <a:xfrm>
            <a:off x="786384" y="5541264"/>
            <a:ext cx="106189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방향은 왼쪽에서 오른쪽, 한 방향뿐입니다.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경로는 스키마에도 도구에도 없습니다.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는 이 그림을 무엇으로 만드는가(기술 스택 · MCP 설계 · 하루 운영 · 로드맵)를 다룹니다.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AS-IS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가진 것 — 측정 파이프라인은 이미 완성돼 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 것은 측정이 아니라, 측정 결과를 읽고 정렬하는 층이다.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KRX · DART · ECOS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· FRED</a:t>
            </a:r>
            <a:endParaRPr lang="en-US" sz="9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744" y="2432304"/>
            <a:ext cx="274320" cy="17373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866644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2816352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26080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907792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사실만 담는다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테이블</a:t>
            </a:r>
            <a:endParaRPr lang="en-US" sz="9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432304"/>
            <a:ext cx="274320" cy="17373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134356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2"/>
          <p:cNvSpPr/>
          <p:nvPr/>
        </p:nvSpPr>
        <p:spPr>
          <a:xfrm>
            <a:off x="5084064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193792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175504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처분소요일 · 집행시뮬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· 매물대</a:t>
            </a:r>
            <a:endParaRPr lang="en-US" sz="9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2432304"/>
            <a:ext cx="274320" cy="173736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402068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6"/>
          <p:cNvSpPr/>
          <p:nvPr/>
        </p:nvSpPr>
        <p:spPr>
          <a:xfrm>
            <a:off x="7351776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461504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리포트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7443216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§1~§8 · 외부 리소스 0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절마다 출처 등급</a:t>
            </a:r>
            <a:endParaRPr lang="en-US" sz="9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2432304"/>
            <a:ext cx="274320" cy="173736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669780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0"/>
          <p:cNvSpPr/>
          <p:nvPr/>
        </p:nvSpPr>
        <p:spPr>
          <a:xfrm>
            <a:off x="9619488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729216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회의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9710928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결정한다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598932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4"/>
          <p:cNvSpPr/>
          <p:nvPr/>
        </p:nvSpPr>
        <p:spPr>
          <a:xfrm>
            <a:off x="548640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31520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8,684</a:t>
            </a:r>
            <a:endParaRPr lang="en-US" sz="2800" dirty="0"/>
          </a:p>
        </p:txBody>
      </p:sp>
      <p:sp>
        <p:nvSpPr>
          <p:cNvPr id="32" name="Text 26"/>
          <p:cNvSpPr txBox="1"/>
          <p:nvPr/>
        </p:nvSpPr>
        <p:spPr>
          <a:xfrm>
            <a:off x="731520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· 단일 파일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731520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하나가 수집·계산·리포트를 전부 한다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3442716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29"/>
          <p:cNvSpPr/>
          <p:nvPr/>
        </p:nvSpPr>
        <p:spPr>
          <a:xfrm>
            <a:off x="3392424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3575304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800" dirty="0"/>
          </a:p>
        </p:txBody>
      </p:sp>
      <p:sp>
        <p:nvSpPr>
          <p:cNvPr id="37" name="Text 31"/>
          <p:cNvSpPr txBox="1"/>
          <p:nvPr/>
        </p:nvSpPr>
        <p:spPr>
          <a:xfrm>
            <a:off x="3575304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출처 공식 API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3575304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크롤링 없음 · 유료 벤더 없음 · 뉴스 본문 없음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6286500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4"/>
          <p:cNvSpPr/>
          <p:nvPr/>
        </p:nvSpPr>
        <p:spPr>
          <a:xfrm>
            <a:off x="6236208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41908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2800" dirty="0"/>
          </a:p>
        </p:txBody>
      </p:sp>
      <p:sp>
        <p:nvSpPr>
          <p:cNvPr id="42" name="Text 36"/>
          <p:cNvSpPr txBox="1"/>
          <p:nvPr/>
        </p:nvSpPr>
        <p:spPr>
          <a:xfrm>
            <a:off x="6419088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검증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6419088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 없이 돈다. 실제로 128 passed 확인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9130284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39"/>
          <p:cNvSpPr/>
          <p:nvPr/>
        </p:nvSpPr>
        <p:spPr>
          <a:xfrm>
            <a:off x="9079992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262872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800" dirty="0"/>
          </a:p>
        </p:txBody>
      </p:sp>
      <p:sp>
        <p:nvSpPr>
          <p:cNvPr id="47" name="Text 41"/>
          <p:cNvSpPr txBox="1"/>
          <p:nvPr/>
        </p:nvSpPr>
        <p:spPr>
          <a:xfrm>
            <a:off x="9262872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 채택 논문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9262872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팩터마다 논문 키를 달고 나간다 (.papers.json)</a:t>
            </a:r>
            <a:endParaRPr 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598932" y="5280660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4"/>
          <p:cNvSpPr/>
          <p:nvPr/>
        </p:nvSpPr>
        <p:spPr>
          <a:xfrm>
            <a:off x="548640" y="5230368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786384" y="5230368"/>
            <a:ext cx="1061892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—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계산 · 검증은 손댈 것이 없다. 부족한 것은 두 가지다.
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산출물을 읽어 회의 쟁점으로 바꾸는 사람의 시간   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읽기의 근거가 되는 논문이 우리 시장에서 성립하는지에 대한 확인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출처: 저장소 실측 — ki_monitor.py 8,684줄 · CATALOG 31개 항목 · SECTIONS 18개 절 · selftest 128 passed 0 failed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WHY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병목은 계산이 아니라 독해다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리포트는 매일 08:50에 나온다. 문제는 그것을 끝까지 읽을 사람이 없다는 것이다.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5504688" cy="3968496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지금의 병목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359152"/>
            <a:ext cx="182880" cy="182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15568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사람이 한 명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§1~§18을 통독하는 사람은 사실상 한 명이다.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1638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15568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85개 종목 × §5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1115568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종목별 상세는 사람이 읽을 분량이 아니다. 몇 종목만 보고 회의에 들어간다.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968496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15568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붙이기가 수작업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15568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공시 원문 · 논문 · 매크로 일정을 종목에 연결하는 일은 전부 손이다.</a:t>
            </a:r>
            <a:endParaRPr lang="en-US" sz="10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773168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15568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멈춰 있다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1115568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 최신이 2012년이다. 14년치 계량금융이 비어 있다.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6341364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5"/>
          <p:cNvSpPr/>
          <p:nvPr/>
        </p:nvSpPr>
        <p:spPr>
          <a:xfrm>
            <a:off x="6291072" y="1664208"/>
            <a:ext cx="5504688" cy="3968496"/>
          </a:xfrm>
          <a:prstGeom prst="rect">
            <a:avLst/>
          </a:prstGeom>
          <a:solidFill>
            <a:srgbClr val="13241A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47104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에이전트화 이후</a:t>
            </a:r>
            <a:endParaRPr lang="en-US" sz="16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2359152"/>
            <a:ext cx="182880" cy="1828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858000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데스크가 나눠 동시에 읽는다</a:t>
            </a:r>
            <a:endParaRPr lang="en-US" sz="12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0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기업분석·계량·매크로·집행이 각자 자기 절만 맡는다.</a:t>
            </a:r>
            <a:endParaRPr lang="en-US" sz="10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7104" y="316382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58000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변동분에만 초안이 붙는다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58000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전수가 아니라 그날 실제로 무언가 일어난 종목만 읽는다.</a:t>
            </a:r>
            <a:endParaRPr lang="en-US" sz="100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7104" y="3968496"/>
            <a:ext cx="182880" cy="18288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858000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쟁점만 회의에 올라온다</a:t>
            </a:r>
            <a:endParaRPr lang="en-US" sz="1250" dirty="0"/>
          </a:p>
        </p:txBody>
      </p:sp>
      <p:sp>
        <p:nvSpPr>
          <p:cNvPr id="31" name="Text 22"/>
          <p:cNvSpPr txBox="1"/>
          <p:nvPr/>
        </p:nvSpPr>
        <p:spPr>
          <a:xfrm>
            <a:off x="6858000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간사가 데스크 간 불일치와 결측만 추려 한 장으로 정렬한다.</a:t>
            </a:r>
            <a:endParaRPr lang="en-US" sz="10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7104" y="4773168"/>
            <a:ext cx="182880" cy="18288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6858000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스스로 갱신된다</a:t>
            </a:r>
            <a:endParaRPr lang="en-US" sz="1250" dirty="0"/>
          </a:p>
        </p:txBody>
      </p:sp>
      <p:sp>
        <p:nvSpPr>
          <p:cNvPr id="34" name="Text 24"/>
          <p:cNvSpPr txBox="1"/>
          <p:nvPr/>
        </p:nvSpPr>
        <p:spPr>
          <a:xfrm>
            <a:off x="6858000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수확하고, 재현 검사를 통과한 것만 채택본에 들어온다.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26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대상은 '독해와 정렬'이다.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지금과 똑같이 회의에서 사람이 한다 — 이 경계가 흔들리면 에이전트화는 실패다.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NON-NEGOTIABLE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들어와도 깨지 않는 다섯 가지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아래는 CLAUDE.md 에 이미 적혀 있는 규칙이다. 에이전트화는 이것을 완화하는 일이 아니라, 코드가 아닌 곳에서도 지키게 만드는 일이다.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209854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04825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43584" y="21214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재기만 하고 판단하지 않는다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395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0" y="2203704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2304288"/>
            <a:ext cx="237744" cy="14630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73952" y="22037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게이트 ① 판정 어휘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8932" y="288493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5" name="Shape 12"/>
          <p:cNvSpPr/>
          <p:nvPr/>
        </p:nvSpPr>
        <p:spPr>
          <a:xfrm>
            <a:off x="548640" y="283464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243584" y="2907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측정한 사실만 쓴다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43584" y="31821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추정·가정·장중 스냅샷(persist=False)을 넣지 않는다.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035040" y="2990088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3090672"/>
            <a:ext cx="237744" cy="14630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473952" y="29900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MCP 에 쓰기 도구 미노출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98932" y="367131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0"/>
          <p:cNvSpPr/>
          <p:nvPr/>
        </p:nvSpPr>
        <p:spPr>
          <a:xfrm>
            <a:off x="548640" y="362102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243584" y="36941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값을 만들지 않는다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243584" y="39684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구한 값은 None 과 사유. 0 으로 채우지 않는다.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035040" y="3776472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3877056"/>
            <a:ext cx="237744" cy="146304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6473952" y="37764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봉투 null 허용 · 게이트 ⑤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598932" y="445770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8"/>
          <p:cNvSpPr/>
          <p:nvPr/>
        </p:nvSpPr>
        <p:spPr>
          <a:xfrm>
            <a:off x="548640" y="440740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1243584" y="4480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재료에는 등급이 있다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1243584" y="4754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· 참고 · 방법론 · 사내를 같은 표에 섞지 않는다.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6035040" y="4562856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4663440"/>
            <a:ext cx="237744" cy="14630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6473952" y="45628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다섯 번째 등급 '해석' 신설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598932" y="5244084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36"/>
          <p:cNvSpPr/>
          <p:nvPr/>
        </p:nvSpPr>
        <p:spPr>
          <a:xfrm>
            <a:off x="548640" y="5193792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45" name="Text 39"/>
          <p:cNvSpPr txBox="1"/>
          <p:nvPr/>
        </p:nvSpPr>
        <p:spPr>
          <a:xfrm>
            <a:off x="1243584" y="52669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키와 대외비는 저장소 밖에 둔다</a:t>
            </a:r>
            <a:endParaRPr lang="en-US" sz="1300" dirty="0"/>
          </a:p>
        </p:txBody>
      </p:sp>
      <p:sp>
        <p:nvSpPr>
          <p:cNvPr id="46" name="Text 40"/>
          <p:cNvSpPr txBox="1"/>
          <p:nvPr/>
        </p:nvSpPr>
        <p:spPr>
          <a:xfrm>
            <a:off x="1243584" y="554126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.gitignore 는 약하다. git add -f 한 번이면 뚫린다.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6035040" y="5349240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5449824"/>
            <a:ext cx="237744" cy="146304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6473952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출력 scrub() 강제 · 게이트 ⑥</a:t>
            </a:r>
            <a:endParaRPr lang="en-US" sz="1000" dirty="0"/>
          </a:p>
        </p:txBody>
      </p:sp>
      <p:sp>
        <p:nvSpPr>
          <p:cNvPr id="50" name="Text 4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인용: CLAUDE.md '절대 깨지 말아야 할 것' §1~§5 · selftest 128개가 ①·⑤의 코드 측면을 이미 검사한다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 이미 재고 있는 것 — 리픽싱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리픽싱 — 주가가 더 내리면 희석이 얼마나 가속되는가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전환가액은 고정이 아니다. 주가가 내리면 따라 내리고, 그만큼 잠재주식수가 늘어난다. 최저한도에 닿기 전까지는 계속 늘어난다.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943600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943600" cy="2231136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ki_monitor.py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554126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refix_scenario(cb_amount, price, floor_price,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drops=(0.9, 0.8, 0.7)) -&gt; list[dict]: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"""주가가 더 내리면 희석이 얼마나 가속되는가."""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 = []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d in drops: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px = price * d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cv = max(px, floor_price)          # 최저조정한도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out.append({"price": round(px,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"conv_price": round(cv,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"potential_shares":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round(cb_amount / cv) if cv else None})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743700" y="1769364"/>
            <a:ext cx="4946904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6693408" y="1719072"/>
            <a:ext cx="4946904" cy="2231136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94576" y="1828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산출 예 · CB 10억 · 현재가 10,000 · 하한 7,000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894576" y="21396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1396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전환가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213969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잠재주식수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94576" y="2377440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86016" y="23774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77824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875520" y="23774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100,000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94576" y="2706624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86016" y="270662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-10%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77824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9875520" y="270662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111,111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894576" y="3035808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986016" y="303580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-20%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7824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875520" y="303580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125,000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894576" y="3364992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86016" y="336499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9875520" y="33649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142,857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894576" y="36941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 에서 하한에 닿는다 — 그 아래로는 더 늘지 않는다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98932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48640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최저조정한도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최초 전환가액의 70%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밑으로 내리려면 발행 시마다 주주총회 특별결의가 필요하다. 정관에 근거를 두는 방식은 2021년 개정으로 막혔다.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357116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4306824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89704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상향조정 의무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4489704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사모 발행 · 70~100%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489704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하락으로 조정한 뒤 주가가 오르면 다시 올려야 한다. 범위는 최초 전환가액을 넘지 못한다.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115300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8065008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47888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콜옵션 공시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8247888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행사자 공시 의무화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8247888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발행사·최대주주가 되사는 콜옵션의 행사자와 조건이 공시 대상이 됐다. 지분 변동 감시에 쓴다.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98932" y="5682996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50"/>
          <p:cNvSpPr/>
          <p:nvPr/>
        </p:nvSpPr>
        <p:spPr>
          <a:xfrm>
            <a:off x="548640" y="5632704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86384" y="5632704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함께 낸다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floor_price 는 우리가 넣는 값이다. 실제 조항(조정 주기·한도·예외)은 증권신고서와 주요사항보고서 원문을 봐야 한다. 공시 제목만으로는 알 수 없고, 이 도구는 원문 링크를 달아 둔다.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★★ 이미 재고 있는 것 — 희석 ≠ 권리락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희석은 권리락이 아니다 — 수정주가를 조정하면 안 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메자닌 포트폴리오는 CB 전환이 상시 일어난다. 주식수 증가를 자동으로 권리락으로 처리하는 순간, 과거 수익률이 조용히 틀어진다.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883664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0704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무상증자 · 액면분할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조정한다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49808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7824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49808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7824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377440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÷2 (권리락)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49808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77824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불변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49808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77824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2377440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과거를 ÷2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주가 실측이 주식수 비율을 뒷받침한다. 같은 날 주가가 정확히 절반이 됐다면 권리락이다.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49924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2"/>
          <p:cNvSpPr/>
          <p:nvPr/>
        </p:nvSpPr>
        <p:spPr>
          <a:xfrm>
            <a:off x="6199632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83664"/>
            <a:ext cx="201168" cy="20116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6711696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CB 전환 · 유상증자 · 옵션행사</a:t>
            </a:r>
            <a:endParaRPr lang="en-US" sz="1350" dirty="0"/>
          </a:p>
        </p:txBody>
      </p:sp>
      <p:sp>
        <p:nvSpPr>
          <p:cNvPr id="28" name="Shape 24"/>
          <p:cNvSpPr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조정하지 않는다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400800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528816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28432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+2.5%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400800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6528816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28432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시장이 정한다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6400800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6528816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28432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증가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400800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6528816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8028432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그대로 둔다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6400800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주식수만 늘고 권리락은 없다. 여기서 조정하면 전환 이전 구간 수익률이 통째로 왜곡된다.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598932" y="4841748"/>
            <a:ext cx="7223760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0"/>
          <p:cNvSpPr/>
          <p:nvPr/>
        </p:nvSpPr>
        <p:spPr>
          <a:xfrm>
            <a:off x="548640" y="4791456"/>
            <a:ext cx="7223760" cy="1444752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68096" y="4901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selftest — 이 구분을 매번 검사한다</a:t>
            </a:r>
            <a:endParaRPr lang="en-US" sz="950" dirty="0"/>
          </a:p>
        </p:txBody>
      </p:sp>
      <p:sp>
        <p:nvSpPr>
          <p:cNvPr id="46" name="Text 42"/>
          <p:cNvSpPr txBox="1"/>
          <p:nvPr/>
        </p:nvSpPr>
        <p:spPr>
          <a:xfrm>
            <a:off x="768096" y="5157216"/>
            <a:ext cx="6821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d.loc[200:, "shares"] *= 1.025              # 주식수만 +2.5%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d.loc[200, ["open","high","low","close"]] *= 0.90   # 시장 하락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adjust_audit(d)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_assert(r["n_actions"] == 0)                # 조정하지 않는다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_assert(len(r["unresolved"]) == 1)          # 대신 "확인 필요" 로 표시</a:t>
            </a:r>
            <a:endParaRPr lang="en-US" sz="860" dirty="0"/>
          </a:p>
        </p:txBody>
      </p:sp>
      <p:sp>
        <p:nvSpPr>
          <p:cNvPr id="47" name="Shape 43"/>
          <p:cNvSpPr/>
          <p:nvPr/>
        </p:nvSpPr>
        <p:spPr>
          <a:xfrm>
            <a:off x="8023860" y="4841748"/>
            <a:ext cx="3666744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4"/>
          <p:cNvSpPr/>
          <p:nvPr/>
        </p:nvSpPr>
        <p:spPr>
          <a:xfrm>
            <a:off x="7973568" y="4791456"/>
            <a:ext cx="3666744" cy="144475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174736" y="49194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지우지 않고 남긴다</a:t>
            </a:r>
            <a:endParaRPr lang="en-US" sz="1250" dirty="0"/>
          </a:p>
        </p:txBody>
      </p:sp>
      <p:sp>
        <p:nvSpPr>
          <p:cNvPr id="50" name="Text 46"/>
          <p:cNvSpPr txBox="1"/>
          <p:nvPr/>
        </p:nvSpPr>
        <p:spPr>
          <a:xfrm>
            <a:off x="8174736" y="5212080"/>
            <a:ext cx="3310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판별이 안 되면 조정하지도, 없애지도 않고 '확인 필요' 로 남긴다. 사람이 DART 원문을 보고 판단한다.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조용히 처리하는 것이 가장 위험하다.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이미 재고 있는 것 — 처분 여건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소요일수 — 평균과 중앙값을 나란히 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소형주는 거래대금이 상위 며칠에 몰린다. 평균 거래량으로 나누면 실제보다 짧게 나오고, 그 낙관이 회수 계획에 그대로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577840" cy="22860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577840" cy="22860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종목, 두 기준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68096" y="2249424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24942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물량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2494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1,200,000 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" y="2651760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651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거래량 기준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6517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12.4 영업일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68096" y="3054096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05409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 기준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05409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18.1 영업일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" y="3456432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6112" y="34564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+5.7 일 (46%)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" y="3785616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예시입니다 (실제 값은 대외비)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323076" y="1787652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6272784" y="1737360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55664" y="1847088"/>
            <a:ext cx="109728" cy="29260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0" y="17373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가정을 드러낸다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173736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참여율(일 거래량의 몇 %까지 낼 것인가)을 표에 적고 민감도를 함께 낸다. 숫자만 내면 가정이 숨는다.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323076" y="2372868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2322576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55664" y="2432304"/>
            <a:ext cx="109728" cy="29260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75120" y="2322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스프레드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412480" y="232257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Roll(1984) 추정치. 호가가 없어도 종가 계열만으로 거래비용을 잰다.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3076" y="2958084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2" name="Shape 30"/>
          <p:cNvSpPr/>
          <p:nvPr/>
        </p:nvSpPr>
        <p:spPr>
          <a:xfrm>
            <a:off x="6272784" y="2907792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55664" y="3017520"/>
            <a:ext cx="109728" cy="29260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675120" y="290779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290779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Amihud(2002) — 거래대금당 가격 충격. 코스닥 소형주에서 특히 크다.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23076" y="3543300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6272784" y="3493008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55664" y="3602736"/>
            <a:ext cx="109728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675120" y="349300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매물대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349300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가격대별 거래대금 분포. 어느 구간에 물량이 쌓여 있는지 본다.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323076" y="4165092"/>
            <a:ext cx="5367528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114800"/>
            <a:ext cx="5367528" cy="13716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424281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락업이 남아 있으면 소요일수는 의미가 없다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4535424"/>
            <a:ext cx="4974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여건은 '팔 수 있는 상태인가'와 '판다면 며칠 걸리는가'가 곱해진 값이다. 락업 잔여일이 소요일수보다 길면, 소요일수는 아직 답이 아니라 준비다.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8932" y="4165092"/>
            <a:ext cx="5577840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4"/>
          <p:cNvSpPr/>
          <p:nvPr/>
        </p:nvSpPr>
        <p:spPr>
          <a:xfrm>
            <a:off x="548640" y="4114800"/>
            <a:ext cx="5577840" cy="1371600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68096" y="42428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중앙값을 함께 내는가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68096" y="4535424"/>
            <a:ext cx="5157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발표·테마 뉴스가 있던 며칠이 평균을 끌어올린다. 그날 팔 수 있었을지는 별개 문제다. 중앙값은 '평범한 날'에 낼 수 있는 물량을 본다.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98932" y="5682996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48640" y="5632704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6384" y="5632704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 — </a:t>
            </a:r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[1차] KRX 일별매매정보 거래량·거래대금 · [방법론] 처분 소요일 = 목표 물량 ÷ 기간 거래량, 가정은 표에 명시 · [사내] exit_plan.csv 의 목표 물량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12편은 목록이 아니라 스냅샷이다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의 verified 는 2026-09-05 다. 그날 이후로 이 데스크의 방법론은 멈춰 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486400" cy="4169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486400" cy="4169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adopted = 12   ·   frozen @ 2026-09-05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786384" y="2304288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52144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52144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1984</a:t>
            </a:r>
            <a:endParaRPr lang="en-US" sz="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2084832" y="2304288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450592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j1990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2450592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1990</a:t>
            </a:r>
            <a:endParaRPr lang="en-US" sz="8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3383280" y="2304288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749040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ritter1991</a:t>
            </a:r>
            <a:endParaRPr lang="en-US" sz="850" dirty="0"/>
          </a:p>
        </p:txBody>
      </p:sp>
      <p:sp>
        <p:nvSpPr>
          <p:cNvPr id="16" name="Text 11"/>
          <p:cNvSpPr txBox="1"/>
          <p:nvPr/>
        </p:nvSpPr>
        <p:spPr>
          <a:xfrm>
            <a:off x="3749040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1991</a:t>
            </a:r>
            <a:endParaRPr lang="en-US" sz="8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>
            <a:alphaModFix amt="55000"/>
          </a:blip>
          <a:stretch>
            <a:fillRect/>
          </a:stretch>
        </p:blipFill>
        <p:spPr>
          <a:xfrm>
            <a:off x="4681728" y="2304288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047488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850" dirty="0"/>
          </a:p>
        </p:txBody>
      </p:sp>
      <p:sp>
        <p:nvSpPr>
          <p:cNvPr id="19" name="Text 13"/>
          <p:cNvSpPr txBox="1"/>
          <p:nvPr/>
        </p:nvSpPr>
        <p:spPr>
          <a:xfrm>
            <a:off x="5047488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1993</a:t>
            </a:r>
            <a:endParaRPr lang="en-US" sz="8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>
            <a:alphaModFix amt="55000"/>
          </a:blip>
          <a:stretch>
            <a:fillRect/>
          </a:stretch>
        </p:blipFill>
        <p:spPr>
          <a:xfrm>
            <a:off x="786384" y="3236976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52144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850" dirty="0"/>
          </a:p>
        </p:txBody>
      </p:sp>
      <p:sp>
        <p:nvSpPr>
          <p:cNvPr id="22" name="Text 15"/>
          <p:cNvSpPr txBox="1"/>
          <p:nvPr/>
        </p:nvSpPr>
        <p:spPr>
          <a:xfrm>
            <a:off x="1152144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8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>
            <a:alphaModFix amt="55000"/>
          </a:blip>
          <a:stretch>
            <a:fillRect/>
          </a:stretch>
        </p:blipFill>
        <p:spPr>
          <a:xfrm>
            <a:off x="2084832" y="3236976"/>
            <a:ext cx="310896" cy="31089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50592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ac2000</a:t>
            </a:r>
            <a:endParaRPr lang="en-US" sz="850" dirty="0"/>
          </a:p>
        </p:txBody>
      </p:sp>
      <p:sp>
        <p:nvSpPr>
          <p:cNvPr id="25" name="Text 17"/>
          <p:cNvSpPr txBox="1"/>
          <p:nvPr/>
        </p:nvSpPr>
        <p:spPr>
          <a:xfrm>
            <a:off x="2450592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2000</a:t>
            </a:r>
            <a:endParaRPr lang="en-US" sz="8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>
            <a:alphaModFix amt="55000"/>
          </a:blip>
          <a:stretch>
            <a:fillRect/>
          </a:stretch>
        </p:blipFill>
        <p:spPr>
          <a:xfrm>
            <a:off x="3383280" y="3236976"/>
            <a:ext cx="310896" cy="31089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3749040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fh2001</a:t>
            </a:r>
            <a:endParaRPr lang="en-US" sz="850" dirty="0"/>
          </a:p>
        </p:txBody>
      </p:sp>
      <p:sp>
        <p:nvSpPr>
          <p:cNvPr id="28" name="Text 19"/>
          <p:cNvSpPr txBox="1"/>
          <p:nvPr/>
        </p:nvSpPr>
        <p:spPr>
          <a:xfrm>
            <a:off x="3749040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2001</a:t>
            </a:r>
            <a:endParaRPr lang="en-US" sz="8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>
            <a:alphaModFix amt="55000"/>
          </a:blip>
          <a:stretch>
            <a:fillRect/>
          </a:stretch>
        </p:blipFill>
        <p:spPr>
          <a:xfrm>
            <a:off x="4681728" y="3236976"/>
            <a:ext cx="310896" cy="31089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047488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850" dirty="0"/>
          </a:p>
        </p:txBody>
      </p:sp>
      <p:sp>
        <p:nvSpPr>
          <p:cNvPr id="31" name="Text 21"/>
          <p:cNvSpPr txBox="1"/>
          <p:nvPr/>
        </p:nvSpPr>
        <p:spPr>
          <a:xfrm>
            <a:off x="5047488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2002</a:t>
            </a:r>
            <a:endParaRPr lang="en-US" sz="8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>
            <a:alphaModFix amt="55000"/>
          </a:blip>
          <a:stretch>
            <a:fillRect/>
          </a:stretch>
        </p:blipFill>
        <p:spPr>
          <a:xfrm>
            <a:off x="786384" y="4169664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1152144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gh2004</a:t>
            </a:r>
            <a:endParaRPr lang="en-US" sz="850" dirty="0"/>
          </a:p>
        </p:txBody>
      </p:sp>
      <p:sp>
        <p:nvSpPr>
          <p:cNvPr id="34" name="Text 23"/>
          <p:cNvSpPr txBox="1"/>
          <p:nvPr/>
        </p:nvSpPr>
        <p:spPr>
          <a:xfrm>
            <a:off x="1152144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2004</a:t>
            </a:r>
            <a:endParaRPr lang="en-US" sz="8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>
            <a:alphaModFix amt="55000"/>
          </a:blip>
          <a:stretch>
            <a:fillRect/>
          </a:stretch>
        </p:blipFill>
        <p:spPr>
          <a:xfrm>
            <a:off x="2084832" y="4169664"/>
            <a:ext cx="310896" cy="310896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2450592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athl2005</a:t>
            </a:r>
            <a:endParaRPr lang="en-US" sz="850" dirty="0"/>
          </a:p>
        </p:txBody>
      </p:sp>
      <p:sp>
        <p:nvSpPr>
          <p:cNvPr id="37" name="Text 25"/>
          <p:cNvSpPr txBox="1"/>
          <p:nvPr/>
        </p:nvSpPr>
        <p:spPr>
          <a:xfrm>
            <a:off x="2450592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2005</a:t>
            </a:r>
            <a:endParaRPr lang="en-US" sz="8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>
            <a:alphaModFix amt="55000"/>
          </a:blip>
          <a:stretch>
            <a:fillRect/>
          </a:stretch>
        </p:blipFill>
        <p:spPr>
          <a:xfrm>
            <a:off x="3383280" y="4169664"/>
            <a:ext cx="310896" cy="310896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3749040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850" dirty="0"/>
          </a:p>
        </p:txBody>
      </p:sp>
      <p:sp>
        <p:nvSpPr>
          <p:cNvPr id="40" name="Text 27"/>
          <p:cNvSpPr txBox="1"/>
          <p:nvPr/>
        </p:nvSpPr>
        <p:spPr>
          <a:xfrm>
            <a:off x="3749040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2006</a:t>
            </a:r>
            <a:endParaRPr lang="en-US" sz="800" dirty="0"/>
          </a:p>
        </p:txBody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>
            <a:alphaModFix amt="55000"/>
          </a:blip>
          <a:stretch>
            <a:fillRect/>
          </a:stretch>
        </p:blipFill>
        <p:spPr>
          <a:xfrm>
            <a:off x="4681728" y="4169664"/>
            <a:ext cx="310896" cy="310896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5047488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cs2012</a:t>
            </a:r>
            <a:endParaRPr lang="en-US" sz="850" dirty="0"/>
          </a:p>
        </p:txBody>
      </p:sp>
      <p:sp>
        <p:nvSpPr>
          <p:cNvPr id="43" name="Text 29"/>
          <p:cNvSpPr txBox="1"/>
          <p:nvPr/>
        </p:nvSpPr>
        <p:spPr>
          <a:xfrm>
            <a:off x="5047488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2012</a:t>
            </a:r>
            <a:endParaRPr lang="en-US" sz="800" dirty="0"/>
          </a:p>
        </p:txBody>
      </p:sp>
      <p:sp>
        <p:nvSpPr>
          <p:cNvPr id="44" name="Text 30"/>
          <p:cNvSpPr txBox="1"/>
          <p:nvPr/>
        </p:nvSpPr>
        <p:spPr>
          <a:xfrm>
            <a:off x="786384" y="49011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최신 채택본이 2012년이다 — 14년치 계량금융이 비어 있다</a:t>
            </a:r>
            <a:endParaRPr lang="en-US" sz="1050" dirty="0"/>
          </a:p>
        </p:txBody>
      </p:sp>
      <p:sp>
        <p:nvSpPr>
          <p:cNvPr id="45" name="Text 31"/>
          <p:cNvSpPr txBox="1"/>
          <p:nvPr/>
        </p:nvSpPr>
        <p:spPr>
          <a:xfrm>
            <a:off x="786384" y="51937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사이 시장미시구조·집행비용 연구가 가장 많이 쌓인 구간이다. 훑지 않아서 없는 것이지, 없어서 없는 것이 아니다.</a:t>
            </a:r>
            <a:endParaRPr lang="en-US" sz="1000" dirty="0"/>
          </a:p>
        </p:txBody>
      </p:sp>
      <p:sp>
        <p:nvSpPr>
          <p:cNvPr id="46" name="Shape 32"/>
          <p:cNvSpPr/>
          <p:nvPr/>
        </p:nvSpPr>
        <p:spPr>
          <a:xfrm>
            <a:off x="6323076" y="1751076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3"/>
          <p:cNvSpPr/>
          <p:nvPr/>
        </p:nvSpPr>
        <p:spPr>
          <a:xfrm>
            <a:off x="6272784" y="1700784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55664" y="1837944"/>
            <a:ext cx="201168" cy="201168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6766560" y="18105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고른 목록은 고른 날짜에서 멈춘다</a:t>
            </a:r>
            <a:endParaRPr lang="en-US" sz="1250" dirty="0"/>
          </a:p>
        </p:txBody>
      </p:sp>
      <p:sp>
        <p:nvSpPr>
          <p:cNvPr id="50" name="Text 35"/>
          <p:cNvSpPr txBox="1"/>
          <p:nvPr/>
        </p:nvSpPr>
        <p:spPr>
          <a:xfrm>
            <a:off x="6766560" y="20848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언제 다시 훑을지가 정해져 있지 않으면, 갱신은 사실상 일어나지 않는다.</a:t>
            </a:r>
            <a:endParaRPr lang="en-US" sz="1000" dirty="0"/>
          </a:p>
        </p:txBody>
      </p:sp>
      <p:sp>
        <p:nvSpPr>
          <p:cNvPr id="51" name="Shape 36"/>
          <p:cNvSpPr/>
          <p:nvPr/>
        </p:nvSpPr>
        <p:spPr>
          <a:xfrm>
            <a:off x="6323076" y="2784348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37"/>
          <p:cNvSpPr/>
          <p:nvPr/>
        </p:nvSpPr>
        <p:spPr>
          <a:xfrm>
            <a:off x="6272784" y="2734056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55664" y="2871216"/>
            <a:ext cx="201168" cy="201168"/>
          </a:xfrm>
          <a:prstGeom prst="rect">
            <a:avLst/>
          </a:prstGeom>
        </p:spPr>
      </p:pic>
      <p:sp>
        <p:nvSpPr>
          <p:cNvPr id="54" name="Text 38"/>
          <p:cNvSpPr txBox="1"/>
          <p:nvPr/>
        </p:nvSpPr>
        <p:spPr>
          <a:xfrm>
            <a:off x="6766560" y="284378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78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검증이 아니다</a:t>
            </a:r>
            <a:endParaRPr lang="en-US" sz="1250" dirty="0"/>
          </a:p>
        </p:txBody>
      </p:sp>
      <p:sp>
        <p:nvSpPr>
          <p:cNvPr id="55" name="Text 39"/>
          <p:cNvSpPr txBox="1"/>
          <p:nvPr/>
        </p:nvSpPr>
        <p:spPr>
          <a:xfrm>
            <a:off x="6766560" y="31181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미국 대형주에서 보인 효과가 코스닥 소형주에서 성립하는지는 아무도 확인하지 않았다.</a:t>
            </a:r>
            <a:endParaRPr lang="en-US" sz="1000" dirty="0"/>
          </a:p>
        </p:txBody>
      </p:sp>
      <p:sp>
        <p:nvSpPr>
          <p:cNvPr id="56" name="Shape 40"/>
          <p:cNvSpPr/>
          <p:nvPr/>
        </p:nvSpPr>
        <p:spPr>
          <a:xfrm>
            <a:off x="6323076" y="3817620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1"/>
          <p:cNvSpPr/>
          <p:nvPr/>
        </p:nvSpPr>
        <p:spPr>
          <a:xfrm>
            <a:off x="6272784" y="3767328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55664" y="3904488"/>
            <a:ext cx="201168" cy="201168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6766560" y="387705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채로 계속 쓰인다</a:t>
            </a:r>
            <a:endParaRPr lang="en-US" sz="1250" dirty="0"/>
          </a:p>
        </p:txBody>
      </p:sp>
      <p:sp>
        <p:nvSpPr>
          <p:cNvPr id="60" name="Text 43"/>
          <p:cNvSpPr txBox="1"/>
          <p:nvPr/>
        </p:nvSpPr>
        <p:spPr>
          <a:xfrm>
            <a:off x="6766560" y="415137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 은퇴 개념이 없다. 뒤집힌 결과도 목록에 남아 계속 인용된다.</a:t>
            </a:r>
            <a:endParaRPr lang="en-US" sz="1000" dirty="0"/>
          </a:p>
        </p:txBody>
      </p:sp>
      <p:sp>
        <p:nvSpPr>
          <p:cNvPr id="61" name="Shape 44"/>
          <p:cNvSpPr/>
          <p:nvPr/>
        </p:nvSpPr>
        <p:spPr>
          <a:xfrm>
            <a:off x="6323076" y="4878324"/>
            <a:ext cx="5367528" cy="10424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45"/>
          <p:cNvSpPr/>
          <p:nvPr/>
        </p:nvSpPr>
        <p:spPr>
          <a:xfrm>
            <a:off x="6272784" y="4828032"/>
            <a:ext cx="5367528" cy="1042416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pic>
        <p:nvPicPr>
          <p:cNvPr id="6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55664" y="4992624"/>
            <a:ext cx="219456" cy="219456"/>
          </a:xfrm>
          <a:prstGeom prst="rect">
            <a:avLst/>
          </a:prstGeom>
        </p:spPr>
      </p:pic>
      <p:sp>
        <p:nvSpPr>
          <p:cNvPr id="64" name="Text 46"/>
          <p:cNvSpPr txBox="1"/>
          <p:nvPr/>
        </p:nvSpPr>
        <p:spPr>
          <a:xfrm>
            <a:off x="6766560" y="495604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편수를 세지 않는다</a:t>
            </a:r>
            <a:endParaRPr lang="en-US" sz="1300" dirty="0"/>
          </a:p>
        </p:txBody>
      </p:sp>
      <p:sp>
        <p:nvSpPr>
          <p:cNvPr id="65" name="Text 47"/>
          <p:cNvSpPr txBox="1"/>
          <p:nvPr/>
        </p:nvSpPr>
        <p:spPr>
          <a:xfrm>
            <a:off x="6766560" y="5248656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"몇 편 있는가"가 아니라 "몇 편이 아직 살아있는가"를 센다. 채택은 상태이지 영구 자격이 아니다.</a:t>
            </a:r>
            <a:endParaRPr lang="en-US" sz="1050" dirty="0"/>
          </a:p>
        </p:txBody>
      </p:sp>
      <p:sp>
        <p:nvSpPr>
          <p:cNvPr id="66" name="Text 4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근거: stock-monitor/.papers.json — schema ki.papers/1 · verified 2026-09-05 · adopted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PIPELINE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— 새 논문을 들여와 통과 테스트를 돌린다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아니라 매주 도는 사이클이다. 수확은 이미 있고(fetch_papers.py), 새로 넣는 것은 세 번째 — 재현 관문이다.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157984" cy="47548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HARVEST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 q-fin 8분류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Semantic Scholar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OpenAlex · Crossref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~400건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3218688"/>
            <a:ext cx="274320" cy="173736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2875788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2825496" y="1700784"/>
            <a:ext cx="2157984" cy="47548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35224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SCREEN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875788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6"/>
          <p:cNvSpPr/>
          <p:nvPr/>
        </p:nvSpPr>
        <p:spPr>
          <a:xfrm>
            <a:off x="2825496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71800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초록으로 네 질문 중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하나를 바꾸는가 판정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프리프린트 등급 표시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~40건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3218688"/>
            <a:ext cx="274320" cy="17373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152644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2"/>
          <p:cNvSpPr/>
          <p:nvPr/>
        </p:nvSpPr>
        <p:spPr>
          <a:xfrm>
            <a:off x="5102352" y="1700784"/>
            <a:ext cx="2157984" cy="47548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5212080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REPLICATE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5152644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5"/>
          <p:cNvSpPr/>
          <p:nvPr/>
        </p:nvSpPr>
        <p:spPr>
          <a:xfrm>
            <a:off x="5102352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248656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5248656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원장 일봉에서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팩터를 실제로 계산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방향·유의성 대조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~6건</a:t>
            </a:r>
            <a:endParaRPr lang="en-US" sz="1000" dirty="0"/>
          </a:p>
        </p:txBody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3218688"/>
            <a:ext cx="274320" cy="173736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7429500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1"/>
          <p:cNvSpPr/>
          <p:nvPr/>
        </p:nvSpPr>
        <p:spPr>
          <a:xfrm>
            <a:off x="7379208" y="1700784"/>
            <a:ext cx="2157984" cy="47548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488936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ADOPT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7429500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4"/>
          <p:cNvSpPr/>
          <p:nvPr/>
        </p:nvSpPr>
        <p:spPr>
          <a:xfrm>
            <a:off x="7379208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525512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7525512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Crossref 발행정보 재대조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작성 필수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채택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~2건</a:t>
            </a:r>
            <a:endParaRPr lang="en-US" sz="1000" dirty="0"/>
          </a:p>
        </p:txBody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328" y="3218688"/>
            <a:ext cx="274320" cy="173736"/>
          </a:xfrm>
          <a:prstGeom prst="rect">
            <a:avLst/>
          </a:prstGeom>
        </p:spPr>
      </p:pic>
      <p:sp>
        <p:nvSpPr>
          <p:cNvPr id="45" name="Shape 39"/>
          <p:cNvSpPr/>
          <p:nvPr/>
        </p:nvSpPr>
        <p:spPr>
          <a:xfrm>
            <a:off x="9706356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0"/>
          <p:cNvSpPr/>
          <p:nvPr/>
        </p:nvSpPr>
        <p:spPr>
          <a:xfrm>
            <a:off x="9656064" y="1700784"/>
            <a:ext cx="2157984" cy="47548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9765792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DECAY</a:t>
            </a:r>
            <a:endParaRPr lang="en-US" sz="1050" dirty="0"/>
          </a:p>
        </p:txBody>
      </p:sp>
      <p:sp>
        <p:nvSpPr>
          <p:cNvPr id="48" name="Shape 42"/>
          <p:cNvSpPr/>
          <p:nvPr/>
        </p:nvSpPr>
        <p:spPr>
          <a:xfrm>
            <a:off x="9706356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3"/>
          <p:cNvSpPr/>
          <p:nvPr/>
        </p:nvSpPr>
        <p:spPr>
          <a:xfrm>
            <a:off x="9656064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802368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</a:t>
            </a:r>
            <a:endParaRPr lang="en-US" sz="1900" dirty="0"/>
          </a:p>
        </p:txBody>
      </p:sp>
      <p:sp>
        <p:nvSpPr>
          <p:cNvPr id="51" name="Text 45"/>
          <p:cNvSpPr txBox="1"/>
          <p:nvPr/>
        </p:nvSpPr>
        <p:spPr>
          <a:xfrm>
            <a:off x="9802368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반감기마다 재현 재검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실패 시 은퇴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절에 경고</a:t>
            </a:r>
            <a:endParaRPr lang="en-US" sz="1050" dirty="0"/>
          </a:p>
        </p:txBody>
      </p:sp>
      <p:sp>
        <p:nvSpPr>
          <p:cNvPr id="52" name="Shape 46"/>
          <p:cNvSpPr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상시</a:t>
            </a:r>
            <a:endParaRPr lang="en-US" sz="1000" dirty="0"/>
          </a:p>
        </p:txBody>
      </p:sp>
      <p:sp>
        <p:nvSpPr>
          <p:cNvPr id="54" name="Shape 48"/>
          <p:cNvSpPr/>
          <p:nvPr/>
        </p:nvSpPr>
        <p:spPr>
          <a:xfrm>
            <a:off x="598932" y="4969764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9"/>
          <p:cNvSpPr/>
          <p:nvPr/>
        </p:nvSpPr>
        <p:spPr>
          <a:xfrm>
            <a:off x="548640" y="4919472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768096" y="5029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같은 깔때기를 돌린다</a:t>
            </a:r>
            <a:endParaRPr lang="en-US" sz="1250" dirty="0"/>
          </a:p>
        </p:txBody>
      </p:sp>
      <p:sp>
        <p:nvSpPr>
          <p:cNvPr id="57" name="Text 51"/>
          <p:cNvSpPr txBox="1"/>
          <p:nvPr/>
        </p:nvSpPr>
        <p:spPr>
          <a:xfrm>
            <a:off x="768096" y="5303520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400건을 훑어 2건이 남는다. 같은 사이클에 반감기가 도래한 기존 채택본도 함께 태워 재검한다(주 최대 3편). 12편을 한꺼번에 검사하는 단계는 없다.</a:t>
            </a:r>
            <a:endParaRPr lang="en-US" sz="1050" dirty="0"/>
          </a:p>
        </p:txBody>
      </p:sp>
      <p:sp>
        <p:nvSpPr>
          <p:cNvPr id="58" name="Text 52"/>
          <p:cNvSpPr txBox="1"/>
          <p:nvPr/>
        </p:nvSpPr>
        <p:spPr>
          <a:xfrm>
            <a:off x="7772400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endParaRPr lang="en-US" sz="2200" dirty="0"/>
          </a:p>
        </p:txBody>
      </p:sp>
      <p:sp>
        <p:nvSpPr>
          <p:cNvPr id="59" name="Text 53"/>
          <p:cNvSpPr txBox="1"/>
          <p:nvPr/>
        </p:nvSpPr>
        <p:spPr>
          <a:xfrm>
            <a:off x="8430768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0" name="Text 54"/>
          <p:cNvSpPr txBox="1"/>
          <p:nvPr/>
        </p:nvSpPr>
        <p:spPr>
          <a:xfrm>
            <a:off x="7772400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수확</a:t>
            </a:r>
            <a:endParaRPr lang="en-US" sz="900" dirty="0"/>
          </a:p>
        </p:txBody>
      </p:sp>
      <p:sp>
        <p:nvSpPr>
          <p:cNvPr id="61" name="Text 55"/>
          <p:cNvSpPr txBox="1"/>
          <p:nvPr/>
        </p:nvSpPr>
        <p:spPr>
          <a:xfrm>
            <a:off x="8759952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endParaRPr lang="en-US" sz="2200" dirty="0"/>
          </a:p>
        </p:txBody>
      </p:sp>
      <p:sp>
        <p:nvSpPr>
          <p:cNvPr id="62" name="Text 56"/>
          <p:cNvSpPr txBox="1"/>
          <p:nvPr/>
        </p:nvSpPr>
        <p:spPr>
          <a:xfrm>
            <a:off x="9418320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3" name="Text 57"/>
          <p:cNvSpPr txBox="1"/>
          <p:nvPr/>
        </p:nvSpPr>
        <p:spPr>
          <a:xfrm>
            <a:off x="8759952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심사</a:t>
            </a:r>
            <a:endParaRPr lang="en-US" sz="900" dirty="0"/>
          </a:p>
        </p:txBody>
      </p:sp>
      <p:sp>
        <p:nvSpPr>
          <p:cNvPr id="64" name="Text 58"/>
          <p:cNvSpPr txBox="1"/>
          <p:nvPr/>
        </p:nvSpPr>
        <p:spPr>
          <a:xfrm>
            <a:off x="9747504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65" name="Text 59"/>
          <p:cNvSpPr txBox="1"/>
          <p:nvPr/>
        </p:nvSpPr>
        <p:spPr>
          <a:xfrm>
            <a:off x="10405872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6" name="Text 60"/>
          <p:cNvSpPr txBox="1"/>
          <p:nvPr/>
        </p:nvSpPr>
        <p:spPr>
          <a:xfrm>
            <a:off x="9747504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10735056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68" name="Text 62"/>
          <p:cNvSpPr txBox="1"/>
          <p:nvPr/>
        </p:nvSpPr>
        <p:spPr>
          <a:xfrm>
            <a:off x="10735056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채택</a:t>
            </a:r>
            <a:endParaRPr lang="en-US" sz="900" dirty="0"/>
          </a:p>
        </p:txBody>
      </p:sp>
      <p:sp>
        <p:nvSpPr>
          <p:cNvPr id="69" name="Text 6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주 1회 · 월요일 07:30 배치 · 수확 4곳은 이미 구현돼 있다 (docs/fetch_papers.py) · 03 재현과 05 감가가 신설분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★ REPLICATION GATE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— 인용하기 전에 우리 데이터로 계산해 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데스크가 다루는 것은 코스닥 소형주다. 논문 표본이 미국 대형주라면, 그 결론은 가설이지 근거가 아니다.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75564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논문에서 검정 가능한 주장 하나를 뽑는다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0116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"거래량이 낮을수록 이후 수익률이 높다" 처럼 방향이 있는 한 문장으로 환원한다. 환원되지 않으면 재현 대상이 아니다.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8932" y="2519172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468880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54203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원장에서 그 팩터를 계산한다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27980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일봉으로 팩터를 만든다. 새 데이터를 받지 않는다 — 이미 KRX 공식 API 로 받아 둔 것만 쓴다.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8932" y="3305556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255264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33284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전종목에 적용해 방향을 본다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358444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포트폴리오 스프레드의 부호가 논문과 같은가. 표본이 부족하면 계산을 거부한다(기존 원칙 그대로).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8932" y="4091940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041648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07008" y="4114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중 하나로 판정한다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207008" y="43708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재현됨 / 방향 반대 / 판정 불가. 재현되지 않아도 지우지 않고 결과를 남긴다.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8932" y="4878324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828032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207008" y="490118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재현된 것만 채택본으로 넘긴다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207008" y="51572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결과와 표본 구간이 논문 항목에 함께 저장돼, 리포트에 인용될 때 같이 따라 나간다.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53428" y="1732788"/>
            <a:ext cx="4837176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4"/>
          <p:cNvSpPr/>
          <p:nvPr/>
        </p:nvSpPr>
        <p:spPr>
          <a:xfrm>
            <a:off x="6803136" y="1682496"/>
            <a:ext cx="4837176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86016" y="181051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예시  ·  win=60 · KOSDAQ 전종목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986016" y="2139696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095744" y="213969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21396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 ↑ → 수익 ↑</a:t>
            </a:r>
            <a:endParaRPr lang="en-US" sz="95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56" y="2267712"/>
            <a:ext cx="155448" cy="155448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0497312" y="213969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986016" y="2615184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7095744" y="261518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412480" y="261518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회전율 ↓ → 수익 ↑</a:t>
            </a:r>
            <a:endParaRPr lang="en-US" sz="950" dirty="0"/>
          </a:p>
        </p:txBody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7856" y="2743200"/>
            <a:ext cx="155448" cy="155448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10497312" y="261518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6986016" y="3090672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7095744" y="30906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950" dirty="0"/>
          </a:p>
        </p:txBody>
      </p:sp>
      <p:sp>
        <p:nvSpPr>
          <p:cNvPr id="50" name="Text 46"/>
          <p:cNvSpPr txBox="1"/>
          <p:nvPr/>
        </p:nvSpPr>
        <p:spPr>
          <a:xfrm>
            <a:off x="8412480" y="309067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 모멘텀 지속</a:t>
            </a:r>
            <a:endParaRPr lang="en-US" sz="9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7856" y="3218688"/>
            <a:ext cx="155448" cy="155448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10497312" y="309067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방향 반대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6986016" y="3566160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7095744" y="35661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950" dirty="0"/>
          </a:p>
        </p:txBody>
      </p:sp>
      <p:sp>
        <p:nvSpPr>
          <p:cNvPr id="55" name="Text 50"/>
          <p:cNvSpPr txBox="1"/>
          <p:nvPr/>
        </p:nvSpPr>
        <p:spPr>
          <a:xfrm>
            <a:off x="8412480" y="356616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특이변동성 ↑ → 수익 ↓</a:t>
            </a:r>
            <a:endParaRPr lang="en-US" sz="950" dirty="0"/>
          </a:p>
        </p:txBody>
      </p:sp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7856" y="3694176"/>
            <a:ext cx="155448" cy="155448"/>
          </a:xfrm>
          <a:prstGeom prst="rect">
            <a:avLst/>
          </a:prstGeom>
        </p:spPr>
      </p:pic>
      <p:sp>
        <p:nvSpPr>
          <p:cNvPr id="57" name="Text 51"/>
          <p:cNvSpPr txBox="1"/>
          <p:nvPr/>
        </p:nvSpPr>
        <p:spPr>
          <a:xfrm>
            <a:off x="10497312" y="35661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불가</a:t>
            </a:r>
            <a:endParaRPr lang="en-US" sz="950" dirty="0"/>
          </a:p>
        </p:txBody>
      </p:sp>
      <p:sp>
        <p:nvSpPr>
          <p:cNvPr id="58" name="Shape 52"/>
          <p:cNvSpPr/>
          <p:nvPr/>
        </p:nvSpPr>
        <p:spPr>
          <a:xfrm>
            <a:off x="6986016" y="4041648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9" name="Text 53"/>
          <p:cNvSpPr txBox="1"/>
          <p:nvPr/>
        </p:nvSpPr>
        <p:spPr>
          <a:xfrm>
            <a:off x="7095744" y="404164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950" dirty="0"/>
          </a:p>
        </p:txBody>
      </p:sp>
      <p:sp>
        <p:nvSpPr>
          <p:cNvPr id="60" name="Text 54"/>
          <p:cNvSpPr txBox="1"/>
          <p:nvPr/>
        </p:nvSpPr>
        <p:spPr>
          <a:xfrm>
            <a:off x="8412480" y="40416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스프레드 추정</a:t>
            </a:r>
            <a:endParaRPr lang="en-US" sz="950" dirty="0"/>
          </a:p>
        </p:txBody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7856" y="4169664"/>
            <a:ext cx="155448" cy="155448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10497312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63" name="Shape 56"/>
          <p:cNvSpPr/>
          <p:nvPr/>
        </p:nvSpPr>
        <p:spPr>
          <a:xfrm>
            <a:off x="7036308" y="4530852"/>
            <a:ext cx="4480560" cy="11338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7"/>
          <p:cNvSpPr/>
          <p:nvPr/>
        </p:nvSpPr>
        <p:spPr>
          <a:xfrm>
            <a:off x="6986016" y="4480560"/>
            <a:ext cx="4480560" cy="1133856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65" name="Text 58"/>
          <p:cNvSpPr txBox="1"/>
          <p:nvPr/>
        </p:nvSpPr>
        <p:spPr>
          <a:xfrm>
            <a:off x="7132320" y="4544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통과 임계  |t| ≥ 3.0</a:t>
            </a:r>
            <a:endParaRPr lang="en-US" sz="1100" dirty="0"/>
          </a:p>
        </p:txBody>
      </p:sp>
      <p:sp>
        <p:nvSpPr>
          <p:cNvPr id="66" name="Text 59"/>
          <p:cNvSpPr txBox="1"/>
          <p:nvPr/>
        </p:nvSpPr>
        <p:spPr>
          <a:xfrm>
            <a:off x="7132320" y="4773168"/>
            <a:ext cx="4187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2.0 은 검정을 한 번 할 때의 값이다. 주 1회 사이클이면 연 150회쯤 되고, 그때 2.0 은 효과 없는 팩터를 해마다 7~8개 통과시킨다 — '논문 근거 있음' 딱지를 달고서.</a:t>
            </a:r>
            <a:endParaRPr lang="en-US" sz="860" dirty="0"/>
          </a:p>
        </p:txBody>
      </p:sp>
      <p:sp>
        <p:nvSpPr>
          <p:cNvPr id="67" name="Text 60"/>
          <p:cNvSpPr txBox="1"/>
          <p:nvPr/>
        </p:nvSpPr>
        <p:spPr>
          <a:xfrm>
            <a:off x="7132320" y="5175504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표준오차는 Newey-West 로 잰다. 월간 스프레드는 자기상관이 있어 보통 표준오차를 쓰면 t 가 과장된다.</a:t>
            </a:r>
            <a:endParaRPr lang="en-US" sz="860" dirty="0"/>
          </a:p>
        </p:txBody>
      </p:sp>
      <p:sp>
        <p:nvSpPr>
          <p:cNvPr id="68" name="Text 61"/>
          <p:cNvSpPr txBox="1"/>
          <p:nvPr/>
        </p:nvSpPr>
        <p:spPr>
          <a:xfrm>
            <a:off x="7132320" y="5431536"/>
            <a:ext cx="4187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Harvey·Liu·Zhu (2016) RFS 29(1) 5-68   ·   Newey·West (1987) ECTA 55(3)</a:t>
            </a:r>
            <a:endParaRPr lang="en-US" sz="720" dirty="0"/>
          </a:p>
        </p:txBody>
      </p:sp>
      <p:sp>
        <p:nvSpPr>
          <p:cNvPr id="69" name="Shape 62"/>
          <p:cNvSpPr/>
          <p:nvPr/>
        </p:nvSpPr>
        <p:spPr>
          <a:xfrm>
            <a:off x="598932" y="5701284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0" name="Shape 63"/>
          <p:cNvSpPr/>
          <p:nvPr/>
        </p:nvSpPr>
        <p:spPr>
          <a:xfrm>
            <a:off x="548640" y="5650992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1" name="Text 64"/>
          <p:cNvSpPr txBox="1"/>
          <p:nvPr/>
        </p:nvSpPr>
        <p:spPr>
          <a:xfrm>
            <a:off x="786384" y="5650992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실패는 실패가 아니다.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논문은 코스닥에서 성립하지 않는다"는 것도 측정 결과다. 지우지 않고 남겨 두면, 다음 사람이 같은 논문을 다시 주워 오는 일을 막는다. 통과하지 못한 논문은 '미검증'으로 남아 표시를 달고 인용된다 — 관문은 정지 버튼이 아니다.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DECAY &amp; RETIRE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채택은 상태이지 영구 자격이 아니다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채택본에도 반감기를 둔다. 반감기가 지나면 재현을 다시 돌리고, 결과에 따라 유지·경고·은퇴로 나뉜다.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847088"/>
            <a:ext cx="146304" cy="43891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7552" y="179222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 180일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06654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후 180영업일이 지나면 재검 대상이 된다. 주간 사이클에 신규 후보와 함께 태운다 — 주 최대 3편, recheck_due 오래된 순.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8932" y="2592324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542032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" y="2706624"/>
            <a:ext cx="146304" cy="43891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7552" y="26517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 실패 → 경고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292608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깨지면 은퇴시키지 않고 '경고'로 표시한다. 그 팩터를 쓰는 리포트 절 하단에 그대로 찍힌다.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8932" y="3451860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3401568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" y="3566160"/>
            <a:ext cx="146304" cy="43891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87552" y="35112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2회 실패 → 은퇴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3785616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반감기에도 깨지면 은퇴한다. 인용이 끊기고, 그 팩터를 쓰던 계산은 '방법론 없음'으로 빠진다.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8932" y="4311396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4261104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" y="4425696"/>
            <a:ext cx="146304" cy="43891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43708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이관분은 4주에 나눠 소화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464515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12편은 원 채택일 기준이라 전부 도래 상태다. 주 3편 상한이 자연히 분산시킨다 — 몰아서 돌리지 않는다.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02452" y="1732788"/>
            <a:ext cx="5788152" cy="3438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4"/>
          <p:cNvSpPr/>
          <p:nvPr/>
        </p:nvSpPr>
        <p:spPr>
          <a:xfrm>
            <a:off x="5852160" y="1682496"/>
            <a:ext cx="5788152" cy="34381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71616" y="181051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채택본 — 12개월 시뮬레이션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071616" y="206654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 · 반감기 180일 · 재현 실패율 18% 가정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053328" y="2340864"/>
          <a:ext cx="53949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5902452" y="5317236"/>
            <a:ext cx="5788152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852160" y="5266944"/>
            <a:ext cx="5788152" cy="9692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071616" y="5266944"/>
            <a:ext cx="5349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2편씩 들어오고 반감기마다 재검된다. 1년 뒤 63편은 결과일 뿐 목표가 아니다 — 편수가 아니라 통과 여부가 자격이다.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시뮬레이션 가정값이며 실측이 아니다. 실제 채택률은 Phase 2 병행 운영에서 측정한다.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LEDGER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채택도 은퇴도 이력으로 남는다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을 목록에서 append-only 원장으로 바꾼다. 상태가 바뀐 이유가 항상 남아 있어야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6400800" cy="39502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6400800" cy="395020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59893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"schema": "ki.papers/2",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"papers":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"amihud2002":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"title":   "Illiquidity and stock returns",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"doi":     "10.1016/S1386-4181(01)00024-6",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"grade":   "저널 게재",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"question": "q2",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"state":   "adopted",   // unverified|adopted|warned|retired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"state_at":    "2026-02-11",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"half_life_d": 180,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"recheck_due": "2026-11-05",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"replication": [             // append-only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"at": "2026-02-11", "verdict": "재현됨",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"universe": "KOSDAQ", "n": 1418,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"window":   "2023-01-02..2026-02-07",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"claim":    "비유동성 상위분위 초과수익 &gt; 0",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"observed": { "spread_mean_bp": 41, "t": 3.42 }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"limits": [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"표본은 미국 상장주 — 코스닥 외삽 근거 아님",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"거래정지 구간 제외 · 생존편의 보정 안 함"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237476" y="175107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7187184" y="170078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70064" y="187452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07808" y="18013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가 자격이다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70064" y="206654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adopted 는 재현 통과. unverified 는 아직 재검 순번이 안 온 것 — 인용은 되지만 '미검증' 이 붙는다. warned 는 경고, retired 는 인용 차단.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237476" y="275691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7187184" y="270662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2880360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07808" y="28072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replication 은 배열이다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370064" y="307238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쌓는다. 언제 재현했고 그때 무엇을 봤는지가 전부 남아, 판정이 바뀐 이유를 되짚을 수 있다.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237476" y="376275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7187184" y="371246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70064" y="3886200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07808" y="38130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는 측정값이다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70064" y="407822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뭐라 했는지가 아니라 우리 원장에서 무엇이 나왔는지다. 이 값이 없으면 채택되지 않는다.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237476" y="476859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7187184" y="471830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70064" y="4892040"/>
            <a:ext cx="128016" cy="12801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07808" y="48188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는 여전히 필수다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70064" y="508406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주장하지 않는 것을 함께 낸다. 비어 있으면 게이트가 막는다 — 기존 규칙 그대로.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selftest 확장: 모든 팩터가 state=adopted 인 논문을 인용하는가 · replication 이 비어 있는 채택본이 없는가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WHY NINE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 질문이 정한다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안은 CATALOG(무슨 데이터가 있나)에서 데스크를 뽑았다. 그건 데이터 목록이지 결정 목록이 아니다. 이 도구가 답해야 하는 것은 네 질문이다.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2422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7393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16736" y="1865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왔는가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13969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회수계획 대비 진척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1773936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오늘 달라진 것 · §5 재무 · §7 목표단가 갭 · §9 총수익률</a:t>
            </a:r>
            <a:endParaRPr lang="en-US" sz="84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0" y="1773936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3편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8932" y="261061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56032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16736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있는가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29260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 · 거래비용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2560320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집중도 · §6 자본구조 · §8 유동성 · §11 희석 · §13 사채 · §14 지분 · §15 감사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0" y="2560320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5편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39699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34670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16736" y="34381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팔 것인가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316736" y="37124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840480" y="3346704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 집행 시뮬레이션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0" y="3346704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98932" y="418338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13308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16736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지금이 그 때인가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316736" y="4498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 · 국면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3840480" y="4133088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국면 · §12 공시 이벤트 · CAR · §18 이번 주 일정</a:t>
            </a:r>
            <a:endParaRPr lang="en-US" sz="84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0" y="4133088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98932" y="5042916"/>
            <a:ext cx="5577840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48640" y="4992624"/>
            <a:ext cx="5577840" cy="1243584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31520" y="510235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안의 오류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5376672"/>
            <a:ext cx="5248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CATALOG 31개 항목 → SECTIONS 18개 절 → 데스크 20개로 뽑았다. 데이터가 있는 만큼 데스크를 만든 셈이다. 그러면 §16 스코어카드처럼 네 질문 중 어느 것도 바꾸지 않는 절에도 담당이 생긴다.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323076" y="5042916"/>
            <a:ext cx="5367528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992624"/>
            <a:ext cx="5367528" cy="1243584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510235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고친 방식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537667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하나에 데스크 하나. 절은 질문에 딸려 온다. 논문도 이미 네 질문으로 태그돼 있다(.papers.json 의 question 필드) — 코드가 처음부터 이 구조였고, 조직도만 딴 데서 뽑았던 것이다.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TARGET ORG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 데스크 — 질문 넷 · 방법론 하나 · 통제 셋 · 간사 하나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 자료 한 장을 만드는 데 필요한 최소 분업이다. 늘리는 것은 쉽고, 늘린 만큼 조정 비용이 든다.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120640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120640" cy="51206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92224"/>
            <a:ext cx="4791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011680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FOUR QUESTIONS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598932" y="2409444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359152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" y="2459736"/>
            <a:ext cx="91440" cy="25603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84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258775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진척역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· §5 · §7 · §9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598932" y="2930652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2880360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2980944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840" dirty="0"/>
          </a:p>
        </p:txBody>
      </p:sp>
      <p:sp>
        <p:nvSpPr>
          <p:cNvPr id="19" name="Text 17"/>
          <p:cNvSpPr txBox="1"/>
          <p:nvPr/>
        </p:nvSpPr>
        <p:spPr>
          <a:xfrm>
            <a:off x="877824" y="31089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처분역</a:t>
            </a:r>
            <a:endParaRPr lang="en-US" sz="880" dirty="0"/>
          </a:p>
        </p:txBody>
      </p:sp>
      <p:sp>
        <p:nvSpPr>
          <p:cNvPr id="20" name="Text 18"/>
          <p:cNvSpPr txBox="1"/>
          <p:nvPr/>
        </p:nvSpPr>
        <p:spPr>
          <a:xfrm>
            <a:off x="4297680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· §6 · §8 · §11 · §13 · §14 · §15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598932" y="3451860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01568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3502152"/>
            <a:ext cx="91440" cy="25603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7824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77824" y="36301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집행역</a:t>
            </a:r>
            <a:endParaRPr lang="en-US" sz="880" dirty="0"/>
          </a:p>
        </p:txBody>
      </p:sp>
      <p:sp>
        <p:nvSpPr>
          <p:cNvPr id="26" name="Text 24"/>
          <p:cNvSpPr txBox="1"/>
          <p:nvPr/>
        </p:nvSpPr>
        <p:spPr>
          <a:xfrm>
            <a:off x="4297680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</a:t>
            </a:r>
            <a:endParaRPr lang="en-US" sz="740" dirty="0"/>
          </a:p>
        </p:txBody>
      </p:sp>
      <p:sp>
        <p:nvSpPr>
          <p:cNvPr id="27" name="Shape 25"/>
          <p:cNvSpPr/>
          <p:nvPr/>
        </p:nvSpPr>
        <p:spPr>
          <a:xfrm>
            <a:off x="598932" y="3973068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922776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" y="4023360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7824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77824" y="415137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시점역</a:t>
            </a:r>
            <a:endParaRPr lang="en-US" sz="88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· §12 · §18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5838444" y="1787652"/>
            <a:ext cx="5971032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788152" y="1737360"/>
            <a:ext cx="5971032" cy="512064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52744" y="179222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952744" y="2011680"/>
            <a:ext cx="5641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 · CONTROL · ASSEMBLY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5838444" y="2409444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788152" y="2359152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16168" y="2459736"/>
            <a:ext cx="91440" cy="25603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17336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840" dirty="0"/>
          </a:p>
        </p:txBody>
      </p:sp>
      <p:sp>
        <p:nvSpPr>
          <p:cNvPr id="41" name="Text 39"/>
          <p:cNvSpPr txBox="1"/>
          <p:nvPr/>
        </p:nvSpPr>
        <p:spPr>
          <a:xfrm>
            <a:off x="6117336" y="2587752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계량역 — 팩터 · 논문 재현</a:t>
            </a:r>
            <a:endParaRPr lang="en-US" sz="880" dirty="0"/>
          </a:p>
        </p:txBody>
      </p:sp>
      <p:sp>
        <p:nvSpPr>
          <p:cNvPr id="42" name="Text 40"/>
          <p:cNvSpPr txBox="1"/>
          <p:nvPr/>
        </p:nvSpPr>
        <p:spPr>
          <a:xfrm>
            <a:off x="10387584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§16</a:t>
            </a:r>
            <a:endParaRPr lang="en-US" sz="740" dirty="0"/>
          </a:p>
        </p:txBody>
      </p:sp>
      <p:sp>
        <p:nvSpPr>
          <p:cNvPr id="43" name="Shape 41"/>
          <p:cNvSpPr/>
          <p:nvPr/>
        </p:nvSpPr>
        <p:spPr>
          <a:xfrm>
            <a:off x="5838444" y="2930652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2"/>
          <p:cNvSpPr/>
          <p:nvPr/>
        </p:nvSpPr>
        <p:spPr>
          <a:xfrm>
            <a:off x="5788152" y="2880360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16168" y="2980944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17336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840" dirty="0"/>
          </a:p>
        </p:txBody>
      </p:sp>
      <p:sp>
        <p:nvSpPr>
          <p:cNvPr id="47" name="Text 45"/>
          <p:cNvSpPr txBox="1"/>
          <p:nvPr/>
        </p:nvSpPr>
        <p:spPr>
          <a:xfrm>
            <a:off x="6117336" y="3108960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 — 숫자 재검산  (거부권)</a:t>
            </a:r>
            <a:endParaRPr lang="en-US" sz="880" dirty="0"/>
          </a:p>
        </p:txBody>
      </p:sp>
      <p:sp>
        <p:nvSpPr>
          <p:cNvPr id="48" name="Text 46"/>
          <p:cNvSpPr txBox="1"/>
          <p:nvPr/>
        </p:nvSpPr>
        <p:spPr>
          <a:xfrm>
            <a:off x="10387584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49" name="Shape 47"/>
          <p:cNvSpPr/>
          <p:nvPr/>
        </p:nvSpPr>
        <p:spPr>
          <a:xfrm>
            <a:off x="5838444" y="3451860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788152" y="3401568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916168" y="3502152"/>
            <a:ext cx="91440" cy="256032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17336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840" dirty="0"/>
          </a:p>
        </p:txBody>
      </p:sp>
      <p:sp>
        <p:nvSpPr>
          <p:cNvPr id="53" name="Text 51"/>
          <p:cNvSpPr txBox="1"/>
          <p:nvPr/>
        </p:nvSpPr>
        <p:spPr>
          <a:xfrm>
            <a:off x="6117336" y="3630168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준법감시역 — 게이트  (거부권)</a:t>
            </a:r>
            <a:endParaRPr lang="en-US" sz="880" dirty="0"/>
          </a:p>
        </p:txBody>
      </p:sp>
      <p:sp>
        <p:nvSpPr>
          <p:cNvPr id="54" name="Text 52"/>
          <p:cNvSpPr txBox="1"/>
          <p:nvPr/>
        </p:nvSpPr>
        <p:spPr>
          <a:xfrm>
            <a:off x="10387584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55" name="Shape 53"/>
          <p:cNvSpPr/>
          <p:nvPr/>
        </p:nvSpPr>
        <p:spPr>
          <a:xfrm>
            <a:off x="5838444" y="3973068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6" name="Shape 54"/>
          <p:cNvSpPr/>
          <p:nvPr/>
        </p:nvSpPr>
        <p:spPr>
          <a:xfrm>
            <a:off x="5788152" y="3922776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916168" y="4023360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17336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840" dirty="0"/>
          </a:p>
        </p:txBody>
      </p:sp>
      <p:sp>
        <p:nvSpPr>
          <p:cNvPr id="59" name="Text 57"/>
          <p:cNvSpPr txBox="1"/>
          <p:nvPr/>
        </p:nvSpPr>
        <p:spPr>
          <a:xfrm>
            <a:off x="6117336" y="4151376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 — 쓰기 단독 · 품질</a:t>
            </a:r>
            <a:endParaRPr lang="en-US" sz="880" dirty="0"/>
          </a:p>
        </p:txBody>
      </p:sp>
      <p:sp>
        <p:nvSpPr>
          <p:cNvPr id="60" name="Text 58"/>
          <p:cNvSpPr txBox="1"/>
          <p:nvPr/>
        </p:nvSpPr>
        <p:spPr>
          <a:xfrm>
            <a:off x="10387584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§10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5838444" y="4494276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5788152" y="4443984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916168" y="4544568"/>
            <a:ext cx="91440" cy="25603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17336" y="4480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840" dirty="0"/>
          </a:p>
        </p:txBody>
      </p:sp>
      <p:sp>
        <p:nvSpPr>
          <p:cNvPr id="65" name="Text 63"/>
          <p:cNvSpPr txBox="1"/>
          <p:nvPr/>
        </p:nvSpPr>
        <p:spPr>
          <a:xfrm>
            <a:off x="6117336" y="4672584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 — 조립 · 쟁점 정렬</a:t>
            </a:r>
            <a:endParaRPr lang="en-US" sz="880" dirty="0"/>
          </a:p>
        </p:txBody>
      </p:sp>
      <p:sp>
        <p:nvSpPr>
          <p:cNvPr id="66" name="Text 64"/>
          <p:cNvSpPr txBox="1"/>
          <p:nvPr/>
        </p:nvSpPr>
        <p:spPr>
          <a:xfrm>
            <a:off x="10387584" y="4443984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67" name="Shape 65"/>
          <p:cNvSpPr/>
          <p:nvPr/>
        </p:nvSpPr>
        <p:spPr>
          <a:xfrm>
            <a:off x="598932" y="502462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97433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86384" y="497433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 3 (data-ops · compliance · ic-chair) + 이벤트 소집 6.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상설 셋만 돈다. 질문 데스크는 그 질문의 답이 달라졌을 때만 소집된다.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98932" y="5701284"/>
            <a:ext cx="11094415" cy="5852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1" name="Shape 69"/>
          <p:cNvSpPr/>
          <p:nvPr/>
        </p:nvSpPr>
        <p:spPr>
          <a:xfrm>
            <a:off x="548640" y="5650992"/>
            <a:ext cx="11094415" cy="585216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786384" y="5650992"/>
            <a:ext cx="1061892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  ·  투자심의위원회 (IC) — 아홉 데스크의 산출을 놓고 사람이 결정한다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1/2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 넷 — 각자 하나의 질문에만 답한다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질문 밖은 읽지 않는다. 읽지 않은 것에 대해 말할 여지가 없다는 뜻이다.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1993392"/>
                <a:gridCol w="969264"/>
                <a:gridCol w="2816352"/>
                <a:gridCol w="2615184"/>
                <a:gridCol w="269748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질문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진척역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얼마나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왔는가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(종가·시총·배당)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dart.fs.* · exit_plan.csv (사내)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목표회수단가 갭 · 총수익률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exit_plan 은 '사내' 등급.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1차와 같은 표에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처분역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(거래량·거래대금·지분)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ds002/004/005 · 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 소요일수 (평균·중앙값)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유동성 · 희석 · 락업 잔여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평균과 중앙값을 함께 낸다.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락업은 '추정' 등급 고정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집행역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것인가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(일별 거래량)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q2 의 처분 여건 봉투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매도 규칙 4종 비교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충격 가정의 민감도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권고를 쓰지 않는다.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API 호출 불가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시점역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때인가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macro · 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disclosures (CAR)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(수준 아닌 분위)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이벤트 · 다가오는 일정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등급을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(공표 · 규칙 · 추정)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 집행역만 q2 의 봉투를 읽는다 — "어떻게 팔 것인가"는 "팔 수 있는가"의 답 위에서만 성립하기 때문이다. 나머지 셋은 서로의 산출을 보지 않는다. 같은 결론으로 수렴하면 교차검증의 의미가 사라진다.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2/2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 — 다섯 데스크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새로운 해석을 만들지 않는다. 근거를 대고, 검사하고, 원장을 유지하고, 회의에 올린다.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969264"/>
                <a:gridCol w="2743200"/>
                <a:gridCol w="2523744"/>
                <a:gridCol w="26060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역할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계량역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방법론 근거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price_series · papers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(state=adopted 만)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해설 + limits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주간 재현 판정 검토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중 하나를 바꾸지 않는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논문은 채택 대상이 아니다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검산역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재검산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데스크의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원본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인용값 vs 원장값 대조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가정 스트레스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숫자를 고쳐 주지 않는다 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돌려보낸다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준법감시역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게이트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직전의 모든 산출물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SECTION_SOURCES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일곱 게이트 판정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승인 / 반려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하나라도 걸리면 발행 중단.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조용히 통과시키지 않는다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원장운영역  (쓰기 단독)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· 품질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KRX·DART·ECOS·KIS·FRED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.api_fields.json · stale_days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그날의 유일한 원장 쓰기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§10 품질 · 결측 경고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해석을 만들지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데스크만 ki.sqlite 에 쓴다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투자심의위원회 간사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조립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한 장으로 조립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 간 불일치 · 결측 쟁점화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의견 · 권고를 쓰지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쟁점을 정렬할 뿐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거부권은 실제로 발행을 멈추는 권한이다.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검산역과 준법감시 중 하나라도 반려하면 그날 회의자료에서 해당 질문이 통째로 빠지고, 그 자리에는 '반려됨 — 사유' 가 남는다. 빈칸으로 두지 않는다.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WHERE THE DATA COMES FROM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API 를 부르지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쓰는 것은 API 가 아니라 API 가 가져다 놓은 것이다. 네트워크 호출과 판단은 시각이 다르다.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11094415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11094415" cy="1316736"/>
          </a:xfrm>
          <a:prstGeom prst="rect">
            <a:avLst/>
          </a:prstGeom>
          <a:solidFill>
            <a:srgbClr val="13241A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719072"/>
            <a:ext cx="1371600" cy="13167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7922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128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있음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ingest-ops 단독 — 그날의 유일한 원장 쓰기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215798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   ──→   ki.sqlite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2450592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이때 받은 값이 기준일로 고정된다. 이후 모든 데스크가 같은 원장을 본다.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price_daily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9656064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index_daily</a:t>
            </a:r>
            <a:endParaRPr lang="en-US" sz="82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instruments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9656064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disclosure</a:t>
            </a:r>
            <a:endParaRPr lang="en-US" sz="82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fundamental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9656064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macro_daily</a:t>
            </a:r>
            <a:endParaRPr lang="en-US" sz="82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2670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alert_log</a:t>
            </a:r>
            <a:endParaRPr lang="en-US" sz="82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145536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════════════════════  하루의 경계  ════════════════════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525012"/>
            <a:ext cx="11094415" cy="14813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74720"/>
            <a:ext cx="11094415" cy="148132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474720"/>
            <a:ext cx="1371600" cy="14813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5844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0050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없음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36027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19개 — 원장만 읽는다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2103120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194560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facts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4498848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90288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6894576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986016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840" dirty="0"/>
          </a:p>
        </p:txBody>
      </p:sp>
      <p:sp>
        <p:nvSpPr>
          <p:cNvPr id="33" name="Shape 31"/>
          <p:cNvSpPr/>
          <p:nvPr/>
        </p:nvSpPr>
        <p:spPr>
          <a:xfrm>
            <a:off x="9290304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381744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calendar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2103120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194560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</a:t>
            </a:r>
            <a:endParaRPr lang="en-US" sz="840" dirty="0"/>
          </a:p>
        </p:txBody>
      </p:sp>
      <p:sp>
        <p:nvSpPr>
          <p:cNvPr id="37" name="Shape 35"/>
          <p:cNvSpPr/>
          <p:nvPr/>
        </p:nvSpPr>
        <p:spPr>
          <a:xfrm>
            <a:off x="4498848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90288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disclosures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6894576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986016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staleness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9290304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381744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papers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2103120" y="4608576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계산은 이미 끝나 있다 — 데스크는 읽고 서술할 뿐, 숫자를 만들지 않는다.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98932" y="5189220"/>
            <a:ext cx="4114800" cy="10972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5138928"/>
            <a:ext cx="4114800" cy="1097280"/>
          </a:xfrm>
          <a:prstGeom prst="rect">
            <a:avLst/>
          </a:prstGeom>
          <a:solidFill>
            <a:srgbClr val="241E1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52486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유일한 예외 — DART 원문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5522976"/>
            <a:ext cx="3785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접수번호와 제목까지만 있다. 발행조건·전환가·리픽싱 조항은 원문에 있으므로, 접수번호로 지정된 그 문서 한 건만 연다. 검색이 아니라 지정 조회다.</a:t>
            </a:r>
            <a:endParaRPr lang="en-US" sz="880" dirty="0"/>
          </a:p>
        </p:txBody>
      </p:sp>
      <p:sp>
        <p:nvSpPr>
          <p:cNvPr id="48" name="Shape 46"/>
          <p:cNvSpPr/>
          <p:nvPr/>
        </p:nvSpPr>
        <p:spPr>
          <a:xfrm>
            <a:off x="4914900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4864608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2624" y="5312664"/>
            <a:ext cx="146304" cy="146304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5212080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재생 가능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</a:t>
            </a:r>
            <a:endParaRPr lang="en-US" sz="860" dirty="0"/>
          </a:p>
        </p:txBody>
      </p:sp>
      <p:sp>
        <p:nvSpPr>
          <p:cNvPr id="53" name="Shape 50"/>
          <p:cNvSpPr/>
          <p:nvPr/>
        </p:nvSpPr>
        <p:spPr>
          <a:xfrm>
            <a:off x="8334756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1"/>
          <p:cNvSpPr/>
          <p:nvPr/>
        </p:nvSpPr>
        <p:spPr>
          <a:xfrm>
            <a:off x="8284464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5312664"/>
            <a:ext cx="146304" cy="146304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8631936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기준일 고정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9656064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데스크가 같은 날을 본다</a:t>
            </a:r>
            <a:endParaRPr lang="en-US" sz="860" dirty="0"/>
          </a:p>
        </p:txBody>
      </p:sp>
      <p:sp>
        <p:nvSpPr>
          <p:cNvPr id="58" name="Shape 54"/>
          <p:cNvSpPr/>
          <p:nvPr/>
        </p:nvSpPr>
        <p:spPr>
          <a:xfrm>
            <a:off x="4914900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5"/>
          <p:cNvSpPr/>
          <p:nvPr/>
        </p:nvSpPr>
        <p:spPr>
          <a:xfrm>
            <a:off x="4864608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5879592"/>
            <a:ext cx="146304" cy="146304"/>
          </a:xfrm>
          <a:prstGeom prst="rect">
            <a:avLst/>
          </a:prstGeom>
        </p:spPr>
      </p:pic>
      <p:sp>
        <p:nvSpPr>
          <p:cNvPr id="61" name="Text 56"/>
          <p:cNvSpPr txBox="1"/>
          <p:nvPr/>
        </p:nvSpPr>
        <p:spPr>
          <a:xfrm>
            <a:off x="5212080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오염 차단</a:t>
            </a:r>
            <a:endParaRPr lang="en-US" sz="900" dirty="0"/>
          </a:p>
        </p:txBody>
      </p:sp>
      <p:sp>
        <p:nvSpPr>
          <p:cNvPr id="62" name="Text 57"/>
          <p:cNvSpPr txBox="1"/>
          <p:nvPr/>
        </p:nvSpPr>
        <p:spPr>
          <a:xfrm>
            <a:off x="6236208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값이 일봉에 안 섞인다</a:t>
            </a:r>
            <a:endParaRPr lang="en-US" sz="860" dirty="0"/>
          </a:p>
        </p:txBody>
      </p:sp>
      <p:sp>
        <p:nvSpPr>
          <p:cNvPr id="63" name="Shape 58"/>
          <p:cNvSpPr/>
          <p:nvPr/>
        </p:nvSpPr>
        <p:spPr>
          <a:xfrm>
            <a:off x="8334756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9"/>
          <p:cNvSpPr/>
          <p:nvPr/>
        </p:nvSpPr>
        <p:spPr>
          <a:xfrm>
            <a:off x="8284464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5879592"/>
            <a:ext cx="146304" cy="146304"/>
          </a:xfrm>
          <a:prstGeom prst="rect">
            <a:avLst/>
          </a:prstGeom>
        </p:spPr>
      </p:pic>
      <p:sp>
        <p:nvSpPr>
          <p:cNvPr id="66" name="Text 60"/>
          <p:cNvSpPr txBox="1"/>
          <p:nvPr/>
        </p:nvSpPr>
        <p:spPr>
          <a:xfrm>
            <a:off x="8631936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감사 가능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9656064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어디서 왔는지 남는다</a:t>
            </a:r>
            <a:endParaRPr lang="en-US" sz="860" dirty="0"/>
          </a:p>
        </p:txBody>
      </p:sp>
      <p:sp>
        <p:nvSpPr>
          <p:cNvPr id="68" name="Text 62"/>
          <p:cNvSpPr txBox="1"/>
          <p:nvPr/>
        </p:nvSpPr>
        <p:spPr>
          <a:xfrm>
            <a:off x="4864608" y="6291072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원장에서, 원문은 링크로.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DYNAMIC AGENTS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상설은 셋뿐이다. 나머지 여섯은 불릴 때만 온다.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조직도를 고정하지 않는다. 아홉 데스크를 매일 전부 돌리는 대신, 그 질문의 답이 달라졌을 때만 띄운다.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402336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402336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105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 ·  상설 3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떠 있다. 하루의 리듬을 만든다.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49808" y="2468880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551176"/>
            <a:ext cx="402336" cy="40233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16736" y="252374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16736" y="27249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적재 · 품질 — 그날의 유일한 쓰기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493008" y="246888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쓰기 단독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749808" y="3255264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3337560"/>
            <a:ext cx="402336" cy="40233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16736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316736" y="351129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게이트 판정 · 발행 승인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3493008" y="3255264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거부권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49808" y="4041648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123944"/>
            <a:ext cx="402336" cy="40233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316736" y="409651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316736" y="42976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수집 · 쟁점 정렬 · 조립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3493008" y="4041648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조립만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4914900" y="1714500"/>
            <a:ext cx="6775704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0"/>
          <p:cNvSpPr/>
          <p:nvPr/>
        </p:nvSpPr>
        <p:spPr>
          <a:xfrm>
            <a:off x="4864608" y="1664208"/>
            <a:ext cx="6775704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084064" y="1810512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SPAWNED  ·  이벤트 소집 6 역할 × N 인스턴스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5084064" y="2066544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뜰 때만 인스턴스가 생기고, 봉투를 내면 사라진다. 상태를 들고 있지 않으므로 같은 입력이면 같은 결과가 나온다.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5084064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175504" y="2505456"/>
            <a:ext cx="91440" cy="31089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5340096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740" dirty="0"/>
          </a:p>
        </p:txBody>
      </p:sp>
      <p:sp>
        <p:nvSpPr>
          <p:cNvPr id="31" name="Text 26"/>
          <p:cNvSpPr txBox="1"/>
          <p:nvPr/>
        </p:nvSpPr>
        <p:spPr>
          <a:xfrm>
            <a:off x="5340096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 변동</a:t>
            </a:r>
            <a:endParaRPr lang="en-US" sz="800" dirty="0"/>
          </a:p>
        </p:txBody>
      </p:sp>
      <p:sp>
        <p:nvSpPr>
          <p:cNvPr id="32" name="Text 27"/>
          <p:cNvSpPr txBox="1"/>
          <p:nvPr/>
        </p:nvSpPr>
        <p:spPr>
          <a:xfrm>
            <a:off x="6729984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7242048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333488" y="2505456"/>
            <a:ext cx="91440" cy="31089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498080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740" dirty="0"/>
          </a:p>
        </p:txBody>
      </p:sp>
      <p:sp>
        <p:nvSpPr>
          <p:cNvPr id="36" name="Text 31"/>
          <p:cNvSpPr txBox="1"/>
          <p:nvPr/>
        </p:nvSpPr>
        <p:spPr>
          <a:xfrm>
            <a:off x="7498080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처분여건 변동</a:t>
            </a:r>
            <a:endParaRPr lang="en-US" sz="800" dirty="0"/>
          </a:p>
        </p:txBody>
      </p:sp>
      <p:sp>
        <p:nvSpPr>
          <p:cNvPr id="37" name="Text 32"/>
          <p:cNvSpPr txBox="1"/>
          <p:nvPr/>
        </p:nvSpPr>
        <p:spPr>
          <a:xfrm>
            <a:off x="8887968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9400032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9491472" y="2505456"/>
            <a:ext cx="91440" cy="31089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9656064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740" dirty="0"/>
          </a:p>
        </p:txBody>
      </p:sp>
      <p:sp>
        <p:nvSpPr>
          <p:cNvPr id="41" name="Text 36"/>
          <p:cNvSpPr txBox="1"/>
          <p:nvPr/>
        </p:nvSpPr>
        <p:spPr>
          <a:xfrm>
            <a:off x="9656064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 봉투 갱신</a:t>
            </a:r>
            <a:endParaRPr lang="en-US" sz="800" dirty="0"/>
          </a:p>
        </p:txBody>
      </p:sp>
      <p:sp>
        <p:nvSpPr>
          <p:cNvPr id="42" name="Text 37"/>
          <p:cNvSpPr txBox="1"/>
          <p:nvPr/>
        </p:nvSpPr>
        <p:spPr>
          <a:xfrm>
            <a:off x="11045952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3" name="Shape 38"/>
          <p:cNvSpPr/>
          <p:nvPr/>
        </p:nvSpPr>
        <p:spPr>
          <a:xfrm>
            <a:off x="5084064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5175504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5340096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740" dirty="0"/>
          </a:p>
        </p:txBody>
      </p:sp>
      <p:sp>
        <p:nvSpPr>
          <p:cNvPr id="46" name="Text 41"/>
          <p:cNvSpPr txBox="1"/>
          <p:nvPr/>
        </p:nvSpPr>
        <p:spPr>
          <a:xfrm>
            <a:off x="5340096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· 일정</a:t>
            </a:r>
            <a:endParaRPr lang="en-US" sz="800" dirty="0"/>
          </a:p>
        </p:txBody>
      </p:sp>
      <p:sp>
        <p:nvSpPr>
          <p:cNvPr id="47" name="Text 42"/>
          <p:cNvSpPr txBox="1"/>
          <p:nvPr/>
        </p:nvSpPr>
        <p:spPr>
          <a:xfrm>
            <a:off x="6729984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7242048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4"/>
          <p:cNvSpPr/>
          <p:nvPr/>
        </p:nvSpPr>
        <p:spPr>
          <a:xfrm>
            <a:off x="7333488" y="3145536"/>
            <a:ext cx="91440" cy="31089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7498080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740" dirty="0"/>
          </a:p>
        </p:txBody>
      </p:sp>
      <p:sp>
        <p:nvSpPr>
          <p:cNvPr id="51" name="Text 46"/>
          <p:cNvSpPr txBox="1"/>
          <p:nvPr/>
        </p:nvSpPr>
        <p:spPr>
          <a:xfrm>
            <a:off x="7498080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재현</a:t>
            </a:r>
            <a:endParaRPr lang="en-US" sz="800" dirty="0"/>
          </a:p>
        </p:txBody>
      </p:sp>
      <p:sp>
        <p:nvSpPr>
          <p:cNvPr id="52" name="Text 47"/>
          <p:cNvSpPr txBox="1"/>
          <p:nvPr/>
        </p:nvSpPr>
        <p:spPr>
          <a:xfrm>
            <a:off x="8887968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3" name="Shape 48"/>
          <p:cNvSpPr/>
          <p:nvPr/>
        </p:nvSpPr>
        <p:spPr>
          <a:xfrm>
            <a:off x="9400032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4" name="Shape 49"/>
          <p:cNvSpPr/>
          <p:nvPr/>
        </p:nvSpPr>
        <p:spPr>
          <a:xfrm>
            <a:off x="9491472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9656064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740" dirty="0"/>
          </a:p>
        </p:txBody>
      </p:sp>
      <p:sp>
        <p:nvSpPr>
          <p:cNvPr id="56" name="Text 51"/>
          <p:cNvSpPr txBox="1"/>
          <p:nvPr/>
        </p:nvSpPr>
        <p:spPr>
          <a:xfrm>
            <a:off x="9656064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묶음</a:t>
            </a:r>
            <a:endParaRPr lang="en-US" sz="800" dirty="0"/>
          </a:p>
        </p:txBody>
      </p:sp>
      <p:sp>
        <p:nvSpPr>
          <p:cNvPr id="57" name="Text 52"/>
          <p:cNvSpPr txBox="1"/>
          <p:nvPr/>
        </p:nvSpPr>
        <p:spPr>
          <a:xfrm>
            <a:off x="11045952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8" name="Shape 53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4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소집인가 — 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85종목 × 종목단위 3데스크를 매일 돌리면 255회다. 어제와 달라진 것이 없는 종목을 다시 읽는 것은 같은 답을 다시 사는 일이다. 질문의 답이 달라진 곳에만 예산을 쓴다.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LIFECYCLE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 → 작업 → 봉투 → 소멸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세션을 갖지 않는다. 기억을 들고 있지 않으므로, 어제의 오해가 오늘로 넘어오지 않는다.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472" y="1901952"/>
            <a:ext cx="731520" cy="7315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94944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94944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입력을 확정해서 넘긴다.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종목코드 · 공시 접수번호 · 기준일.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밖의 것은 볼 수 없다.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3393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9"/>
          <p:cNvSpPr/>
          <p:nvPr/>
        </p:nvSpPr>
        <p:spPr>
          <a:xfrm>
            <a:off x="93726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0"/>
          <p:cNvSpPr/>
          <p:nvPr/>
        </p:nvSpPr>
        <p:spPr>
          <a:xfrm>
            <a:off x="1040587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1"/>
          <p:cNvSpPr/>
          <p:nvPr/>
        </p:nvSpPr>
        <p:spPr>
          <a:xfrm>
            <a:off x="11439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2"/>
          <p:cNvSpPr/>
          <p:nvPr/>
        </p:nvSpPr>
        <p:spPr>
          <a:xfrm>
            <a:off x="124724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3"/>
          <p:cNvSpPr/>
          <p:nvPr/>
        </p:nvSpPr>
        <p:spPr>
          <a:xfrm>
            <a:off x="135056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4"/>
          <p:cNvSpPr/>
          <p:nvPr/>
        </p:nvSpPr>
        <p:spPr>
          <a:xfrm>
            <a:off x="145389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5"/>
          <p:cNvSpPr/>
          <p:nvPr/>
        </p:nvSpPr>
        <p:spPr>
          <a:xfrm>
            <a:off x="155722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6"/>
          <p:cNvSpPr/>
          <p:nvPr/>
        </p:nvSpPr>
        <p:spPr>
          <a:xfrm>
            <a:off x="16605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7"/>
          <p:cNvSpPr/>
          <p:nvPr/>
        </p:nvSpPr>
        <p:spPr>
          <a:xfrm>
            <a:off x="176387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8"/>
          <p:cNvSpPr/>
          <p:nvPr/>
        </p:nvSpPr>
        <p:spPr>
          <a:xfrm>
            <a:off x="186720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19"/>
          <p:cNvSpPr/>
          <p:nvPr/>
        </p:nvSpPr>
        <p:spPr>
          <a:xfrm>
            <a:off x="197053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0"/>
          <p:cNvSpPr/>
          <p:nvPr/>
        </p:nvSpPr>
        <p:spPr>
          <a:xfrm>
            <a:off x="207385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718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2"/>
          <p:cNvSpPr/>
          <p:nvPr/>
        </p:nvSpPr>
        <p:spPr>
          <a:xfrm>
            <a:off x="22805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3"/>
          <p:cNvSpPr/>
          <p:nvPr/>
        </p:nvSpPr>
        <p:spPr>
          <a:xfrm>
            <a:off x="2383841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4"/>
          <p:cNvSpPr/>
          <p:nvPr/>
        </p:nvSpPr>
        <p:spPr>
          <a:xfrm>
            <a:off x="248716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5"/>
          <p:cNvSpPr/>
          <p:nvPr/>
        </p:nvSpPr>
        <p:spPr>
          <a:xfrm>
            <a:off x="259049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6"/>
          <p:cNvSpPr/>
          <p:nvPr/>
        </p:nvSpPr>
        <p:spPr>
          <a:xfrm>
            <a:off x="269382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7"/>
          <p:cNvSpPr/>
          <p:nvPr/>
        </p:nvSpPr>
        <p:spPr>
          <a:xfrm>
            <a:off x="27971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139696"/>
            <a:ext cx="274320" cy="173736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3451860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9"/>
          <p:cNvSpPr/>
          <p:nvPr/>
        </p:nvSpPr>
        <p:spPr>
          <a:xfrm>
            <a:off x="3401568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4343400" y="1901952"/>
            <a:ext cx="731520" cy="7315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3547872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3547872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3566160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허용된 MCP 읽기 도구만 부른다.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예산(토큰·호출수)이 정해져 있고,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그대로 중단된다.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68686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9" name="Shape 34"/>
          <p:cNvSpPr/>
          <p:nvPr/>
        </p:nvSpPr>
        <p:spPr>
          <a:xfrm>
            <a:off x="379018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0" name="Shape 35"/>
          <p:cNvSpPr/>
          <p:nvPr/>
        </p:nvSpPr>
        <p:spPr>
          <a:xfrm>
            <a:off x="3893515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1" name="Shape 36"/>
          <p:cNvSpPr/>
          <p:nvPr/>
        </p:nvSpPr>
        <p:spPr>
          <a:xfrm>
            <a:off x="39968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2" name="Shape 37"/>
          <p:cNvSpPr/>
          <p:nvPr/>
        </p:nvSpPr>
        <p:spPr>
          <a:xfrm>
            <a:off x="410017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3" name="Shape 38"/>
          <p:cNvSpPr/>
          <p:nvPr/>
        </p:nvSpPr>
        <p:spPr>
          <a:xfrm>
            <a:off x="420349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4" name="Shape 39"/>
          <p:cNvSpPr/>
          <p:nvPr/>
        </p:nvSpPr>
        <p:spPr>
          <a:xfrm>
            <a:off x="430682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5" name="Shape 40"/>
          <p:cNvSpPr/>
          <p:nvPr/>
        </p:nvSpPr>
        <p:spPr>
          <a:xfrm>
            <a:off x="441015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6" name="Shape 41"/>
          <p:cNvSpPr/>
          <p:nvPr/>
        </p:nvSpPr>
        <p:spPr>
          <a:xfrm>
            <a:off x="451347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7" name="Shape 42"/>
          <p:cNvSpPr/>
          <p:nvPr/>
        </p:nvSpPr>
        <p:spPr>
          <a:xfrm>
            <a:off x="4616806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8" name="Shape 43"/>
          <p:cNvSpPr/>
          <p:nvPr/>
        </p:nvSpPr>
        <p:spPr>
          <a:xfrm>
            <a:off x="4720133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9" name="Shape 44"/>
          <p:cNvSpPr/>
          <p:nvPr/>
        </p:nvSpPr>
        <p:spPr>
          <a:xfrm>
            <a:off x="482346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0" name="Shape 45"/>
          <p:cNvSpPr/>
          <p:nvPr/>
        </p:nvSpPr>
        <p:spPr>
          <a:xfrm>
            <a:off x="492678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1" name="Shape 46"/>
          <p:cNvSpPr/>
          <p:nvPr/>
        </p:nvSpPr>
        <p:spPr>
          <a:xfrm>
            <a:off x="503011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2" name="Shape 47"/>
          <p:cNvSpPr/>
          <p:nvPr/>
        </p:nvSpPr>
        <p:spPr>
          <a:xfrm>
            <a:off x="51334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3" name="Shape 48"/>
          <p:cNvSpPr/>
          <p:nvPr/>
        </p:nvSpPr>
        <p:spPr>
          <a:xfrm>
            <a:off x="523676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49"/>
          <p:cNvSpPr/>
          <p:nvPr/>
        </p:nvSpPr>
        <p:spPr>
          <a:xfrm>
            <a:off x="534009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0"/>
          <p:cNvSpPr/>
          <p:nvPr/>
        </p:nvSpPr>
        <p:spPr>
          <a:xfrm>
            <a:off x="544342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1"/>
          <p:cNvSpPr/>
          <p:nvPr/>
        </p:nvSpPr>
        <p:spPr>
          <a:xfrm>
            <a:off x="554675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2"/>
          <p:cNvSpPr/>
          <p:nvPr/>
        </p:nvSpPr>
        <p:spPr>
          <a:xfrm>
            <a:off x="56500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328" y="2139696"/>
            <a:ext cx="274320" cy="173736"/>
          </a:xfrm>
          <a:prstGeom prst="rect">
            <a:avLst/>
          </a:prstGeom>
        </p:spPr>
      </p:pic>
      <p:sp>
        <p:nvSpPr>
          <p:cNvPr id="59" name="Shape 53"/>
          <p:cNvSpPr/>
          <p:nvPr/>
        </p:nvSpPr>
        <p:spPr>
          <a:xfrm>
            <a:off x="6304788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4"/>
          <p:cNvSpPr/>
          <p:nvPr/>
        </p:nvSpPr>
        <p:spPr>
          <a:xfrm>
            <a:off x="6254496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7196328" y="1901952"/>
            <a:ext cx="731520" cy="731520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6400800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ENVELOPE</a:t>
            </a:r>
            <a:endParaRPr lang="en-US" sz="1050" dirty="0"/>
          </a:p>
        </p:txBody>
      </p:sp>
      <p:sp>
        <p:nvSpPr>
          <p:cNvPr id="63" name="Text 56"/>
          <p:cNvSpPr txBox="1"/>
          <p:nvPr/>
        </p:nvSpPr>
        <p:spPr>
          <a:xfrm>
            <a:off x="6400800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</a:t>
            </a:r>
            <a:endParaRPr lang="en-US" sz="1800" dirty="0"/>
          </a:p>
        </p:txBody>
      </p:sp>
      <p:sp>
        <p:nvSpPr>
          <p:cNvPr id="64" name="Text 57"/>
          <p:cNvSpPr txBox="1"/>
          <p:nvPr/>
        </p:nvSpPr>
        <p:spPr>
          <a:xfrm>
            <a:off x="6419088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 + 등급 + 가정 + 한계.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스키마를 못 맞추면 산출이 아니라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실패로 기록된다.</a:t>
            </a:r>
            <a:endParaRPr lang="en-US" sz="1000" dirty="0"/>
          </a:p>
        </p:txBody>
      </p:sp>
      <p:sp>
        <p:nvSpPr>
          <p:cNvPr id="65" name="Shape 58"/>
          <p:cNvSpPr/>
          <p:nvPr/>
        </p:nvSpPr>
        <p:spPr>
          <a:xfrm>
            <a:off x="653978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59"/>
          <p:cNvSpPr/>
          <p:nvPr/>
        </p:nvSpPr>
        <p:spPr>
          <a:xfrm>
            <a:off x="664311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0"/>
          <p:cNvSpPr/>
          <p:nvPr/>
        </p:nvSpPr>
        <p:spPr>
          <a:xfrm>
            <a:off x="6746443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1"/>
          <p:cNvSpPr/>
          <p:nvPr/>
        </p:nvSpPr>
        <p:spPr>
          <a:xfrm>
            <a:off x="6849770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2"/>
          <p:cNvSpPr/>
          <p:nvPr/>
        </p:nvSpPr>
        <p:spPr>
          <a:xfrm>
            <a:off x="6953098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3"/>
          <p:cNvSpPr/>
          <p:nvPr/>
        </p:nvSpPr>
        <p:spPr>
          <a:xfrm>
            <a:off x="7056425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4"/>
          <p:cNvSpPr/>
          <p:nvPr/>
        </p:nvSpPr>
        <p:spPr>
          <a:xfrm>
            <a:off x="7159752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65"/>
          <p:cNvSpPr/>
          <p:nvPr/>
        </p:nvSpPr>
        <p:spPr>
          <a:xfrm>
            <a:off x="726307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66"/>
          <p:cNvSpPr/>
          <p:nvPr/>
        </p:nvSpPr>
        <p:spPr>
          <a:xfrm>
            <a:off x="736640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67"/>
          <p:cNvSpPr/>
          <p:nvPr/>
        </p:nvSpPr>
        <p:spPr>
          <a:xfrm>
            <a:off x="7469734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5" name="Shape 68"/>
          <p:cNvSpPr/>
          <p:nvPr/>
        </p:nvSpPr>
        <p:spPr>
          <a:xfrm>
            <a:off x="757306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Shape 69"/>
          <p:cNvSpPr/>
          <p:nvPr/>
        </p:nvSpPr>
        <p:spPr>
          <a:xfrm>
            <a:off x="767638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7" name="Shape 70"/>
          <p:cNvSpPr/>
          <p:nvPr/>
        </p:nvSpPr>
        <p:spPr>
          <a:xfrm>
            <a:off x="777971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8" name="Shape 71"/>
          <p:cNvSpPr/>
          <p:nvPr/>
        </p:nvSpPr>
        <p:spPr>
          <a:xfrm>
            <a:off x="788304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9" name="Shape 72"/>
          <p:cNvSpPr/>
          <p:nvPr/>
        </p:nvSpPr>
        <p:spPr>
          <a:xfrm>
            <a:off x="79863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0" name="Shape 73"/>
          <p:cNvSpPr/>
          <p:nvPr/>
        </p:nvSpPr>
        <p:spPr>
          <a:xfrm>
            <a:off x="808969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1" name="Shape 74"/>
          <p:cNvSpPr/>
          <p:nvPr/>
        </p:nvSpPr>
        <p:spPr>
          <a:xfrm>
            <a:off x="819302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2" name="Shape 75"/>
          <p:cNvSpPr/>
          <p:nvPr/>
        </p:nvSpPr>
        <p:spPr>
          <a:xfrm>
            <a:off x="829635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3" name="Shape 76"/>
          <p:cNvSpPr/>
          <p:nvPr/>
        </p:nvSpPr>
        <p:spPr>
          <a:xfrm>
            <a:off x="83996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4" name="Shape 77"/>
          <p:cNvSpPr/>
          <p:nvPr/>
        </p:nvSpPr>
        <p:spPr>
          <a:xfrm>
            <a:off x="85030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6256" y="2139696"/>
            <a:ext cx="274320" cy="173736"/>
          </a:xfrm>
          <a:prstGeom prst="rect">
            <a:avLst/>
          </a:prstGeom>
        </p:spPr>
      </p:pic>
      <p:sp>
        <p:nvSpPr>
          <p:cNvPr id="86" name="Shape 78"/>
          <p:cNvSpPr/>
          <p:nvPr/>
        </p:nvSpPr>
        <p:spPr>
          <a:xfrm>
            <a:off x="9157716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79"/>
          <p:cNvSpPr/>
          <p:nvPr/>
        </p:nvSpPr>
        <p:spPr>
          <a:xfrm>
            <a:off x="9107424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>
            <a:alphaModFix amt="15000"/>
          </a:blip>
          <a:stretch>
            <a:fillRect/>
          </a:stretch>
        </p:blipFill>
        <p:spPr>
          <a:xfrm>
            <a:off x="10049256" y="1901952"/>
            <a:ext cx="731520" cy="731520"/>
          </a:xfrm>
          <a:prstGeom prst="rect">
            <a:avLst/>
          </a:prstGeom>
        </p:spPr>
      </p:pic>
      <p:sp>
        <p:nvSpPr>
          <p:cNvPr id="89" name="Text 80"/>
          <p:cNvSpPr txBox="1"/>
          <p:nvPr/>
        </p:nvSpPr>
        <p:spPr>
          <a:xfrm>
            <a:off x="9253728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DISSOLVE</a:t>
            </a:r>
            <a:endParaRPr lang="en-US" sz="1050" dirty="0"/>
          </a:p>
        </p:txBody>
      </p:sp>
      <p:sp>
        <p:nvSpPr>
          <p:cNvPr id="90" name="Text 81"/>
          <p:cNvSpPr txBox="1"/>
          <p:nvPr/>
        </p:nvSpPr>
        <p:spPr>
          <a:xfrm>
            <a:off x="9253728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소멸</a:t>
            </a:r>
            <a:endParaRPr lang="en-US" sz="1800" dirty="0"/>
          </a:p>
        </p:txBody>
      </p:sp>
      <p:sp>
        <p:nvSpPr>
          <p:cNvPr id="91" name="Text 82"/>
          <p:cNvSpPr txBox="1"/>
          <p:nvPr/>
        </p:nvSpPr>
        <p:spPr>
          <a:xfrm>
            <a:off x="9272016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사라진다.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것은 봉투와 실행 로그뿐 —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재생 가능하다.</a:t>
            </a:r>
            <a:endParaRPr lang="en-US" sz="1000" dirty="0"/>
          </a:p>
        </p:txBody>
      </p:sp>
      <p:sp>
        <p:nvSpPr>
          <p:cNvPr id="92" name="Shape 83"/>
          <p:cNvSpPr/>
          <p:nvPr/>
        </p:nvSpPr>
        <p:spPr>
          <a:xfrm>
            <a:off x="9392717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3" name="Shape 84"/>
          <p:cNvSpPr/>
          <p:nvPr/>
        </p:nvSpPr>
        <p:spPr>
          <a:xfrm>
            <a:off x="9496044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4" name="Shape 85"/>
          <p:cNvSpPr/>
          <p:nvPr/>
        </p:nvSpPr>
        <p:spPr>
          <a:xfrm>
            <a:off x="9599371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5" name="Shape 86"/>
          <p:cNvSpPr/>
          <p:nvPr/>
        </p:nvSpPr>
        <p:spPr>
          <a:xfrm>
            <a:off x="97026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6" name="Shape 87"/>
          <p:cNvSpPr/>
          <p:nvPr/>
        </p:nvSpPr>
        <p:spPr>
          <a:xfrm>
            <a:off x="980602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88"/>
          <p:cNvSpPr/>
          <p:nvPr/>
        </p:nvSpPr>
        <p:spPr>
          <a:xfrm>
            <a:off x="990935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89"/>
          <p:cNvSpPr/>
          <p:nvPr/>
        </p:nvSpPr>
        <p:spPr>
          <a:xfrm>
            <a:off x="1001268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0"/>
          <p:cNvSpPr/>
          <p:nvPr/>
        </p:nvSpPr>
        <p:spPr>
          <a:xfrm>
            <a:off x="1011600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0" name="Shape 91"/>
          <p:cNvSpPr/>
          <p:nvPr/>
        </p:nvSpPr>
        <p:spPr>
          <a:xfrm>
            <a:off x="102193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1" name="Shape 92"/>
          <p:cNvSpPr/>
          <p:nvPr/>
        </p:nvSpPr>
        <p:spPr>
          <a:xfrm>
            <a:off x="1032266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2" name="Shape 93"/>
          <p:cNvSpPr/>
          <p:nvPr/>
        </p:nvSpPr>
        <p:spPr>
          <a:xfrm>
            <a:off x="1042598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3" name="Shape 94"/>
          <p:cNvSpPr/>
          <p:nvPr/>
        </p:nvSpPr>
        <p:spPr>
          <a:xfrm>
            <a:off x="1052931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4" name="Shape 95"/>
          <p:cNvSpPr/>
          <p:nvPr/>
        </p:nvSpPr>
        <p:spPr>
          <a:xfrm>
            <a:off x="1063264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5" name="Shape 96"/>
          <p:cNvSpPr/>
          <p:nvPr/>
        </p:nvSpPr>
        <p:spPr>
          <a:xfrm>
            <a:off x="107359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6" name="Shape 97"/>
          <p:cNvSpPr/>
          <p:nvPr/>
        </p:nvSpPr>
        <p:spPr>
          <a:xfrm>
            <a:off x="108392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7" name="Shape 98"/>
          <p:cNvSpPr/>
          <p:nvPr/>
        </p:nvSpPr>
        <p:spPr>
          <a:xfrm>
            <a:off x="1094262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8" name="Shape 99"/>
          <p:cNvSpPr/>
          <p:nvPr/>
        </p:nvSpPr>
        <p:spPr>
          <a:xfrm>
            <a:off x="1104595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9" name="Shape 100"/>
          <p:cNvSpPr/>
          <p:nvPr/>
        </p:nvSpPr>
        <p:spPr>
          <a:xfrm>
            <a:off x="1114927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0" name="Shape 101"/>
          <p:cNvSpPr/>
          <p:nvPr/>
        </p:nvSpPr>
        <p:spPr>
          <a:xfrm>
            <a:off x="112526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1" name="Shape 102"/>
          <p:cNvSpPr/>
          <p:nvPr/>
        </p:nvSpPr>
        <p:spPr>
          <a:xfrm>
            <a:off x="113559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2" name="Shape 103"/>
          <p:cNvSpPr/>
          <p:nvPr/>
        </p:nvSpPr>
        <p:spPr>
          <a:xfrm>
            <a:off x="598932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3" name="Shape 104"/>
          <p:cNvSpPr/>
          <p:nvPr/>
        </p:nvSpPr>
        <p:spPr>
          <a:xfrm>
            <a:off x="548640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4" name="Text 105"/>
          <p:cNvSpPr txBox="1"/>
          <p:nvPr/>
        </p:nvSpPr>
        <p:spPr>
          <a:xfrm>
            <a:off x="713232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무상태 (stateless)</a:t>
            </a:r>
            <a:endParaRPr lang="en-US" sz="1150" dirty="0"/>
          </a:p>
        </p:txBody>
      </p:sp>
      <p:sp>
        <p:nvSpPr>
          <p:cNvPr id="115" name="Text 106"/>
          <p:cNvSpPr txBox="1"/>
          <p:nvPr/>
        </p:nvSpPr>
        <p:spPr>
          <a:xfrm>
            <a:off x="713232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봉투. 어제 무엇을 봤는지 기억하지 않는다.</a:t>
            </a:r>
            <a:endParaRPr lang="en-US" sz="950" dirty="0"/>
          </a:p>
        </p:txBody>
      </p:sp>
      <p:sp>
        <p:nvSpPr>
          <p:cNvPr id="116" name="Shape 107"/>
          <p:cNvSpPr/>
          <p:nvPr/>
        </p:nvSpPr>
        <p:spPr>
          <a:xfrm>
            <a:off x="3451860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7" name="Shape 108"/>
          <p:cNvSpPr/>
          <p:nvPr/>
        </p:nvSpPr>
        <p:spPr>
          <a:xfrm>
            <a:off x="3401568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8" name="Text 109"/>
          <p:cNvSpPr txBox="1"/>
          <p:nvPr/>
        </p:nvSpPr>
        <p:spPr>
          <a:xfrm>
            <a:off x="3566160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제한</a:t>
            </a:r>
            <a:endParaRPr lang="en-US" sz="1150" dirty="0"/>
          </a:p>
        </p:txBody>
      </p:sp>
      <p:sp>
        <p:nvSpPr>
          <p:cNvPr id="119" name="Text 110"/>
          <p:cNvSpPr txBox="1"/>
          <p:nvPr/>
        </p:nvSpPr>
        <p:spPr>
          <a:xfrm>
            <a:off x="3566160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인스턴스마다 호출·토큰 상한. 초과하면 '미완'으로 끝나지 조용히 넘어가지 않는다.</a:t>
            </a:r>
            <a:endParaRPr lang="en-US" sz="950" dirty="0"/>
          </a:p>
        </p:txBody>
      </p:sp>
      <p:sp>
        <p:nvSpPr>
          <p:cNvPr id="120" name="Shape 111"/>
          <p:cNvSpPr/>
          <p:nvPr/>
        </p:nvSpPr>
        <p:spPr>
          <a:xfrm>
            <a:off x="6304788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1" name="Shape 112"/>
          <p:cNvSpPr/>
          <p:nvPr/>
        </p:nvSpPr>
        <p:spPr>
          <a:xfrm>
            <a:off x="6254496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2" name="Text 113"/>
          <p:cNvSpPr txBox="1"/>
          <p:nvPr/>
        </p:nvSpPr>
        <p:spPr>
          <a:xfrm>
            <a:off x="6419088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</a:t>
            </a:r>
            <a:endParaRPr lang="en-US" sz="1150" dirty="0"/>
          </a:p>
        </p:txBody>
      </p:sp>
      <p:sp>
        <p:nvSpPr>
          <p:cNvPr id="123" name="Text 114"/>
          <p:cNvSpPr txBox="1"/>
          <p:nvPr/>
        </p:nvSpPr>
        <p:spPr>
          <a:xfrm>
            <a:off x="6419088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인스턴스의 산출을 보지 않는다. 수렴하면 교차검증의 의미가 사라진다.</a:t>
            </a:r>
            <a:endParaRPr lang="en-US" sz="950" dirty="0"/>
          </a:p>
        </p:txBody>
      </p:sp>
      <p:sp>
        <p:nvSpPr>
          <p:cNvPr id="124" name="Shape 115"/>
          <p:cNvSpPr/>
          <p:nvPr/>
        </p:nvSpPr>
        <p:spPr>
          <a:xfrm>
            <a:off x="9157716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5" name="Shape 116"/>
          <p:cNvSpPr/>
          <p:nvPr/>
        </p:nvSpPr>
        <p:spPr>
          <a:xfrm>
            <a:off x="9107424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6" name="Text 117"/>
          <p:cNvSpPr txBox="1"/>
          <p:nvPr/>
        </p:nvSpPr>
        <p:spPr>
          <a:xfrm>
            <a:off x="9272016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 가능</a:t>
            </a:r>
            <a:endParaRPr lang="en-US" sz="1150" dirty="0"/>
          </a:p>
        </p:txBody>
      </p:sp>
      <p:sp>
        <p:nvSpPr>
          <p:cNvPr id="127" name="Text 118"/>
          <p:cNvSpPr txBox="1"/>
          <p:nvPr/>
        </p:nvSpPr>
        <p:spPr>
          <a:xfrm>
            <a:off x="9272016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로그로 같은 인스턴스를 다시 띄워 결과를 대조할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TRIGGERS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누구를 부르는가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트리거는 원장의 변화에서 나온다. 사람이 부르는 것이 아니라 데이터가 부른다.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432304"/>
                <a:gridCol w="2487168"/>
                <a:gridCol w="1773936"/>
                <a:gridCol w="960120"/>
                <a:gridCol w="343814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트리거 (원장의 변화)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소집되는 데스크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넘겨받는 입력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상한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산출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희석/지분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자본구조·희석 재계산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실적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 갱신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그 밖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이벤트로 시점 판단에 반영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종가 ±8% 이상 변동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 · 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기준일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처분여건 재계산 · 숫자 재검산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 만료 D-30 진입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 · 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해제일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물량 압력 · 시점 (등급 '추정')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ECOS·캘린더 갱신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키 목록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서술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재검 기한 도래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3편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→ 장부 append (T3)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묶음 완성 · 게이트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 · 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 봉투 전량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재검산 → 게이트 ①~⑦ → 발행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없으면 아무도 소집되지 않는다.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조용한 것이 정상이다 — 할 말이 없는데 데스크를 돌려 말을 만들게 하는 것이 이 구조가 막으려는 실패다. 상설 셋(data-ops · compliance-officer · ic-chair)은 그래도 매일 돈다.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LOAD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실행 대비 실제 부하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20영업일 시뮬레이션. 전수 방식은 종목수에 고정으로 묶이고, 이벤트 방식은 그날 일어난 일의 수만큼만 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758952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758952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810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일별 에이전트 인스턴스 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08483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— 감시 85종목 · 종목단위 데스크 3 (q1·q2·q3) · 공시 발생률 6% · ±8% 변동 발생률 4%</a:t>
            </a:r>
            <a:endParaRPr lang="en-US" sz="9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" y="2377440"/>
          <a:ext cx="72237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389620" y="1732788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8339328" y="1682496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40496" y="17922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3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5,100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540496" y="21762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· 20일 누계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40496" y="235915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389620" y="2747772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8339328" y="2697480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40496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A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788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8540496" y="31912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· 20일 누계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40496" y="33741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8389620" y="3762756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8"/>
          <p:cNvSpPr/>
          <p:nvPr/>
        </p:nvSpPr>
        <p:spPr>
          <a:xfrm>
            <a:off x="8339328" y="3712464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40496" y="3822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-85%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8540496" y="4206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 감소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40496" y="43891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89620" y="4777740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3"/>
          <p:cNvSpPr/>
          <p:nvPr/>
        </p:nvSpPr>
        <p:spPr>
          <a:xfrm>
            <a:off x="8339328" y="4727448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540496" y="48371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8540496" y="52212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피크일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40496" y="540410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D18 · 공시 집중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98932" y="581101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48640" y="5760720"/>
            <a:ext cx="11094415" cy="5303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86384" y="5760720"/>
            <a:ext cx="106189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절감이 아니라 피크다.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방식은 조용한 날에도 255를 쓰느라, 정작 공시가 몰린 날(D18)에 더 깊이 볼 여력이 없다. 이벤트 방식은 그날 예산을 그날 일에 쓴다.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발생률은 여전히 가정값이다. 역산기는 들어갔고(run_day.py --stage convene) 실측에는 원장이 필요하다 — 이 수치는 아직 실측이 아니다.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ESCALATION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일에 비싼 모델을 쓰지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인스턴스가 같은 급일 필요는 없다. 아래에서 시작해, 걸리는 것만 위로 올린다.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경량  ·  정형 추출 · 분류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700784" y="2176272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제목에서 종류 판별, 값 파싱, 스키마 채우기처럼 답이 하나로 정해지는 일.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1175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9501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2187245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24989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2662733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0047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313822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8" name="Shape 16"/>
          <p:cNvSpPr/>
          <p:nvPr/>
        </p:nvSpPr>
        <p:spPr>
          <a:xfrm>
            <a:off x="337596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9" name="Shape 17"/>
          <p:cNvSpPr/>
          <p:nvPr/>
        </p:nvSpPr>
        <p:spPr>
          <a:xfrm>
            <a:off x="361370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0" name="Shape 18"/>
          <p:cNvSpPr/>
          <p:nvPr/>
        </p:nvSpPr>
        <p:spPr>
          <a:xfrm>
            <a:off x="385145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1" name="Shape 19"/>
          <p:cNvSpPr/>
          <p:nvPr/>
        </p:nvSpPr>
        <p:spPr>
          <a:xfrm>
            <a:off x="408919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94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3" name="Shape 21"/>
          <p:cNvSpPr/>
          <p:nvPr/>
        </p:nvSpPr>
        <p:spPr>
          <a:xfrm>
            <a:off x="456468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4" name="Shape 22"/>
          <p:cNvSpPr/>
          <p:nvPr/>
        </p:nvSpPr>
        <p:spPr>
          <a:xfrm>
            <a:off x="480242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5" name="Shape 23"/>
          <p:cNvSpPr/>
          <p:nvPr/>
        </p:nvSpPr>
        <p:spPr>
          <a:xfrm>
            <a:off x="504017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6" name="Shape 24"/>
          <p:cNvSpPr/>
          <p:nvPr/>
        </p:nvSpPr>
        <p:spPr>
          <a:xfrm>
            <a:off x="527791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7" name="Shape 25"/>
          <p:cNvSpPr/>
          <p:nvPr/>
        </p:nvSpPr>
        <p:spPr>
          <a:xfrm>
            <a:off x="551566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8" name="Shape 26"/>
          <p:cNvSpPr/>
          <p:nvPr/>
        </p:nvSpPr>
        <p:spPr>
          <a:xfrm>
            <a:off x="575340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9" name="Shape 27"/>
          <p:cNvSpPr/>
          <p:nvPr/>
        </p:nvSpPr>
        <p:spPr>
          <a:xfrm>
            <a:off x="599114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0" name="Shape 28"/>
          <p:cNvSpPr/>
          <p:nvPr/>
        </p:nvSpPr>
        <p:spPr>
          <a:xfrm>
            <a:off x="622889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8368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~70%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98932" y="3049524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2999232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700784" y="31638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 ·  해석 · 서술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700784" y="3474720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측정값을 읽고 §5·§6 초안을 쓰는 일. 대부분의 데스크 산출이 여기서 나온다.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71175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Shape 37"/>
          <p:cNvSpPr/>
          <p:nvPr/>
        </p:nvSpPr>
        <p:spPr>
          <a:xfrm>
            <a:off x="194950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0" name="Shape 38"/>
          <p:cNvSpPr/>
          <p:nvPr/>
        </p:nvSpPr>
        <p:spPr>
          <a:xfrm>
            <a:off x="218724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Shape 39"/>
          <p:cNvSpPr/>
          <p:nvPr/>
        </p:nvSpPr>
        <p:spPr>
          <a:xfrm>
            <a:off x="242498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2" name="Shape 40"/>
          <p:cNvSpPr/>
          <p:nvPr/>
        </p:nvSpPr>
        <p:spPr>
          <a:xfrm>
            <a:off x="266273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3" name="Shape 41"/>
          <p:cNvSpPr/>
          <p:nvPr/>
        </p:nvSpPr>
        <p:spPr>
          <a:xfrm>
            <a:off x="290047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4" name="Shape 42"/>
          <p:cNvSpPr/>
          <p:nvPr/>
        </p:nvSpPr>
        <p:spPr>
          <a:xfrm>
            <a:off x="313822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5" name="Shape 43"/>
          <p:cNvSpPr/>
          <p:nvPr/>
        </p:nvSpPr>
        <p:spPr>
          <a:xfrm>
            <a:off x="337596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370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85145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408919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432694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456468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242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017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277917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52"/>
          <p:cNvSpPr/>
          <p:nvPr/>
        </p:nvSpPr>
        <p:spPr>
          <a:xfrm>
            <a:off x="5515661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3"/>
          <p:cNvSpPr/>
          <p:nvPr/>
        </p:nvSpPr>
        <p:spPr>
          <a:xfrm>
            <a:off x="575340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4"/>
          <p:cNvSpPr/>
          <p:nvPr/>
        </p:nvSpPr>
        <p:spPr>
          <a:xfrm>
            <a:off x="599114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5"/>
          <p:cNvSpPr/>
          <p:nvPr/>
        </p:nvSpPr>
        <p:spPr>
          <a:xfrm>
            <a:off x="622889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583680" y="385876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~25%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98932" y="4347972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4297680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2200" dirty="0"/>
          </a:p>
        </p:txBody>
      </p:sp>
      <p:sp>
        <p:nvSpPr>
          <p:cNvPr id="63" name="Text 61"/>
          <p:cNvSpPr txBox="1"/>
          <p:nvPr/>
        </p:nvSpPr>
        <p:spPr>
          <a:xfrm>
            <a:off x="1700784" y="44622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 ·  이견 · 이상치 · 재현 설계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700784" y="4773168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판정이 갈리거나, 재현 관문 설계처럼 틀리면 비싼 일.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171175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6" name="Shape 64"/>
          <p:cNvSpPr/>
          <p:nvPr/>
        </p:nvSpPr>
        <p:spPr>
          <a:xfrm>
            <a:off x="194950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7" name="Shape 65"/>
          <p:cNvSpPr/>
          <p:nvPr/>
        </p:nvSpPr>
        <p:spPr>
          <a:xfrm>
            <a:off x="218724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8" name="Shape 66"/>
          <p:cNvSpPr/>
          <p:nvPr/>
        </p:nvSpPr>
        <p:spPr>
          <a:xfrm>
            <a:off x="242498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9" name="Shape 67"/>
          <p:cNvSpPr/>
          <p:nvPr/>
        </p:nvSpPr>
        <p:spPr>
          <a:xfrm>
            <a:off x="266273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0" name="Shape 68"/>
          <p:cNvSpPr/>
          <p:nvPr/>
        </p:nvSpPr>
        <p:spPr>
          <a:xfrm>
            <a:off x="290047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1" name="Shape 69"/>
          <p:cNvSpPr/>
          <p:nvPr/>
        </p:nvSpPr>
        <p:spPr>
          <a:xfrm>
            <a:off x="313822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2" name="Shape 70"/>
          <p:cNvSpPr/>
          <p:nvPr/>
        </p:nvSpPr>
        <p:spPr>
          <a:xfrm>
            <a:off x="337596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3" name="Shape 71"/>
          <p:cNvSpPr/>
          <p:nvPr/>
        </p:nvSpPr>
        <p:spPr>
          <a:xfrm>
            <a:off x="361370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4" name="Shape 72"/>
          <p:cNvSpPr/>
          <p:nvPr/>
        </p:nvSpPr>
        <p:spPr>
          <a:xfrm>
            <a:off x="385145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Shape 73"/>
          <p:cNvSpPr/>
          <p:nvPr/>
        </p:nvSpPr>
        <p:spPr>
          <a:xfrm>
            <a:off x="408919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6" name="Shape 74"/>
          <p:cNvSpPr/>
          <p:nvPr/>
        </p:nvSpPr>
        <p:spPr>
          <a:xfrm>
            <a:off x="432694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7" name="Shape 75"/>
          <p:cNvSpPr/>
          <p:nvPr/>
        </p:nvSpPr>
        <p:spPr>
          <a:xfrm>
            <a:off x="456468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8" name="Shape 76"/>
          <p:cNvSpPr/>
          <p:nvPr/>
        </p:nvSpPr>
        <p:spPr>
          <a:xfrm>
            <a:off x="480242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9" name="Shape 77"/>
          <p:cNvSpPr/>
          <p:nvPr/>
        </p:nvSpPr>
        <p:spPr>
          <a:xfrm>
            <a:off x="504017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27791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51566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75340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99114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622889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0" y="515721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~5%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298180" y="1751076"/>
            <a:ext cx="3392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85"/>
          <p:cNvSpPr/>
          <p:nvPr/>
        </p:nvSpPr>
        <p:spPr>
          <a:xfrm>
            <a:off x="8247888" y="1700784"/>
            <a:ext cx="3392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8449056" y="18288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 조건  ·  ● 집행 중</a:t>
            </a:r>
            <a:endParaRPr lang="en-US" sz="1100" dirty="0"/>
          </a:p>
        </p:txBody>
      </p:sp>
      <p:sp>
        <p:nvSpPr>
          <p:cNvPr id="89" name="Shape 87"/>
          <p:cNvSpPr/>
          <p:nvPr/>
        </p:nvSpPr>
        <p:spPr>
          <a:xfrm>
            <a:off x="8449056" y="2221992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8741664" y="21396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데스크의 판정이 갈릴 때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8449056" y="260604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8741664" y="2523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게이트에 두 번 연속 반려될 때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8449056" y="2990088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8741664" y="2907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초과로 미완일 때</a:t>
            </a:r>
            <a:endParaRPr lang="en-US" sz="950" dirty="0"/>
          </a:p>
        </p:txBody>
      </p:sp>
      <p:sp>
        <p:nvSpPr>
          <p:cNvPr id="95" name="Shape 93"/>
          <p:cNvSpPr/>
          <p:nvPr/>
        </p:nvSpPr>
        <p:spPr>
          <a:xfrm>
            <a:off x="8449056" y="3374136"/>
            <a:ext cx="128016" cy="128016"/>
          </a:xfrm>
          <a:prstGeom prst="rect">
            <a:avLst/>
          </a:prstGeom>
          <a:solidFill>
            <a:srgbClr val="1F2740"/>
          </a:solidFill>
          <a:ln w="12700">
            <a:solidFill>
              <a:srgbClr val="5E6B87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8741664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검산 불일치 — 위 '갈림'이 덮는다</a:t>
            </a:r>
            <a:endParaRPr lang="en-US" sz="950" dirty="0"/>
          </a:p>
        </p:txBody>
      </p:sp>
      <p:sp>
        <p:nvSpPr>
          <p:cNvPr id="97" name="Shape 95"/>
          <p:cNvSpPr/>
          <p:nvPr/>
        </p:nvSpPr>
        <p:spPr>
          <a:xfrm>
            <a:off x="8449056" y="3758184"/>
            <a:ext cx="128016" cy="128016"/>
          </a:xfrm>
          <a:prstGeom prst="rect">
            <a:avLst/>
          </a:prstGeom>
          <a:solidFill>
            <a:srgbClr val="1F2740"/>
          </a:solidFill>
          <a:ln w="12700">
            <a:solidFill>
              <a:srgbClr val="5E6B87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8741664" y="3675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'판정 불가' — 사이클이 따로 돈다</a:t>
            </a:r>
            <a:endParaRPr lang="en-US" sz="950" dirty="0"/>
          </a:p>
        </p:txBody>
      </p:sp>
      <p:sp>
        <p:nvSpPr>
          <p:cNvPr id="99" name="Shape 97"/>
          <p:cNvSpPr/>
          <p:nvPr/>
        </p:nvSpPr>
        <p:spPr>
          <a:xfrm>
            <a:off x="8298180" y="4402836"/>
            <a:ext cx="3392424" cy="19019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0" name="Shape 98"/>
          <p:cNvSpPr/>
          <p:nvPr/>
        </p:nvSpPr>
        <p:spPr>
          <a:xfrm>
            <a:off x="8247888" y="4352544"/>
            <a:ext cx="3392424" cy="19019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8449056" y="44805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승격은 기록된다</a:t>
            </a:r>
            <a:endParaRPr lang="en-US" sz="1100" dirty="0"/>
          </a:p>
        </p:txBody>
      </p:sp>
      <p:sp>
        <p:nvSpPr>
          <p:cNvPr id="102" name="Text 100"/>
          <p:cNvSpPr txBox="1"/>
          <p:nvPr/>
        </p:nvSpPr>
        <p:spPr>
          <a:xfrm>
            <a:off x="8449056" y="4754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반려는 같은 급에서 다시 한다 — 금지어 하나에 T3 을 띄우지 않는다. 두 번 연속이면 그때 올라가고, 어느 인스턴스가 왜 올라갔는지가 봉투에 남는다. 승격이 잦은 지점이 이 시스템이 약한 곳이다.</a:t>
            </a:r>
            <a:endParaRPr lang="en-US" sz="1000" dirty="0"/>
          </a:p>
        </p:txBody>
      </p:sp>
      <p:sp>
        <p:nvSpPr>
          <p:cNvPr id="103" name="Text 101"/>
          <p:cNvSpPr txBox="1"/>
          <p:nvPr/>
        </p:nvSpPr>
        <p:spPr>
          <a:xfrm>
            <a:off x="8449056" y="5669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escalated_from: "T2"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escalated_because: "desks_disagree"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THE WALL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동적으로 바뀌어도 벽은 그대로다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매번 새로 생기더라도, 원장에 쓸 수 있는 도구를 받는 인스턴스는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4114800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4114800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836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MEASUREMENT  ·  측정층</a:t>
            </a:r>
            <a:endParaRPr lang="en-US" sz="10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231136"/>
            <a:ext cx="786384" cy="7863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82496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682496" y="26883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86384" y="320040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31821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5종의 값만 들어간다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" y="358444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024128" y="3566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주체는 data-ops 단독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" y="396849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" y="39502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장중 스냅샷은 persist=False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" y="4352544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24128" y="43342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오염되면 되돌릴 수 없다</a:t>
            </a:r>
            <a:endParaRPr lang="en-US" sz="11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1737360"/>
            <a:ext cx="548640" cy="548640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896" y="2272284"/>
            <a:ext cx="548640" cy="548640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807208"/>
            <a:ext cx="548640" cy="548640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896" y="3342132"/>
            <a:ext cx="548640" cy="548640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6" y="3877056"/>
            <a:ext cx="548640" cy="548640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2896" y="4411980"/>
            <a:ext cx="548640" cy="54864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847588" y="1787652"/>
            <a:ext cx="5843016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19"/>
          <p:cNvSpPr/>
          <p:nvPr/>
        </p:nvSpPr>
        <p:spPr>
          <a:xfrm>
            <a:off x="5797296" y="1737360"/>
            <a:ext cx="5843016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016752" y="188366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INTERPRETATION  ·  판단층 (동적)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0167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8192" y="2322576"/>
            <a:ext cx="128016" cy="128016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3093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facts</a:t>
            </a:r>
            <a:endParaRPr lang="en-US" sz="950" dirty="0"/>
          </a:p>
        </p:txBody>
      </p:sp>
      <p:sp>
        <p:nvSpPr>
          <p:cNvPr id="33" name="Shape 23"/>
          <p:cNvSpPr/>
          <p:nvPr/>
        </p:nvSpPr>
        <p:spPr>
          <a:xfrm>
            <a:off x="87599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1392" y="2322576"/>
            <a:ext cx="128016" cy="128016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0525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950" dirty="0"/>
          </a:p>
        </p:txBody>
      </p:sp>
      <p:sp>
        <p:nvSpPr>
          <p:cNvPr id="36" name="Shape 25"/>
          <p:cNvSpPr/>
          <p:nvPr/>
        </p:nvSpPr>
        <p:spPr>
          <a:xfrm>
            <a:off x="60167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8192" y="2706624"/>
            <a:ext cx="128016" cy="128016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3093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950" dirty="0"/>
          </a:p>
        </p:txBody>
      </p:sp>
      <p:sp>
        <p:nvSpPr>
          <p:cNvPr id="39" name="Shape 27"/>
          <p:cNvSpPr/>
          <p:nvPr/>
        </p:nvSpPr>
        <p:spPr>
          <a:xfrm>
            <a:off x="87599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51392" y="2706624"/>
            <a:ext cx="128016" cy="128016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90525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calendar</a:t>
            </a:r>
            <a:endParaRPr lang="en-US" sz="950" dirty="0"/>
          </a:p>
        </p:txBody>
      </p:sp>
      <p:sp>
        <p:nvSpPr>
          <p:cNvPr id="42" name="Shape 29"/>
          <p:cNvSpPr/>
          <p:nvPr/>
        </p:nvSpPr>
        <p:spPr>
          <a:xfrm>
            <a:off x="60167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08192" y="3090672"/>
            <a:ext cx="128016" cy="128016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63093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</a:t>
            </a:r>
            <a:endParaRPr lang="en-US" sz="950" dirty="0"/>
          </a:p>
        </p:txBody>
      </p:sp>
      <p:sp>
        <p:nvSpPr>
          <p:cNvPr id="45" name="Shape 31"/>
          <p:cNvSpPr/>
          <p:nvPr/>
        </p:nvSpPr>
        <p:spPr>
          <a:xfrm>
            <a:off x="87599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1392" y="3090672"/>
            <a:ext cx="128016" cy="128016"/>
          </a:xfrm>
          <a:prstGeom prst="rect">
            <a:avLst/>
          </a:prstGeom>
        </p:spPr>
      </p:pic>
      <p:sp>
        <p:nvSpPr>
          <p:cNvPr id="47" name="Text 32"/>
          <p:cNvSpPr txBox="1"/>
          <p:nvPr/>
        </p:nvSpPr>
        <p:spPr>
          <a:xfrm>
            <a:off x="90525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disclosures</a:t>
            </a:r>
            <a:endParaRPr lang="en-US" sz="950" dirty="0"/>
          </a:p>
        </p:txBody>
      </p:sp>
      <p:sp>
        <p:nvSpPr>
          <p:cNvPr id="48" name="Shape 33"/>
          <p:cNvSpPr/>
          <p:nvPr/>
        </p:nvSpPr>
        <p:spPr>
          <a:xfrm>
            <a:off x="60167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08192" y="3474720"/>
            <a:ext cx="128016" cy="128016"/>
          </a:xfrm>
          <a:prstGeom prst="rect">
            <a:avLst/>
          </a:prstGeom>
        </p:spPr>
      </p:pic>
      <p:sp>
        <p:nvSpPr>
          <p:cNvPr id="50" name="Text 34"/>
          <p:cNvSpPr txBox="1"/>
          <p:nvPr/>
        </p:nvSpPr>
        <p:spPr>
          <a:xfrm>
            <a:off x="63093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staleness</a:t>
            </a:r>
            <a:endParaRPr lang="en-US" sz="950" dirty="0"/>
          </a:p>
        </p:txBody>
      </p:sp>
      <p:sp>
        <p:nvSpPr>
          <p:cNvPr id="51" name="Shape 35"/>
          <p:cNvSpPr/>
          <p:nvPr/>
        </p:nvSpPr>
        <p:spPr>
          <a:xfrm>
            <a:off x="87599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5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1392" y="3474720"/>
            <a:ext cx="128016" cy="128016"/>
          </a:xfrm>
          <a:prstGeom prst="rect">
            <a:avLst/>
          </a:prstGeom>
        </p:spPr>
      </p:pic>
      <p:sp>
        <p:nvSpPr>
          <p:cNvPr id="53" name="Text 36"/>
          <p:cNvSpPr txBox="1"/>
          <p:nvPr/>
        </p:nvSpPr>
        <p:spPr>
          <a:xfrm>
            <a:off x="90525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papers</a:t>
            </a:r>
            <a:endParaRPr lang="en-US" sz="950" dirty="0"/>
          </a:p>
        </p:txBody>
      </p:sp>
      <p:sp>
        <p:nvSpPr>
          <p:cNvPr id="54" name="Text 37"/>
          <p:cNvSpPr txBox="1"/>
          <p:nvPr/>
        </p:nvSpPr>
        <p:spPr>
          <a:xfrm>
            <a:off x="6016752" y="3950208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 · catchup · fundamentals · KIS 주문  →  도구가 존재하지 않는다</a:t>
            </a:r>
            <a:endParaRPr lang="en-US" sz="950" dirty="0"/>
          </a:p>
        </p:txBody>
      </p:sp>
      <p:sp>
        <p:nvSpPr>
          <p:cNvPr id="55" name="Text 38"/>
          <p:cNvSpPr txBox="1"/>
          <p:nvPr/>
        </p:nvSpPr>
        <p:spPr>
          <a:xfrm>
            <a:off x="6016752" y="424281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도구 papers 가 추가된다 — 논문 원장을 읽기만 한다. 채택·은퇴를 쓰는 것은 재현 파이프라인(배치)이지 에이전트가 아니다.</a:t>
            </a:r>
            <a:endParaRPr lang="en-US" sz="1000" dirty="0"/>
          </a:p>
        </p:txBody>
      </p:sp>
      <p:sp>
        <p:nvSpPr>
          <p:cNvPr id="56" name="Shape 39"/>
          <p:cNvSpPr/>
          <p:nvPr/>
        </p:nvSpPr>
        <p:spPr>
          <a:xfrm>
            <a:off x="598932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0"/>
          <p:cNvSpPr/>
          <p:nvPr/>
        </p:nvSpPr>
        <p:spPr>
          <a:xfrm>
            <a:off x="548640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8" name="Text 41"/>
          <p:cNvSpPr txBox="1"/>
          <p:nvPr/>
        </p:nvSpPr>
        <p:spPr>
          <a:xfrm>
            <a:off x="731520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벽은 구조다</a:t>
            </a:r>
            <a:endParaRPr lang="en-US" sz="1200" dirty="0"/>
          </a:p>
        </p:txBody>
      </p:sp>
      <p:sp>
        <p:nvSpPr>
          <p:cNvPr id="59" name="Text 42"/>
          <p:cNvSpPr txBox="1"/>
          <p:nvPr/>
        </p:nvSpPr>
        <p:spPr>
          <a:xfrm>
            <a:off x="731520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"쓰지 마라"라고 적는 대신, 쓸 수 있는 도구를 만들지 않는다.</a:t>
            </a:r>
            <a:endParaRPr lang="en-US" sz="1000" dirty="0"/>
          </a:p>
        </p:txBody>
      </p:sp>
      <p:sp>
        <p:nvSpPr>
          <p:cNvPr id="60" name="Shape 43"/>
          <p:cNvSpPr/>
          <p:nvPr/>
        </p:nvSpPr>
        <p:spPr>
          <a:xfrm>
            <a:off x="4357116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44"/>
          <p:cNvSpPr/>
          <p:nvPr/>
        </p:nvSpPr>
        <p:spPr>
          <a:xfrm>
            <a:off x="4306824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Text 45"/>
          <p:cNvSpPr txBox="1"/>
          <p:nvPr/>
        </p:nvSpPr>
        <p:spPr>
          <a:xfrm>
            <a:off x="4489704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역류가 없다</a:t>
            </a:r>
            <a:endParaRPr lang="en-US" sz="1200" dirty="0"/>
          </a:p>
        </p:txBody>
      </p:sp>
      <p:sp>
        <p:nvSpPr>
          <p:cNvPr id="63" name="Text 46"/>
          <p:cNvSpPr txBox="1"/>
          <p:nvPr/>
        </p:nvSpPr>
        <p:spPr>
          <a:xfrm>
            <a:off x="4489704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경로가 스키마에도 도구에도 없다.</a:t>
            </a:r>
            <a:endParaRPr lang="en-US" sz="1000" dirty="0"/>
          </a:p>
        </p:txBody>
      </p:sp>
      <p:sp>
        <p:nvSpPr>
          <p:cNvPr id="64" name="Shape 47"/>
          <p:cNvSpPr/>
          <p:nvPr/>
        </p:nvSpPr>
        <p:spPr>
          <a:xfrm>
            <a:off x="8115300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48"/>
          <p:cNvSpPr/>
          <p:nvPr/>
        </p:nvSpPr>
        <p:spPr>
          <a:xfrm>
            <a:off x="8065008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49"/>
          <p:cNvSpPr txBox="1"/>
          <p:nvPr/>
        </p:nvSpPr>
        <p:spPr>
          <a:xfrm>
            <a:off x="8247888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늘어도 같다</a:t>
            </a:r>
            <a:endParaRPr lang="en-US" sz="1200" dirty="0"/>
          </a:p>
        </p:txBody>
      </p:sp>
      <p:sp>
        <p:nvSpPr>
          <p:cNvPr id="67" name="Text 50"/>
          <p:cNvSpPr txBox="1"/>
          <p:nvPr/>
        </p:nvSpPr>
        <p:spPr>
          <a:xfrm>
            <a:off x="8247888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1개든 400개든 전부 같은 읽기 도구 집합만 받는다.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PERMISSIONS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매트릭스 — 누가 무엇을 할 수 있는가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권한은 프롬프트가 아니라 도구 노출과 훅으로 강제한다. 아래는 실제로 부여할 도구 목록이다.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64208"/>
          <a:ext cx="11094415" cy="914400"/>
        </p:xfrm>
        <a:graphic>
          <a:graphicData uri="http://schemas.openxmlformats.org/drawingml/2006/table">
            <a:tbl>
              <a:tblPr/>
              <a:tblGrid>
                <a:gridCol w="2395728"/>
                <a:gridCol w="1170432"/>
                <a:gridCol w="1170432"/>
                <a:gridCol w="1691640"/>
                <a:gridCol w="1170432"/>
                <a:gridCol w="1481328"/>
                <a:gridCol w="1060704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읽기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쓰기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KIS 주문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발행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거부권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논문 4곳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5종 전부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초안만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58430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50976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 는 ingest-ops 뿐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네트워크를 쓰지 않는다. 실시간 호출을 허용하면 데스크마다 다른 시각의 값을 보게 되고 기준일이 깨진다.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4357116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9"/>
          <p:cNvSpPr/>
          <p:nvPr/>
        </p:nvSpPr>
        <p:spPr>
          <a:xfrm>
            <a:off x="4306824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89704" y="5843016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09160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쓰기는 한 칸뿐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489704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만 ●. 나머지 여덟 데스크는 MCP 읽기 도구만 받는다. 데스크가 몇이든 이 칸은 하나다.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8115300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47888" y="5843016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467344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 는 DART 원문 조회뿐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247888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수치는 전부 원장에서 읽는다. 밖으로 나가는 것은 접수번호로 지정된 공시 문서 한 건을 열 때뿐이다 — 검색이 아니다.</a:t>
            </a:r>
            <a:endParaRPr lang="en-US" sz="8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ENVELOPE v2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봉투에 재현 결과가 함께 실린다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키만 다는 것으로는 부족하다. 그 논문이 우리 표본에서 어떻게 나왔는지가 같이 가야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6126480" cy="42245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6126480" cy="422452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792224"/>
            <a:ext cx="5715000" cy="4041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"claim":        "처분 소요일수 12.4 영업일",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"measure":      "disposal_days",   "subject": "000660",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"value":        12.4,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"unit":         "business_days",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"asof":         "2026-09-11",  "stale_days": 2,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"source_grade": "해석",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"sources":      ["KRX/일별매매정보"],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"method": {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"paper":       "amihud2002",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"paper_state": "adopted",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"replication": {                    // ← v2 신설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"verdict":  "재현됨",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"at":       "2026-02-11",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"universe": "KOSDAQ", "n": 1418,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"observed": { "spread_mean_bp": 41, "t": 3.42 }   // 임계 3.0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"assumes": { "participation": 0.15 }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"read": [{"key": "000660.close", "value": 88.0,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"asof": "2026-09-11", "kind": "raw"}],   // ← v2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"limits": ["논문 표본은 미국 상장주 — 코스닥 외삽 근거 아님"],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"desk": "q3-execution",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"instance": "q3-execution-20260911-000660-a91f",  // ← v2 신설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"tier": "T2",  "attempt": 1,  "escalated_from": null,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"spent": {"tool_calls": 11, "completed": true},   // ← v2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"reviewed_by": ["risk", "compliance"]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40" dirty="0"/>
          </a:p>
        </p:txBody>
      </p:sp>
      <p:sp>
        <p:nvSpPr>
          <p:cNvPr id="8" name="Shape 6"/>
          <p:cNvSpPr/>
          <p:nvPr/>
        </p:nvSpPr>
        <p:spPr>
          <a:xfrm>
            <a:off x="6926580" y="1769364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19072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7456" y="181051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· kind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326880" y="1819656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읽고 냈는가 · 원본인가 파생인가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0665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정정이 오면 원장의 같은 칸이 덮어써진다. 파생값을 원본 칸과 대조하면 거짓 '바뀜'이 나온다.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756916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706624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77456" y="279806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paper_state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280720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논문이 어느 상태인가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05409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retired · 방향 반대는 반려. unverified 는 통과하되 '미검증' 표시가 함께 나간다.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744468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694176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77456" y="378561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794760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잰 값인가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0416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데스크가 달라도 같은 것을 쟀으면 같은 이름이다. 이것이 없으면 대조 자체가 안 되고, '갈린 곳 없음'이 '안 봤다'가 된다.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4732020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681728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77456" y="477316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spent · attempt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4782312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호출을 몇 번 썼고 끝냈는가</a:t>
            </a:r>
            <a:endParaRPr lang="en-US" sz="88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029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토큰은 담지 않는다 — 에이전트가 신뢰성 있게 세지 못한다. 미완이면 사유를 요구한다.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926580" y="5737860"/>
            <a:ext cx="4764024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7"/>
          <p:cNvSpPr/>
          <p:nvPr/>
        </p:nvSpPr>
        <p:spPr>
          <a:xfrm>
            <a:off x="6876288" y="5687568"/>
            <a:ext cx="4764024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077456" y="56875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 '해석' 은 그대로다 — 재현까지 통과해도 에이전트 문장은 1차 자료가 되지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GATES ×7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전 일곱 관문 — 하나라도 걸리면 멈춘다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개는 지난 방안 그대로이고, ③ 재현 관문이 새로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65376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61872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어휘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점수·등급·목표주가·매수/매도 어휘가 있는가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13232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문장 삭제 후 반려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3396996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1"/>
          <p:cNvSpPr/>
          <p:nvPr/>
        </p:nvSpPr>
        <p:spPr>
          <a:xfrm>
            <a:off x="3346704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65376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059936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2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059936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511296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주장에 grade 가 있는가 · '해석'이 승격되지 않았는가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3511296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3602736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등급 없는 주장 차단</a:t>
            </a:r>
            <a:endParaRPr lang="en-US" sz="880" dirty="0"/>
          </a:p>
        </p:txBody>
      </p:sp>
      <p:sp>
        <p:nvSpPr>
          <p:cNvPr id="21" name="Shape 17"/>
          <p:cNvSpPr/>
          <p:nvPr/>
        </p:nvSpPr>
        <p:spPr>
          <a:xfrm>
            <a:off x="6195060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8"/>
          <p:cNvSpPr/>
          <p:nvPr/>
        </p:nvSpPr>
        <p:spPr>
          <a:xfrm>
            <a:off x="6144768" y="1700784"/>
            <a:ext cx="2615184" cy="1883664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65376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3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6309360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논문의 state 가 무엇인가 (4상태)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309360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6400800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retired · 방향 반대 → 반려</a:t>
            </a:r>
            <a:endParaRPr lang="en-US" sz="88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1847088"/>
            <a:ext cx="201168" cy="20116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8993124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5"/>
          <p:cNvSpPr/>
          <p:nvPr/>
        </p:nvSpPr>
        <p:spPr>
          <a:xfrm>
            <a:off x="8942832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7424" y="1865376"/>
            <a:ext cx="457200" cy="45720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656064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4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9656064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실재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107424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장부에 실재하는 논문인가 · limits 가 비어 있지 않은가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9107424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9198864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지어낸 인용 차단</a:t>
            </a:r>
            <a:endParaRPr lang="en-US" sz="880" dirty="0"/>
          </a:p>
        </p:txBody>
      </p:sp>
      <p:sp>
        <p:nvSpPr>
          <p:cNvPr id="38" name="Shape 31"/>
          <p:cNvSpPr/>
          <p:nvPr/>
        </p:nvSpPr>
        <p:spPr>
          <a:xfrm>
            <a:off x="598932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2"/>
          <p:cNvSpPr/>
          <p:nvPr/>
        </p:nvSpPr>
        <p:spPr>
          <a:xfrm>
            <a:off x="548640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913632"/>
            <a:ext cx="457200" cy="45720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261872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5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1261872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</a:t>
            </a:r>
            <a:endParaRPr lang="en-US" sz="1400" dirty="0"/>
          </a:p>
        </p:txBody>
      </p:sp>
      <p:sp>
        <p:nvSpPr>
          <p:cNvPr id="43" name="Text 35"/>
          <p:cNvSpPr txBox="1"/>
          <p:nvPr/>
        </p:nvSpPr>
        <p:spPr>
          <a:xfrm>
            <a:off x="713232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asof·stale_days 가 임계(3영업일)를 넘지 않는가</a:t>
            </a:r>
            <a:endParaRPr lang="en-US" sz="950" dirty="0"/>
          </a:p>
        </p:txBody>
      </p:sp>
      <p:sp>
        <p:nvSpPr>
          <p:cNvPr id="44" name="Shape 36"/>
          <p:cNvSpPr/>
          <p:nvPr/>
        </p:nvSpPr>
        <p:spPr>
          <a:xfrm>
            <a:off x="713232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804672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값 대신 '데이터 없음'</a:t>
            </a:r>
            <a:endParaRPr lang="en-US" sz="880" dirty="0"/>
          </a:p>
        </p:txBody>
      </p:sp>
      <p:sp>
        <p:nvSpPr>
          <p:cNvPr id="46" name="Shape 38"/>
          <p:cNvSpPr/>
          <p:nvPr/>
        </p:nvSpPr>
        <p:spPr>
          <a:xfrm>
            <a:off x="3396996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9"/>
          <p:cNvSpPr/>
          <p:nvPr/>
        </p:nvSpPr>
        <p:spPr>
          <a:xfrm>
            <a:off x="3346704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1296" y="3913632"/>
            <a:ext cx="457200" cy="457200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4059936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6</a:t>
            </a:r>
            <a:endParaRPr lang="en-US" sz="900" dirty="0"/>
          </a:p>
        </p:txBody>
      </p:sp>
      <p:sp>
        <p:nvSpPr>
          <p:cNvPr id="50" name="Text 41"/>
          <p:cNvSpPr txBox="1"/>
          <p:nvPr/>
        </p:nvSpPr>
        <p:spPr>
          <a:xfrm>
            <a:off x="4059936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유출 검사</a:t>
            </a:r>
            <a:endParaRPr lang="en-US" sz="1400" dirty="0"/>
          </a:p>
        </p:txBody>
      </p:sp>
      <p:sp>
        <p:nvSpPr>
          <p:cNvPr id="51" name="Text 42"/>
          <p:cNvSpPr txBox="1"/>
          <p:nvPr/>
        </p:nvSpPr>
        <p:spPr>
          <a:xfrm>
            <a:off x="3511296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키·URL·포트폴리오사 실명이 남았는가 (scrub())</a:t>
            </a:r>
            <a:endParaRPr lang="en-US" sz="950" dirty="0"/>
          </a:p>
        </p:txBody>
      </p:sp>
      <p:sp>
        <p:nvSpPr>
          <p:cNvPr id="52" name="Shape 43"/>
          <p:cNvSpPr/>
          <p:nvPr/>
        </p:nvSpPr>
        <p:spPr>
          <a:xfrm>
            <a:off x="3511296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3602736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전체 발행 중단</a:t>
            </a:r>
            <a:endParaRPr lang="en-US" sz="880" dirty="0"/>
          </a:p>
        </p:txBody>
      </p:sp>
      <p:sp>
        <p:nvSpPr>
          <p:cNvPr id="54" name="Shape 45"/>
          <p:cNvSpPr/>
          <p:nvPr/>
        </p:nvSpPr>
        <p:spPr>
          <a:xfrm>
            <a:off x="6195060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6"/>
          <p:cNvSpPr/>
          <p:nvPr/>
        </p:nvSpPr>
        <p:spPr>
          <a:xfrm>
            <a:off x="6144768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3913632"/>
            <a:ext cx="457200" cy="457200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6858000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7</a:t>
            </a:r>
            <a:endParaRPr lang="en-US" sz="900" dirty="0"/>
          </a:p>
        </p:txBody>
      </p:sp>
      <p:sp>
        <p:nvSpPr>
          <p:cNvPr id="58" name="Text 48"/>
          <p:cNvSpPr txBox="1"/>
          <p:nvPr/>
        </p:nvSpPr>
        <p:spPr>
          <a:xfrm>
            <a:off x="6858000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4-eyes</a:t>
            </a:r>
            <a:endParaRPr lang="en-US" sz="1400" dirty="0"/>
          </a:p>
        </p:txBody>
      </p:sp>
      <p:sp>
        <p:nvSpPr>
          <p:cNvPr id="59" name="Text 49"/>
          <p:cNvSpPr txBox="1"/>
          <p:nvPr/>
        </p:nvSpPr>
        <p:spPr>
          <a:xfrm>
            <a:off x="6309360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준법감시 양쪽이 승인했는가</a:t>
            </a:r>
            <a:endParaRPr lang="en-US" sz="950" dirty="0"/>
          </a:p>
        </p:txBody>
      </p:sp>
      <p:sp>
        <p:nvSpPr>
          <p:cNvPr id="60" name="Shape 50"/>
          <p:cNvSpPr/>
          <p:nvPr/>
        </p:nvSpPr>
        <p:spPr>
          <a:xfrm>
            <a:off x="6309360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1" name="Text 51"/>
          <p:cNvSpPr txBox="1"/>
          <p:nvPr/>
        </p:nvSpPr>
        <p:spPr>
          <a:xfrm>
            <a:off x="6400800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해당 절 제외</a:t>
            </a:r>
            <a:endParaRPr lang="en-US" sz="880" dirty="0"/>
          </a:p>
        </p:txBody>
      </p:sp>
      <p:sp>
        <p:nvSpPr>
          <p:cNvPr id="62" name="Shape 52"/>
          <p:cNvSpPr/>
          <p:nvPr/>
        </p:nvSpPr>
        <p:spPr>
          <a:xfrm>
            <a:off x="8993124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3" name="Shape 53"/>
          <p:cNvSpPr/>
          <p:nvPr/>
        </p:nvSpPr>
        <p:spPr>
          <a:xfrm>
            <a:off x="8942832" y="3749040"/>
            <a:ext cx="2615184" cy="18836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9107424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아니면 반려다</a:t>
            </a:r>
            <a:endParaRPr lang="en-US" sz="1300" dirty="0"/>
          </a:p>
        </p:txBody>
      </p:sp>
      <p:sp>
        <p:nvSpPr>
          <p:cNvPr id="65" name="Text 55"/>
          <p:cNvSpPr txBox="1"/>
          <p:nvPr/>
        </p:nvSpPr>
        <p:spPr>
          <a:xfrm>
            <a:off x="9107424" y="4206240"/>
            <a:ext cx="23042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"대체로 지켜졌다"는 판정이 없다. 반려된 절은 회의자료에서 빈칸이 아니라 '반려됨 — 사유' 로 보인다. 조용히 통과시키는 것이 가장 위험하다.</a:t>
            </a:r>
            <a:endParaRPr lang="en-US" sz="1000" dirty="0"/>
          </a:p>
        </p:txBody>
      </p:sp>
      <p:sp>
        <p:nvSpPr>
          <p:cNvPr id="66" name="Text 5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selftest 128개는 그대로 둔다. 게이트는 코드가 아니라 '에이전트가 쓴 문장'을 검사하는 층으로 그 위에 얹는다.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SCORECARD &amp; REPLAY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데스크를 계측한다 — 다만 자동으로 고치지는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얼마나 반려됐고 무엇이 재현에 실패했는지를 매주 본다. 프롬프트를 고치는 것은 사람이다.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760720" cy="2743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760720" cy="2743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데스크 스코어카드  (예시 값)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157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데스크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1579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통과율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2157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반려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2395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4561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3" name="Shape 11"/>
          <p:cNvSpPr/>
          <p:nvPr/>
        </p:nvSpPr>
        <p:spPr>
          <a:xfrm>
            <a:off x="296448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Shape 12"/>
          <p:cNvSpPr/>
          <p:nvPr/>
        </p:nvSpPr>
        <p:spPr>
          <a:xfrm>
            <a:off x="308335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222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Shape 14"/>
          <p:cNvSpPr/>
          <p:nvPr/>
        </p:nvSpPr>
        <p:spPr>
          <a:xfrm>
            <a:off x="332110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Shape 15"/>
          <p:cNvSpPr/>
          <p:nvPr/>
        </p:nvSpPr>
        <p:spPr>
          <a:xfrm>
            <a:off x="343997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Shape 16"/>
          <p:cNvSpPr/>
          <p:nvPr/>
        </p:nvSpPr>
        <p:spPr>
          <a:xfrm>
            <a:off x="355884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9" name="Shape 17"/>
          <p:cNvSpPr/>
          <p:nvPr/>
        </p:nvSpPr>
        <p:spPr>
          <a:xfrm>
            <a:off x="367771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Shape 18"/>
          <p:cNvSpPr/>
          <p:nvPr/>
        </p:nvSpPr>
        <p:spPr>
          <a:xfrm>
            <a:off x="379658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546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2" name="Shape 20"/>
          <p:cNvSpPr/>
          <p:nvPr/>
        </p:nvSpPr>
        <p:spPr>
          <a:xfrm>
            <a:off x="403433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3" name="Shape 21"/>
          <p:cNvSpPr/>
          <p:nvPr/>
        </p:nvSpPr>
        <p:spPr>
          <a:xfrm>
            <a:off x="415320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4" name="Shape 22"/>
          <p:cNvSpPr/>
          <p:nvPr/>
        </p:nvSpPr>
        <p:spPr>
          <a:xfrm>
            <a:off x="427207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094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Shape 24"/>
          <p:cNvSpPr/>
          <p:nvPr/>
        </p:nvSpPr>
        <p:spPr>
          <a:xfrm>
            <a:off x="450982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Shape 25"/>
          <p:cNvSpPr/>
          <p:nvPr/>
        </p:nvSpPr>
        <p:spPr>
          <a:xfrm>
            <a:off x="462869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Shape 26"/>
          <p:cNvSpPr/>
          <p:nvPr/>
        </p:nvSpPr>
        <p:spPr>
          <a:xfrm>
            <a:off x="474756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Shape 27"/>
          <p:cNvSpPr/>
          <p:nvPr/>
        </p:nvSpPr>
        <p:spPr>
          <a:xfrm>
            <a:off x="486643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Shape 28"/>
          <p:cNvSpPr/>
          <p:nvPr/>
        </p:nvSpPr>
        <p:spPr>
          <a:xfrm>
            <a:off x="498530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04181" y="2478024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94960" y="23957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6%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68096" y="2743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4561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Shape 33"/>
          <p:cNvSpPr/>
          <p:nvPr/>
        </p:nvSpPr>
        <p:spPr>
          <a:xfrm>
            <a:off x="296448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6" name="Shape 34"/>
          <p:cNvSpPr/>
          <p:nvPr/>
        </p:nvSpPr>
        <p:spPr>
          <a:xfrm>
            <a:off x="308335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Shape 35"/>
          <p:cNvSpPr/>
          <p:nvPr/>
        </p:nvSpPr>
        <p:spPr>
          <a:xfrm>
            <a:off x="320222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110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9" name="Shape 37"/>
          <p:cNvSpPr/>
          <p:nvPr/>
        </p:nvSpPr>
        <p:spPr>
          <a:xfrm>
            <a:off x="343997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Shape 38"/>
          <p:cNvSpPr/>
          <p:nvPr/>
        </p:nvSpPr>
        <p:spPr>
          <a:xfrm>
            <a:off x="355884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1" name="Shape 39"/>
          <p:cNvSpPr/>
          <p:nvPr/>
        </p:nvSpPr>
        <p:spPr>
          <a:xfrm>
            <a:off x="367771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Shape 40"/>
          <p:cNvSpPr/>
          <p:nvPr/>
        </p:nvSpPr>
        <p:spPr>
          <a:xfrm>
            <a:off x="379658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3" name="Shape 41"/>
          <p:cNvSpPr/>
          <p:nvPr/>
        </p:nvSpPr>
        <p:spPr>
          <a:xfrm>
            <a:off x="391546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Shape 42"/>
          <p:cNvSpPr/>
          <p:nvPr/>
        </p:nvSpPr>
        <p:spPr>
          <a:xfrm>
            <a:off x="403433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5" name="Shape 43"/>
          <p:cNvSpPr/>
          <p:nvPr/>
        </p:nvSpPr>
        <p:spPr>
          <a:xfrm>
            <a:off x="415320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Shape 44"/>
          <p:cNvSpPr/>
          <p:nvPr/>
        </p:nvSpPr>
        <p:spPr>
          <a:xfrm>
            <a:off x="427207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7" name="Shape 45"/>
          <p:cNvSpPr/>
          <p:nvPr/>
        </p:nvSpPr>
        <p:spPr>
          <a:xfrm>
            <a:off x="439094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8" name="Shape 46"/>
          <p:cNvSpPr/>
          <p:nvPr/>
        </p:nvSpPr>
        <p:spPr>
          <a:xfrm>
            <a:off x="450982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Shape 47"/>
          <p:cNvSpPr/>
          <p:nvPr/>
        </p:nvSpPr>
        <p:spPr>
          <a:xfrm>
            <a:off x="462869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0" name="Shape 48"/>
          <p:cNvSpPr/>
          <p:nvPr/>
        </p:nvSpPr>
        <p:spPr>
          <a:xfrm>
            <a:off x="4747565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66437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4985309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104181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19%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768096" y="3090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84561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296448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308335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320222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332110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3997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355884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367771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379658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391546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64"/>
          <p:cNvSpPr/>
          <p:nvPr/>
        </p:nvSpPr>
        <p:spPr>
          <a:xfrm>
            <a:off x="403433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5"/>
          <p:cNvSpPr/>
          <p:nvPr/>
        </p:nvSpPr>
        <p:spPr>
          <a:xfrm>
            <a:off x="415320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6"/>
          <p:cNvSpPr/>
          <p:nvPr/>
        </p:nvSpPr>
        <p:spPr>
          <a:xfrm>
            <a:off x="427207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7"/>
          <p:cNvSpPr/>
          <p:nvPr/>
        </p:nvSpPr>
        <p:spPr>
          <a:xfrm>
            <a:off x="439094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8"/>
          <p:cNvSpPr/>
          <p:nvPr/>
        </p:nvSpPr>
        <p:spPr>
          <a:xfrm>
            <a:off x="450982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9"/>
          <p:cNvSpPr/>
          <p:nvPr/>
        </p:nvSpPr>
        <p:spPr>
          <a:xfrm>
            <a:off x="462869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70"/>
          <p:cNvSpPr/>
          <p:nvPr/>
        </p:nvSpPr>
        <p:spPr>
          <a:xfrm>
            <a:off x="474756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71"/>
          <p:cNvSpPr/>
          <p:nvPr/>
        </p:nvSpPr>
        <p:spPr>
          <a:xfrm>
            <a:off x="486643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72"/>
          <p:cNvSpPr/>
          <p:nvPr/>
        </p:nvSpPr>
        <p:spPr>
          <a:xfrm>
            <a:off x="4985309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5" name="Shape 73"/>
          <p:cNvSpPr/>
          <p:nvPr/>
        </p:nvSpPr>
        <p:spPr>
          <a:xfrm>
            <a:off x="5104181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394960" y="3090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950" dirty="0"/>
          </a:p>
        </p:txBody>
      </p:sp>
      <p:sp>
        <p:nvSpPr>
          <p:cNvPr id="77" name="Text 75"/>
          <p:cNvSpPr txBox="1"/>
          <p:nvPr/>
        </p:nvSpPr>
        <p:spPr>
          <a:xfrm>
            <a:off x="768096" y="34381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284561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9" name="Shape 77"/>
          <p:cNvSpPr/>
          <p:nvPr/>
        </p:nvSpPr>
        <p:spPr>
          <a:xfrm>
            <a:off x="296448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0" name="Shape 78"/>
          <p:cNvSpPr/>
          <p:nvPr/>
        </p:nvSpPr>
        <p:spPr>
          <a:xfrm>
            <a:off x="308335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1" name="Shape 79"/>
          <p:cNvSpPr/>
          <p:nvPr/>
        </p:nvSpPr>
        <p:spPr>
          <a:xfrm>
            <a:off x="320222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2" name="Shape 80"/>
          <p:cNvSpPr/>
          <p:nvPr/>
        </p:nvSpPr>
        <p:spPr>
          <a:xfrm>
            <a:off x="332110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3" name="Shape 81"/>
          <p:cNvSpPr/>
          <p:nvPr/>
        </p:nvSpPr>
        <p:spPr>
          <a:xfrm>
            <a:off x="343997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4" name="Shape 82"/>
          <p:cNvSpPr/>
          <p:nvPr/>
        </p:nvSpPr>
        <p:spPr>
          <a:xfrm>
            <a:off x="355884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5" name="Shape 83"/>
          <p:cNvSpPr/>
          <p:nvPr/>
        </p:nvSpPr>
        <p:spPr>
          <a:xfrm>
            <a:off x="367771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6" name="Shape 84"/>
          <p:cNvSpPr/>
          <p:nvPr/>
        </p:nvSpPr>
        <p:spPr>
          <a:xfrm>
            <a:off x="379658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7" name="Shape 85"/>
          <p:cNvSpPr/>
          <p:nvPr/>
        </p:nvSpPr>
        <p:spPr>
          <a:xfrm>
            <a:off x="391546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8" name="Shape 86"/>
          <p:cNvSpPr/>
          <p:nvPr/>
        </p:nvSpPr>
        <p:spPr>
          <a:xfrm>
            <a:off x="403433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9" name="Shape 87"/>
          <p:cNvSpPr/>
          <p:nvPr/>
        </p:nvSpPr>
        <p:spPr>
          <a:xfrm>
            <a:off x="415320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0" name="Shape 88"/>
          <p:cNvSpPr/>
          <p:nvPr/>
        </p:nvSpPr>
        <p:spPr>
          <a:xfrm>
            <a:off x="427207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1" name="Shape 89"/>
          <p:cNvSpPr/>
          <p:nvPr/>
        </p:nvSpPr>
        <p:spPr>
          <a:xfrm>
            <a:off x="439094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2" name="Shape 90"/>
          <p:cNvSpPr/>
          <p:nvPr/>
        </p:nvSpPr>
        <p:spPr>
          <a:xfrm>
            <a:off x="450982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3" name="Shape 91"/>
          <p:cNvSpPr/>
          <p:nvPr/>
        </p:nvSpPr>
        <p:spPr>
          <a:xfrm>
            <a:off x="462869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4" name="Shape 92"/>
          <p:cNvSpPr/>
          <p:nvPr/>
        </p:nvSpPr>
        <p:spPr>
          <a:xfrm>
            <a:off x="474756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5" name="Shape 93"/>
          <p:cNvSpPr/>
          <p:nvPr/>
        </p:nvSpPr>
        <p:spPr>
          <a:xfrm>
            <a:off x="486643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6" name="Shape 94"/>
          <p:cNvSpPr/>
          <p:nvPr/>
        </p:nvSpPr>
        <p:spPr>
          <a:xfrm>
            <a:off x="4985309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5104181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5394960" y="34381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12%</a:t>
            </a:r>
            <a:endParaRPr lang="en-US" sz="950" dirty="0"/>
          </a:p>
        </p:txBody>
      </p:sp>
      <p:sp>
        <p:nvSpPr>
          <p:cNvPr id="99" name="Text 97"/>
          <p:cNvSpPr txBox="1"/>
          <p:nvPr/>
        </p:nvSpPr>
        <p:spPr>
          <a:xfrm>
            <a:off x="768096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284561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1" name="Shape 99"/>
          <p:cNvSpPr/>
          <p:nvPr/>
        </p:nvSpPr>
        <p:spPr>
          <a:xfrm>
            <a:off x="296448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335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0222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2110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43997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55884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7771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79658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91546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03433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15320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27207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094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50982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62869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74756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86643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8530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04181" y="3867912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5394960" y="37856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3%</a:t>
            </a:r>
            <a:endParaRPr lang="en-US" sz="950" dirty="0"/>
          </a:p>
        </p:txBody>
      </p:sp>
      <p:sp>
        <p:nvSpPr>
          <p:cNvPr id="121" name="Text 119"/>
          <p:cNvSpPr txBox="1"/>
          <p:nvPr/>
        </p:nvSpPr>
        <p:spPr>
          <a:xfrm>
            <a:off x="768096" y="41148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숫자는 모양이다. 실제 값은 발행 기록에서 나온다 — 아직 원장에 물려 돌린 적이 없어 실측이 아니다. 반려가 몰리는 곳은 프롬프트가 아니라 스킬 문서를 고쳐야 한다는 신호다.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6542532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92240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6656832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n/N</a:t>
            </a:r>
            <a:endParaRPr lang="en-US" sz="2300" dirty="0"/>
          </a:p>
        </p:txBody>
      </p:sp>
      <p:sp>
        <p:nvSpPr>
          <p:cNvPr id="125" name="Text 123"/>
          <p:cNvSpPr txBox="1"/>
          <p:nvPr/>
        </p:nvSpPr>
        <p:spPr>
          <a:xfrm>
            <a:off x="6656832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통과율</a:t>
            </a:r>
            <a:endParaRPr lang="en-US" sz="1050" dirty="0"/>
          </a:p>
        </p:txBody>
      </p:sp>
      <p:sp>
        <p:nvSpPr>
          <p:cNvPr id="126" name="Text 124"/>
          <p:cNvSpPr txBox="1"/>
          <p:nvPr/>
        </p:nvSpPr>
        <p:spPr>
          <a:xfrm>
            <a:off x="6656832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반려가 몰리는 관문도 함께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9157716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107424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9272016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T1→T2→T3</a:t>
            </a:r>
            <a:endParaRPr lang="en-US" sz="2300" dirty="0"/>
          </a:p>
        </p:txBody>
      </p:sp>
      <p:sp>
        <p:nvSpPr>
          <p:cNvPr id="130" name="Text 128"/>
          <p:cNvSpPr txBox="1"/>
          <p:nvPr/>
        </p:nvSpPr>
        <p:spPr>
          <a:xfrm>
            <a:off x="9272016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 분포</a:t>
            </a:r>
            <a:endParaRPr lang="en-US" sz="1050" dirty="0"/>
          </a:p>
        </p:txBody>
      </p:sp>
      <p:sp>
        <p:nvSpPr>
          <p:cNvPr id="131" name="Text 129"/>
          <p:cNvSpPr txBox="1"/>
          <p:nvPr/>
        </p:nvSpPr>
        <p:spPr>
          <a:xfrm>
            <a:off x="9272016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 사유 셋의 분포만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6542532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492240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6656832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건수 · 호출</a:t>
            </a:r>
            <a:endParaRPr lang="en-US" sz="2300" dirty="0"/>
          </a:p>
        </p:txBody>
      </p:sp>
      <p:sp>
        <p:nvSpPr>
          <p:cNvPr id="135" name="Text 133"/>
          <p:cNvSpPr txBox="1"/>
          <p:nvPr/>
        </p:nvSpPr>
        <p:spPr>
          <a:xfrm>
            <a:off x="6656832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미완</a:t>
            </a:r>
            <a:endParaRPr lang="en-US" sz="1050" dirty="0"/>
          </a:p>
        </p:txBody>
      </p:sp>
      <p:sp>
        <p:nvSpPr>
          <p:cNvPr id="136" name="Text 134"/>
          <p:cNvSpPr txBox="1"/>
          <p:nvPr/>
        </p:nvSpPr>
        <p:spPr>
          <a:xfrm>
            <a:off x="6656832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토큰은 세지 않는다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9157716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07424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9272016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0~1</a:t>
            </a:r>
            <a:endParaRPr lang="en-US" sz="2300" dirty="0"/>
          </a:p>
        </p:txBody>
      </p:sp>
      <p:sp>
        <p:nvSpPr>
          <p:cNvPr id="140" name="Text 138"/>
          <p:cNvSpPr txBox="1"/>
          <p:nvPr/>
        </p:nvSpPr>
        <p:spPr>
          <a:xfrm>
            <a:off x="9272016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포화도</a:t>
            </a:r>
            <a:endParaRPr lang="en-US" sz="1050" dirty="0"/>
          </a:p>
        </p:txBody>
      </p:sp>
      <p:sp>
        <p:nvSpPr>
          <p:cNvPr id="141" name="Text 139"/>
          <p:cNvSpPr txBox="1"/>
          <p:nvPr/>
        </p:nvSpPr>
        <p:spPr>
          <a:xfrm>
            <a:off x="9272016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1.0 이면 그 표시는 배경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598932" y="4640580"/>
            <a:ext cx="11094415" cy="1645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48640" y="4590288"/>
            <a:ext cx="11094415" cy="164592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4" name="Text 142"/>
          <p:cNvSpPr txBox="1"/>
          <p:nvPr/>
        </p:nvSpPr>
        <p:spPr>
          <a:xfrm>
            <a:off x="786384" y="47183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리플레이 — 왜 그렇게 읽었는가를 되짚는다</a:t>
            </a:r>
            <a:endParaRPr lang="en-US" sz="1400" dirty="0"/>
          </a:p>
        </p:txBody>
      </p:sp>
      <p:pic>
        <p:nvPicPr>
          <p:cNvPr id="14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5102352"/>
            <a:ext cx="164592" cy="164592"/>
          </a:xfrm>
          <a:prstGeom prst="rect">
            <a:avLst/>
          </a:prstGeom>
        </p:spPr>
      </p:pic>
      <p:sp>
        <p:nvSpPr>
          <p:cNvPr id="146" name="Text 143"/>
          <p:cNvSpPr txBox="1"/>
          <p:nvPr/>
        </p:nvSpPr>
        <p:spPr>
          <a:xfrm>
            <a:off x="1024128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봉투가 읽은 것을 적는다</a:t>
            </a:r>
            <a:endParaRPr lang="en-US" sz="1150" dirty="0"/>
          </a:p>
        </p:txBody>
      </p:sp>
      <p:sp>
        <p:nvSpPr>
          <p:cNvPr id="147" name="Text 144"/>
          <p:cNvSpPr txBox="1"/>
          <p:nvPr/>
        </p:nvSpPr>
        <p:spPr>
          <a:xfrm>
            <a:off x="1024128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원장은 정정이 오면 같은 칸을 덮어쓴다. 봉투의 read 와 대조해야 '틀렸다'와 '바뀌었다'가 갈린다.</a:t>
            </a:r>
            <a:endParaRPr lang="en-US" sz="950" dirty="0"/>
          </a:p>
        </p:txBody>
      </p:sp>
      <p:pic>
        <p:nvPicPr>
          <p:cNvPr id="1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5102352"/>
            <a:ext cx="164592" cy="164592"/>
          </a:xfrm>
          <a:prstGeom prst="rect">
            <a:avLst/>
          </a:prstGeom>
        </p:spPr>
      </p:pic>
      <p:sp>
        <p:nvSpPr>
          <p:cNvPr id="149" name="Text 145"/>
          <p:cNvSpPr txBox="1"/>
          <p:nvPr/>
        </p:nvSpPr>
        <p:spPr>
          <a:xfrm>
            <a:off x="4709160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instance ID 로 특정된다</a:t>
            </a:r>
            <a:endParaRPr lang="en-US" sz="1150" dirty="0"/>
          </a:p>
        </p:txBody>
      </p:sp>
      <p:sp>
        <p:nvSpPr>
          <p:cNvPr id="150" name="Text 146"/>
          <p:cNvSpPr txBox="1"/>
          <p:nvPr/>
        </p:nvSpPr>
        <p:spPr>
          <a:xfrm>
            <a:off x="4709160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어떤 입력으로 만든 문장인지 좁혀진다. 무상태라 같은 입력이면 같은 봉투가 나와야 한다.</a:t>
            </a:r>
            <a:endParaRPr lang="en-US" sz="950" dirty="0"/>
          </a:p>
        </p:txBody>
      </p:sp>
      <p:pic>
        <p:nvPicPr>
          <p:cNvPr id="1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5102352"/>
            <a:ext cx="164592" cy="164592"/>
          </a:xfrm>
          <a:prstGeom prst="rect">
            <a:avLst/>
          </a:prstGeom>
        </p:spPr>
      </p:pic>
      <p:sp>
        <p:nvSpPr>
          <p:cNvPr id="152" name="Text 147"/>
          <p:cNvSpPr txBox="1"/>
          <p:nvPr/>
        </p:nvSpPr>
        <p:spPr>
          <a:xfrm>
            <a:off x="8394192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원장은 append-only</a:t>
            </a:r>
            <a:endParaRPr lang="en-US" sz="1150" dirty="0"/>
          </a:p>
        </p:txBody>
      </p:sp>
      <p:sp>
        <p:nvSpPr>
          <p:cNvPr id="153" name="Text 148"/>
          <p:cNvSpPr txBox="1"/>
          <p:nvPr/>
        </p:nvSpPr>
        <p:spPr>
          <a:xfrm>
            <a:off x="8394192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재현 판정이 남아 있어, 지금 기준이 아니라 그때 기준으로 되짚을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TECH STACK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— 8,684줄을 다시 쓰지 않고 감싼다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한 줄도 고치지 않는다. 이미 있는 JSON 출력 명령(facts · candles · factors · calendar · macro)이 그대로 인터페이스가 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179222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ic-chair 오케스트레이터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79222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Agent SDK · 서브에이전트 팬아웃/팬인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491472" y="179222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통과분만 조립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8932" y="244602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39572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239572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.claude/agents/*.md  9개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39572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에이전트별 시스템 프롬프트 · 허용 도구 목록 · 담당 절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9491472" y="239572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도구 목록이 곧 권한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8932" y="3049524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999232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572768" y="299923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.claude/skills/  5종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299923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source-grading · envelope-schema · paper-adoption · replication · compliance-gate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491472" y="29992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규칙을 프롬프트에 흩지 않는다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8932" y="3653028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602736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572768" y="360273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서버  ki-ledger (stdio · Python)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212080" y="360273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의 읽기 명령만 감싼 8개 도구. 쓰기 도구 없음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491472" y="3602736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벽이 세워지는 지점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8932" y="425653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206240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572768" y="420624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· 수확 · 감가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212080" y="420624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코드. 에이전트가 아니라 스케줄러가 돌린다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9491472" y="4206240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매번 같은 답이 나와야 한다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98932" y="486003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1" name="Shape 39"/>
          <p:cNvSpPr/>
          <p:nvPr/>
        </p:nvSpPr>
        <p:spPr>
          <a:xfrm>
            <a:off x="548640" y="480974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572768" y="480974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 PreToolUse / PostToolUse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212080" y="480974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화이트리스트 밖 호출 차단 · 모든 출력에 scrub() 강제 · 봉투 스키마 검증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491472" y="480974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코드가 지키는 마지막 선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98932" y="546354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548640" y="541324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1572768" y="541324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 ·  SCHEDULE.cmd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212080" y="541324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없음. 07:30 · 08:50 · 16:10 자동 실행도 그대로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9491472" y="541324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손대지 않는다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98932" y="6103620"/>
            <a:ext cx="11094415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548640" y="6053328"/>
            <a:ext cx="11094415" cy="4572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86384" y="605332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들어간 것 — agents/ 파이썬 13개 · 데스크 정의 9 · 스킬 5 · 자체 검사 273개.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코드 변경은 0줄이다. ki_monitor.py 는 열지 않았다.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MCP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ki-ledger — 벽이 실제로 세워지는 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노출하는 도구가 곧 권한이다. 아래 열 개 외에는 존재하지 않으므로, 에이전트는 원장을 고칠 방법 자체가 없다.</a:t>
            </a:r>
            <a:endParaRPr lang="en-US" sz="12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73936"/>
          <a:ext cx="6967728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2084832"/>
                <a:gridCol w="2395728"/>
                <a:gridCol w="73152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MCP 도구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인자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반환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쓰기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universe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 · 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시장의 상장종목 목록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최근 측정값 한 줄 (종가 기준)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price_series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start · end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일봉 시계열 (오름차순)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fundamentals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period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재무 항목 · 기준일은 보고서 기간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disclosures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since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공시 목록 + 접수번호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index_series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index_name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지수 일봉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 · 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한국은행 ECOS · FRED 시계열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staleness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원장이 며칠 뒤처졌는가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papers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 · state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장부 — 인용 가능 여부 · 붙는 표시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49540" y="1824228"/>
            <a:ext cx="3941064" cy="173736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7699248" y="1773936"/>
            <a:ext cx="3941064" cy="1737360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18704" y="19385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 것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04" y="2304288"/>
            <a:ext cx="146304" cy="14630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156448" y="22677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 · catchup · fundamentals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704" y="2587752"/>
            <a:ext cx="146304" cy="14630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56448" y="25511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macro-us · import-keys · migrate-keys</a:t>
            </a:r>
            <a:endParaRPr lang="en-US" sz="10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704" y="2871216"/>
            <a:ext cx="146304" cy="14630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156448" y="28346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watch · live · eod (알림 발송)</a:t>
            </a:r>
            <a:endParaRPr lang="en-US" sz="10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154680"/>
            <a:ext cx="146304" cy="14630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156448" y="311810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주문 계열 전부</a:t>
            </a:r>
            <a:endParaRPr lang="en-US" sz="1000" dirty="0"/>
          </a:p>
        </p:txBody>
      </p:sp>
      <p:sp>
        <p:nvSpPr>
          <p:cNvPr id="17" name="Shape 10"/>
          <p:cNvSpPr/>
          <p:nvPr/>
        </p:nvSpPr>
        <p:spPr>
          <a:xfrm>
            <a:off x="7749540" y="3707892"/>
            <a:ext cx="3941064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1"/>
          <p:cNvSpPr/>
          <p:nvPr/>
        </p:nvSpPr>
        <p:spPr>
          <a:xfrm>
            <a:off x="7699248" y="3657600"/>
            <a:ext cx="3941064" cy="1316736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7918704" y="38039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는 예외다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7918704" y="4114800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원장운영역만 MCP 가 아니라 Bash 로 ki_monitor.py 를 직접 부른다. 대신 이 데스크에는 해석을 쓰는 권한이 없고, 산출물은 '적재 결과'와 '품질 경고'뿐이다.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7749540" y="5170932"/>
            <a:ext cx="3941064" cy="1152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5"/>
          <p:cNvSpPr/>
          <p:nvPr/>
        </p:nvSpPr>
        <p:spPr>
          <a:xfrm>
            <a:off x="7699248" y="5120640"/>
            <a:ext cx="3941064" cy="1152144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7918704" y="52669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네트워크를 쓰지 않는다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7918704" y="5559552"/>
            <a:ext cx="3529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도구 전부 읽기다. 오래됐으면 stale_days 로 알릴 뿐, 몰래 새로 받아오지 않는다. papers 는 원장이 아니라 논문 장부를 읽으므로 등급이 '방법론' 이다.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세 겹으로 막는다 — 쓰기 도구가 없다 · 연결이 mode=ro 다 · 생 SQL 을 받지 않는다. stdout 은 JSON 만, 진단은 stderr.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IMPLEMENTATION SPEC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확정값 — 코드가 이것을 지킨다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제안이 아니다. 아래 값은 agents/ 에 들어가 있고, 문서와 코드가 어긋나면 docs/audit.py 가 잡는다.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577840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577840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8105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재현 관문 — 판정 기준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03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유니버스</a:t>
            </a:r>
            <a:endParaRPr lang="en-US" sz="860" dirty="0"/>
          </a:p>
        </p:txBody>
      </p:sp>
      <p:sp>
        <p:nvSpPr>
          <p:cNvPr id="9" name="Text 7"/>
          <p:cNvSpPr txBox="1"/>
          <p:nvPr/>
        </p:nvSpPr>
        <p:spPr>
          <a:xfrm>
            <a:off x="1975104" y="209397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 인자로 받는다 (기본 KOSDAQ). 종목·월 단위로 거른다</a:t>
            </a:r>
            <a:endParaRPr lang="en-US" sz="82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35915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최소 표본</a:t>
            </a:r>
            <a:endParaRPr lang="en-US" sz="860" dirty="0"/>
          </a:p>
        </p:txBody>
      </p:sp>
      <p:sp>
        <p:nvSpPr>
          <p:cNvPr id="11" name="Text 9"/>
          <p:cNvSpPr txBox="1"/>
          <p:nvPr/>
        </p:nvSpPr>
        <p:spPr>
          <a:xfrm>
            <a:off x="1975104" y="2350008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종목 n ≥ 100 · 유효 월 ≥ 36 (미달 시 계산 거부)</a:t>
            </a:r>
            <a:endParaRPr lang="en-US" sz="82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61518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포트폴리오</a:t>
            </a:r>
            <a:endParaRPr lang="en-US" sz="860" dirty="0"/>
          </a:p>
        </p:txBody>
      </p:sp>
      <p:sp>
        <p:nvSpPr>
          <p:cNvPr id="13" name="Text 11"/>
          <p:cNvSpPr txBox="1"/>
          <p:nvPr/>
        </p:nvSpPr>
        <p:spPr>
          <a:xfrm>
            <a:off x="1975104" y="2606040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팩터값 5분위 · 월말 리밸런싱 · 동일가중 · rank 로 동값 처리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712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검정 통계</a:t>
            </a:r>
            <a:endParaRPr lang="en-US" sz="860" dirty="0"/>
          </a:p>
        </p:txBody>
      </p:sp>
      <p:sp>
        <p:nvSpPr>
          <p:cNvPr id="15" name="Text 13"/>
          <p:cNvSpPr txBox="1"/>
          <p:nvPr/>
        </p:nvSpPr>
        <p:spPr>
          <a:xfrm>
            <a:off x="1975104" y="2862072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분위: Q5−Q1 · NW t  |  이벤트: 긴 구간 달력시간 NW · 짧은 창 횡단면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14553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</a:t>
            </a:r>
            <a:endParaRPr lang="en-US" sz="860" dirty="0"/>
          </a:p>
        </p:txBody>
      </p:sp>
      <p:sp>
        <p:nvSpPr>
          <p:cNvPr id="17" name="Text 15"/>
          <p:cNvSpPr txBox="1"/>
          <p:nvPr/>
        </p:nvSpPr>
        <p:spPr>
          <a:xfrm>
            <a:off x="1975104" y="3136392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≥ 3.0 &amp; 부호 일치 → 재현됨 · 부호 반대 → 방향 반대</a:t>
            </a:r>
            <a:endParaRPr lang="en-US" sz="82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&lt; 3.0                        → 판정 불가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5661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재검 순번</a:t>
            </a:r>
            <a:endParaRPr lang="en-US" sz="860" dirty="0"/>
          </a:p>
        </p:txBody>
      </p:sp>
      <p:sp>
        <p:nvSpPr>
          <p:cNvPr id="19" name="Text 17"/>
          <p:cNvSpPr txBox="1"/>
          <p:nvPr/>
        </p:nvSpPr>
        <p:spPr>
          <a:xfrm>
            <a:off x="1975104" y="355701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recheck_due 오래된 순 · 주 ≤3편. 트리거와 같은 함수를 쓴다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6323076" y="1751076"/>
            <a:ext cx="5367528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6272784" y="1700784"/>
            <a:ext cx="5367528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55664" y="181051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트리거 임계값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55664" y="2121408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47104" y="212140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신규 공시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212140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제목·태그로 q2 · q1 · q4 로 분기 (T1)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455664" y="2368296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47104" y="236829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급변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36829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|일간수익률| ≥ 8% · 종목당 1회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55664" y="2615184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47104" y="2615184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 만료 임박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2615184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상장일 + 6개월, D-30 영업일 진입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455664" y="2862072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47104" y="286207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거시 갱신</a:t>
            </a:r>
            <a:endParaRPr lang="en-US" sz="84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2862072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macro_daily 최신일 &gt; 감시선 · 하루 1회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55664" y="3108960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47104" y="3108960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3108960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≤3편 (T3) · 은퇴본은 제외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55664" y="3355848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47104" y="335584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사이클</a:t>
            </a:r>
            <a:endParaRPr lang="en-US" sz="84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335584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월 07:40 · RUN_ALL.cmd cycle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455664" y="3602736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547104" y="360273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 경보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8321040" y="360273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stale_days &gt; 3 영업일 → 게이트 ⑤ 반려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98932" y="4110228"/>
            <a:ext cx="5577840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4059936"/>
            <a:ext cx="5577840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416966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봉투 — 필수 필드 (게이트가 검사)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4462272"/>
            <a:ext cx="5175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required: claim · asof · source_grade · limits[] ·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desk · instance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가 있으면  → unit 필수 · read[]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가 null 이면 → reason 필수 (0 으로 채우지 않는다)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method.paper 가 있으면 → paper_state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replication 은 필수가 아니다 — unverified 는 아직 없다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read[] = {source, key, value, asof}   ← 재생 가능성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못 읽은 값도 value:null 로 적는다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6323076" y="4110228"/>
            <a:ext cx="5367528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6272784" y="4059936"/>
            <a:ext cx="5367528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455664" y="416966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예산 상한 · 판정 어휘 차단 목록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45566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4710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 경량</a:t>
            </a:r>
            <a:endParaRPr lang="en-US" sz="820" dirty="0"/>
          </a:p>
        </p:txBody>
      </p:sp>
      <p:sp>
        <p:nvSpPr>
          <p:cNvPr id="53" name="Text 51"/>
          <p:cNvSpPr txBox="1"/>
          <p:nvPr/>
        </p:nvSpPr>
        <p:spPr>
          <a:xfrm>
            <a:off x="654710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12K 토큰 · 도구 6회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819302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28446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 표준</a:t>
            </a:r>
            <a:endParaRPr lang="en-US" sz="820" dirty="0"/>
          </a:p>
        </p:txBody>
      </p:sp>
      <p:sp>
        <p:nvSpPr>
          <p:cNvPr id="56" name="Text 54"/>
          <p:cNvSpPr txBox="1"/>
          <p:nvPr/>
        </p:nvSpPr>
        <p:spPr>
          <a:xfrm>
            <a:off x="828446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40K · 18회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993038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02182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 상위</a:t>
            </a:r>
            <a:endParaRPr lang="en-US" sz="820" dirty="0"/>
          </a:p>
        </p:txBody>
      </p:sp>
      <p:sp>
        <p:nvSpPr>
          <p:cNvPr id="59" name="Text 57"/>
          <p:cNvSpPr txBox="1"/>
          <p:nvPr/>
        </p:nvSpPr>
        <p:spPr>
          <a:xfrm>
            <a:off x="1002182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90K · 40회</a:t>
            </a:r>
            <a:endParaRPr lang="en-US" sz="760" dirty="0"/>
          </a:p>
        </p:txBody>
      </p:sp>
      <p:sp>
        <p:nvSpPr>
          <p:cNvPr id="60" name="Text 58"/>
          <p:cNvSpPr txBox="1"/>
          <p:nvPr/>
        </p:nvSpPr>
        <p:spPr>
          <a:xfrm>
            <a:off x="6455664" y="493776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초과 시 '미완' 으로 기록 — 조용히 넘어가지 않는다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6455664" y="52120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① 차단 어휘 (정규식)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6455664" y="5431536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매수 · 매도 · 저평가 · 고평가 · 추천 · 목표가 · 목표주가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비중확대 · 비중축소 · 적정주가 · 투자의견 · 강력매수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98932" y="6121908"/>
            <a:ext cx="11094415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62"/>
          <p:cNvSpPr/>
          <p:nvPr/>
        </p:nvSpPr>
        <p:spPr>
          <a:xfrm>
            <a:off x="548640" y="6071616"/>
            <a:ext cx="11094415" cy="42062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86384" y="6071616"/>
            <a:ext cx="106189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3.0 은 자연상수가 아니다. </a:t>
            </a:r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방식과 가정한 검정 횟수에 따라 달라지는 값이고, 재검 대상이다. 다만 한 번의 판정을 위해 낮추지 않는다 — 낮추려면 사람이 정한다.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A DAY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— 기존 자동 실행 시각은 그대로 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SCHEDULE.cmd 의 07:30 · 08:50 · 16:10 을 바꾸지 않는다. 그 사이에 소집·게이트·조립을 끼워 넣는다.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07:30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98932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· 재현 배치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" y="3200400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arXiv·S2·OpenAlex·Crossref 훑기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76732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도래분 재현 실행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33425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최대 1편 · 은퇴 판정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배치 (에이전트 아님)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866644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08:50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2866644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+ 소집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80944" y="3200400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생성 (기존 그대로)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76732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스캔 → 인스턴스 생성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33425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병렬 작업 · 봉투 제출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 ~50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5134356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~15:30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134356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(읽기만)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248656" y="3200400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스냅샷은 화면에만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76732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 쓰지 않는다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33425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돌지 않는다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only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7402068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900" dirty="0"/>
          </a:p>
        </p:txBody>
      </p:sp>
      <p:sp>
        <p:nvSpPr>
          <p:cNvPr id="50" name="Shape 48"/>
          <p:cNvSpPr/>
          <p:nvPr/>
        </p:nvSpPr>
        <p:spPr>
          <a:xfrm>
            <a:off x="7402068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적재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7516368" y="3200400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유일한 원장 쓰기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76732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catchup 으로 영업일 채움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33425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stale_days 갱신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 단독</a:t>
            </a:r>
            <a:endParaRPr lang="en-US" sz="880" dirty="0"/>
          </a:p>
        </p:txBody>
      </p:sp>
      <p:sp>
        <p:nvSpPr>
          <p:cNvPr id="61" name="Shape 59"/>
          <p:cNvSpPr/>
          <p:nvPr/>
        </p:nvSpPr>
        <p:spPr>
          <a:xfrm>
            <a:off x="9669780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900" dirty="0"/>
          </a:p>
        </p:txBody>
      </p:sp>
      <p:sp>
        <p:nvSpPr>
          <p:cNvPr id="64" name="Shape 62"/>
          <p:cNvSpPr/>
          <p:nvPr/>
        </p:nvSpPr>
        <p:spPr>
          <a:xfrm>
            <a:off x="9669780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→ 조립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9784080" y="3200400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 검산 → compliance 판정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767328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ic-chair 로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334256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반려분은 사유와 함께 남는다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발행</a:t>
            </a:r>
            <a:endParaRPr lang="en-US" sz="880" dirty="0"/>
          </a:p>
        </p:txBody>
      </p:sp>
      <p:sp>
        <p:nvSpPr>
          <p:cNvPr id="75" name="Shape 73"/>
          <p:cNvSpPr/>
          <p:nvPr/>
        </p:nvSpPr>
        <p:spPr>
          <a:xfrm>
            <a:off x="598932" y="5500116"/>
            <a:ext cx="11094415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49824"/>
            <a:ext cx="11094415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86384" y="5449824"/>
            <a:ext cx="1061892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장중에 데스크를 돌리지 않는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일봉 장부 위에 세운 해석을 장중 값과 섞으면 무엇을 근거로 읽었는지가 시각마다 달라진다. 하루 한 번, 같은 기준일 위에서만 읽는다.
</a:t>
            </a:r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07:30 배치로 두는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판단이 아니라 계산이다. 에이전트가 아니라 결정적 코드가 돌려야 매번 같은 답이 나온다.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ROADMAP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단계 중 넷이 코드로 들어갔다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파이프라인이 먼저였다. 재현되지 않은 방법론 위에 에이전트를 아무리 많이 띄워도 의미가 없기 때문이다.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  ·  들어감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05917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79918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89245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985723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8992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1172261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65530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6"/>
          <p:cNvSpPr/>
          <p:nvPr/>
        </p:nvSpPr>
        <p:spPr>
          <a:xfrm>
            <a:off x="1358798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7"/>
          <p:cNvSpPr/>
          <p:nvPr/>
        </p:nvSpPr>
        <p:spPr>
          <a:xfrm>
            <a:off x="1452067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8"/>
          <p:cNvSpPr/>
          <p:nvPr/>
        </p:nvSpPr>
        <p:spPr>
          <a:xfrm>
            <a:off x="154533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9"/>
          <p:cNvSpPr/>
          <p:nvPr/>
        </p:nvSpPr>
        <p:spPr>
          <a:xfrm>
            <a:off x="1638605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20"/>
          <p:cNvSpPr/>
          <p:nvPr/>
        </p:nvSpPr>
        <p:spPr>
          <a:xfrm>
            <a:off x="173187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1"/>
          <p:cNvSpPr/>
          <p:nvPr/>
        </p:nvSpPr>
        <p:spPr>
          <a:xfrm>
            <a:off x="1825142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18411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3"/>
          <p:cNvSpPr/>
          <p:nvPr/>
        </p:nvSpPr>
        <p:spPr>
          <a:xfrm>
            <a:off x="2011680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4"/>
          <p:cNvSpPr/>
          <p:nvPr/>
        </p:nvSpPr>
        <p:spPr>
          <a:xfrm>
            <a:off x="2104949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5"/>
          <p:cNvSpPr/>
          <p:nvPr/>
        </p:nvSpPr>
        <p:spPr>
          <a:xfrm>
            <a:off x="2198218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6"/>
          <p:cNvSpPr/>
          <p:nvPr/>
        </p:nvSpPr>
        <p:spPr>
          <a:xfrm>
            <a:off x="229148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7"/>
          <p:cNvSpPr/>
          <p:nvPr/>
        </p:nvSpPr>
        <p:spPr>
          <a:xfrm>
            <a:off x="2384755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8"/>
          <p:cNvSpPr/>
          <p:nvPr/>
        </p:nvSpPr>
        <p:spPr>
          <a:xfrm>
            <a:off x="247802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1" name="Shape 29"/>
          <p:cNvSpPr/>
          <p:nvPr/>
        </p:nvSpPr>
        <p:spPr>
          <a:xfrm>
            <a:off x="713232" y="303580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7824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전환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13232" y="360273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7824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반감기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13232" y="4169664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7824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 이관 (미검증으로)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13232" y="4736592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7824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papers MCP 도구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866644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 ·  들어감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866644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3" name="Shape 41"/>
          <p:cNvSpPr/>
          <p:nvPr/>
        </p:nvSpPr>
        <p:spPr>
          <a:xfrm>
            <a:off x="2816352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962656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2973629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06689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16016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3253435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3346704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3439973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1" name="Shape 49"/>
          <p:cNvSpPr/>
          <p:nvPr/>
        </p:nvSpPr>
        <p:spPr>
          <a:xfrm>
            <a:off x="3533242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6510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3" name="Shape 51"/>
          <p:cNvSpPr/>
          <p:nvPr/>
        </p:nvSpPr>
        <p:spPr>
          <a:xfrm>
            <a:off x="3719779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4" name="Shape 52"/>
          <p:cNvSpPr/>
          <p:nvPr/>
        </p:nvSpPr>
        <p:spPr>
          <a:xfrm>
            <a:off x="381304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5" name="Shape 53"/>
          <p:cNvSpPr/>
          <p:nvPr/>
        </p:nvSpPr>
        <p:spPr>
          <a:xfrm>
            <a:off x="3906317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6" name="Shape 54"/>
          <p:cNvSpPr/>
          <p:nvPr/>
        </p:nvSpPr>
        <p:spPr>
          <a:xfrm>
            <a:off x="399958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4092854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4186123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4279392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4372661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4465930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455919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4652467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474573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2980944" y="303580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145536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러너 · 이벤트 러너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2980944" y="360273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145536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|t| ≥ 3.0 확정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2980944" y="4169664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145536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→ 장부 append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2980944" y="4736592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3145536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코드화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5134356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4" name="Shape 72"/>
          <p:cNvSpPr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 ·  들어감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5134356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7" name="Shape 75"/>
          <p:cNvSpPr/>
          <p:nvPr/>
        </p:nvSpPr>
        <p:spPr>
          <a:xfrm>
            <a:off x="5084064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5230368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 상시화</a:t>
            </a:r>
            <a:endParaRPr lang="en-US" sz="1500" dirty="0"/>
          </a:p>
        </p:txBody>
      </p:sp>
      <p:sp>
        <p:nvSpPr>
          <p:cNvPr id="79" name="Shape 77"/>
          <p:cNvSpPr/>
          <p:nvPr/>
        </p:nvSpPr>
        <p:spPr>
          <a:xfrm>
            <a:off x="5241341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334610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427878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521147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614416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5707685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Shape 83"/>
          <p:cNvSpPr/>
          <p:nvPr/>
        </p:nvSpPr>
        <p:spPr>
          <a:xfrm>
            <a:off x="5800954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6" name="Shape 84"/>
          <p:cNvSpPr/>
          <p:nvPr/>
        </p:nvSpPr>
        <p:spPr>
          <a:xfrm>
            <a:off x="5894222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7" name="Shape 85"/>
          <p:cNvSpPr/>
          <p:nvPr/>
        </p:nvSpPr>
        <p:spPr>
          <a:xfrm>
            <a:off x="5987491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8" name="Shape 86"/>
          <p:cNvSpPr/>
          <p:nvPr/>
        </p:nvSpPr>
        <p:spPr>
          <a:xfrm>
            <a:off x="6080760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9" name="Shape 87"/>
          <p:cNvSpPr/>
          <p:nvPr/>
        </p:nvSpPr>
        <p:spPr>
          <a:xfrm>
            <a:off x="6174029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0" name="Shape 88"/>
          <p:cNvSpPr/>
          <p:nvPr/>
        </p:nvSpPr>
        <p:spPr>
          <a:xfrm>
            <a:off x="6267298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1" name="Shape 89"/>
          <p:cNvSpPr/>
          <p:nvPr/>
        </p:nvSpPr>
        <p:spPr>
          <a:xfrm>
            <a:off x="6360566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2" name="Shape 90"/>
          <p:cNvSpPr/>
          <p:nvPr/>
        </p:nvSpPr>
        <p:spPr>
          <a:xfrm>
            <a:off x="6453835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3" name="Shape 91"/>
          <p:cNvSpPr/>
          <p:nvPr/>
        </p:nvSpPr>
        <p:spPr>
          <a:xfrm>
            <a:off x="6547104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4" name="Shape 92"/>
          <p:cNvSpPr/>
          <p:nvPr/>
        </p:nvSpPr>
        <p:spPr>
          <a:xfrm>
            <a:off x="6640373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5" name="Shape 93"/>
          <p:cNvSpPr/>
          <p:nvPr/>
        </p:nvSpPr>
        <p:spPr>
          <a:xfrm>
            <a:off x="6733642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6" name="Shape 94"/>
          <p:cNvSpPr/>
          <p:nvPr/>
        </p:nvSpPr>
        <p:spPr>
          <a:xfrm>
            <a:off x="6826910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6920179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96"/>
          <p:cNvSpPr/>
          <p:nvPr/>
        </p:nvSpPr>
        <p:spPr>
          <a:xfrm>
            <a:off x="7013448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7"/>
          <p:cNvSpPr/>
          <p:nvPr/>
        </p:nvSpPr>
        <p:spPr>
          <a:xfrm>
            <a:off x="5248656" y="303580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5413248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07:40 주간 배치 등록</a:t>
            </a:r>
            <a:endParaRPr lang="en-US" sz="950" dirty="0"/>
          </a:p>
        </p:txBody>
      </p:sp>
      <p:sp>
        <p:nvSpPr>
          <p:cNvPr id="101" name="Shape 99"/>
          <p:cNvSpPr/>
          <p:nvPr/>
        </p:nvSpPr>
        <p:spPr>
          <a:xfrm>
            <a:off x="5248656" y="360273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5413248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도래분 합류 · 주 3편</a:t>
            </a:r>
            <a:endParaRPr lang="en-US" sz="950" dirty="0"/>
          </a:p>
        </p:txBody>
      </p:sp>
      <p:sp>
        <p:nvSpPr>
          <p:cNvPr id="103" name="Shape 101"/>
          <p:cNvSpPr/>
          <p:nvPr/>
        </p:nvSpPr>
        <p:spPr>
          <a:xfrm>
            <a:off x="5248656" y="4169664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5413248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 · 경고 · 은퇴 자동화</a:t>
            </a:r>
            <a:endParaRPr lang="en-US" sz="950" dirty="0"/>
          </a:p>
        </p:txBody>
      </p:sp>
      <p:sp>
        <p:nvSpPr>
          <p:cNvPr id="105" name="Shape 103"/>
          <p:cNvSpPr/>
          <p:nvPr/>
        </p:nvSpPr>
        <p:spPr>
          <a:xfrm>
            <a:off x="5248656" y="4736592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5413248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채택률 실측은 원장 필요</a:t>
            </a:r>
            <a:endParaRPr lang="en-US" sz="950" dirty="0"/>
          </a:p>
        </p:txBody>
      </p:sp>
      <p:sp>
        <p:nvSpPr>
          <p:cNvPr id="107" name="Shape 105"/>
          <p:cNvSpPr/>
          <p:nvPr/>
        </p:nvSpPr>
        <p:spPr>
          <a:xfrm>
            <a:off x="7402068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P4  ·  들어감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7402068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351776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7498080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소집</a:t>
            </a:r>
            <a:endParaRPr lang="en-US" sz="1500" dirty="0"/>
          </a:p>
        </p:txBody>
      </p:sp>
      <p:sp>
        <p:nvSpPr>
          <p:cNvPr id="113" name="Shape 111"/>
          <p:cNvSpPr/>
          <p:nvPr/>
        </p:nvSpPr>
        <p:spPr>
          <a:xfrm>
            <a:off x="7509053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60232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69559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788859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882128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975397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9" name="Shape 117"/>
          <p:cNvSpPr/>
          <p:nvPr/>
        </p:nvSpPr>
        <p:spPr>
          <a:xfrm>
            <a:off x="8068666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161934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1" name="Shape 119"/>
          <p:cNvSpPr/>
          <p:nvPr/>
        </p:nvSpPr>
        <p:spPr>
          <a:xfrm>
            <a:off x="8255203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34847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3" name="Shape 121"/>
          <p:cNvSpPr/>
          <p:nvPr/>
        </p:nvSpPr>
        <p:spPr>
          <a:xfrm>
            <a:off x="8441741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853501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5" name="Shape 123"/>
          <p:cNvSpPr/>
          <p:nvPr/>
        </p:nvSpPr>
        <p:spPr>
          <a:xfrm>
            <a:off x="8628278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721547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814816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908085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001354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0" name="Shape 128"/>
          <p:cNvSpPr/>
          <p:nvPr/>
        </p:nvSpPr>
        <p:spPr>
          <a:xfrm>
            <a:off x="909462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1" name="Shape 129"/>
          <p:cNvSpPr/>
          <p:nvPr/>
        </p:nvSpPr>
        <p:spPr>
          <a:xfrm>
            <a:off x="9187891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2" name="Shape 130"/>
          <p:cNvSpPr/>
          <p:nvPr/>
        </p:nvSpPr>
        <p:spPr>
          <a:xfrm>
            <a:off x="928116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516368" y="303580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7680960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스캐너</a:t>
            </a:r>
            <a:endParaRPr lang="en-US" sz="950" dirty="0"/>
          </a:p>
        </p:txBody>
      </p:sp>
      <p:sp>
        <p:nvSpPr>
          <p:cNvPr id="135" name="Shape 133"/>
          <p:cNvSpPr/>
          <p:nvPr/>
        </p:nvSpPr>
        <p:spPr>
          <a:xfrm>
            <a:off x="7516368" y="360273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7680960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작업지시서 · 예산 · 소멸</a:t>
            </a:r>
            <a:endParaRPr lang="en-US" sz="950" dirty="0"/>
          </a:p>
        </p:txBody>
      </p:sp>
      <p:sp>
        <p:nvSpPr>
          <p:cNvPr id="137" name="Shape 135"/>
          <p:cNvSpPr/>
          <p:nvPr/>
        </p:nvSpPr>
        <p:spPr>
          <a:xfrm>
            <a:off x="7516368" y="4169664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7680960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T1~T3 에스컬레이션</a:t>
            </a:r>
            <a:endParaRPr lang="en-US" sz="950" dirty="0"/>
          </a:p>
        </p:txBody>
      </p:sp>
      <p:sp>
        <p:nvSpPr>
          <p:cNvPr id="139" name="Shape 137"/>
          <p:cNvSpPr/>
          <p:nvPr/>
        </p:nvSpPr>
        <p:spPr>
          <a:xfrm>
            <a:off x="7516368" y="4736592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7680960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v2 · instance · read</a:t>
            </a:r>
            <a:endParaRPr lang="en-US" sz="950" dirty="0"/>
          </a:p>
        </p:txBody>
      </p:sp>
      <p:sp>
        <p:nvSpPr>
          <p:cNvPr id="141" name="Shape 139"/>
          <p:cNvSpPr/>
          <p:nvPr/>
        </p:nvSpPr>
        <p:spPr>
          <a:xfrm>
            <a:off x="9669780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 ·  일부</a:t>
            </a:r>
            <a:endParaRPr lang="en-US" sz="1050" dirty="0"/>
          </a:p>
        </p:txBody>
      </p:sp>
      <p:sp>
        <p:nvSpPr>
          <p:cNvPr id="144" name="Shape 142"/>
          <p:cNvSpPr/>
          <p:nvPr/>
        </p:nvSpPr>
        <p:spPr>
          <a:xfrm>
            <a:off x="9669780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619488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6" name="Text 144"/>
          <p:cNvSpPr txBox="1"/>
          <p:nvPr/>
        </p:nvSpPr>
        <p:spPr>
          <a:xfrm>
            <a:off x="9765792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운영</a:t>
            </a:r>
            <a:endParaRPr lang="en-US" sz="1500" dirty="0"/>
          </a:p>
        </p:txBody>
      </p:sp>
      <p:sp>
        <p:nvSpPr>
          <p:cNvPr id="147" name="Shape 145"/>
          <p:cNvSpPr/>
          <p:nvPr/>
        </p:nvSpPr>
        <p:spPr>
          <a:xfrm>
            <a:off x="9776765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870034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963302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0" name="Shape 148"/>
          <p:cNvSpPr/>
          <p:nvPr/>
        </p:nvSpPr>
        <p:spPr>
          <a:xfrm>
            <a:off x="10056571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1" name="Shape 149"/>
          <p:cNvSpPr/>
          <p:nvPr/>
        </p:nvSpPr>
        <p:spPr>
          <a:xfrm>
            <a:off x="10149840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2" name="Shape 150"/>
          <p:cNvSpPr/>
          <p:nvPr/>
        </p:nvSpPr>
        <p:spPr>
          <a:xfrm>
            <a:off x="10243109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336378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0429646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522915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616184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709453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802722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895990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989259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1082528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1175797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3" name="Shape 161"/>
          <p:cNvSpPr/>
          <p:nvPr/>
        </p:nvSpPr>
        <p:spPr>
          <a:xfrm>
            <a:off x="11269066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1362334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1455603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6" name="Shape 164"/>
          <p:cNvSpPr/>
          <p:nvPr/>
        </p:nvSpPr>
        <p:spPr>
          <a:xfrm>
            <a:off x="11548872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784080" y="3035808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948672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 · 리플레이</a:t>
            </a:r>
            <a:endParaRPr lang="en-US" sz="950" dirty="0"/>
          </a:p>
        </p:txBody>
      </p:sp>
      <p:sp>
        <p:nvSpPr>
          <p:cNvPr id="169" name="Shape 167"/>
          <p:cNvSpPr/>
          <p:nvPr/>
        </p:nvSpPr>
        <p:spPr>
          <a:xfrm>
            <a:off x="9784080" y="3602736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948672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산출과 2주 대조</a:t>
            </a:r>
            <a:endParaRPr lang="en-US" sz="950" dirty="0"/>
          </a:p>
        </p:txBody>
      </p:sp>
      <p:sp>
        <p:nvSpPr>
          <p:cNvPr id="171" name="Shape 169"/>
          <p:cNvSpPr/>
          <p:nvPr/>
        </p:nvSpPr>
        <p:spPr>
          <a:xfrm>
            <a:off x="9784080" y="4169664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9948672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불일치 원인 전수 분석</a:t>
            </a:r>
            <a:endParaRPr lang="en-US" sz="950" dirty="0"/>
          </a:p>
        </p:txBody>
      </p:sp>
      <p:sp>
        <p:nvSpPr>
          <p:cNvPr id="173" name="Shape 171"/>
          <p:cNvSpPr/>
          <p:nvPr/>
        </p:nvSpPr>
        <p:spPr>
          <a:xfrm>
            <a:off x="9784080" y="4736592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948672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여부는 사람이 결정</a:t>
            </a:r>
            <a:endParaRPr lang="en-US" sz="950" dirty="0"/>
          </a:p>
        </p:txBody>
      </p:sp>
      <p:sp>
        <p:nvSpPr>
          <p:cNvPr id="175" name="Shape 173"/>
          <p:cNvSpPr/>
          <p:nvPr/>
        </p:nvSpPr>
        <p:spPr>
          <a:xfrm>
            <a:off x="598932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48640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731520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코드로 끝난 것</a:t>
            </a:r>
            <a:endParaRPr lang="en-US" sz="1000" dirty="0"/>
          </a:p>
        </p:txBody>
      </p:sp>
      <p:sp>
        <p:nvSpPr>
          <p:cNvPr id="178" name="Text 176"/>
          <p:cNvSpPr txBox="1"/>
          <p:nvPr/>
        </p:nvSpPr>
        <p:spPr>
          <a:xfrm>
            <a:off x="731520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 · 러너 · 관문 · 트리거 · 사이클 · 되짚기 — 자체 검사 273개</a:t>
            </a:r>
            <a:endParaRPr lang="en-US" sz="1000" dirty="0"/>
          </a:p>
        </p:txBody>
      </p:sp>
      <p:sp>
        <p:nvSpPr>
          <p:cNvPr id="179" name="Shape 177"/>
          <p:cNvSpPr/>
          <p:nvPr/>
        </p:nvSpPr>
        <p:spPr>
          <a:xfrm>
            <a:off x="4357116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306824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1" name="Text 179"/>
          <p:cNvSpPr txBox="1"/>
          <p:nvPr/>
        </p:nvSpPr>
        <p:spPr>
          <a:xfrm>
            <a:off x="4489704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원장이 있어야 되는 것</a:t>
            </a:r>
            <a:endParaRPr lang="en-US" sz="1000" dirty="0"/>
          </a:p>
        </p:txBody>
      </p:sp>
      <p:sp>
        <p:nvSpPr>
          <p:cNvPr id="182" name="Text 180"/>
          <p:cNvSpPr txBox="1"/>
          <p:nvPr/>
        </p:nvSpPr>
        <p:spPr>
          <a:xfrm>
            <a:off x="4489704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중 5편의 실제 재현 · 채택률 · 트리거 발생률 실측</a:t>
            </a:r>
            <a:endParaRPr lang="en-US" sz="1000" dirty="0"/>
          </a:p>
        </p:txBody>
      </p:sp>
      <p:sp>
        <p:nvSpPr>
          <p:cNvPr id="183" name="Shape 181"/>
          <p:cNvSpPr/>
          <p:nvPr/>
        </p:nvSpPr>
        <p:spPr>
          <a:xfrm>
            <a:off x="8115300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4" name="Shape 182"/>
          <p:cNvSpPr/>
          <p:nvPr/>
        </p:nvSpPr>
        <p:spPr>
          <a:xfrm>
            <a:off x="8065008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8247888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 정할 것</a:t>
            </a:r>
            <a:endParaRPr lang="en-US" sz="1000" dirty="0"/>
          </a:p>
        </p:txBody>
      </p:sp>
      <p:sp>
        <p:nvSpPr>
          <p:cNvPr id="186" name="Text 184"/>
          <p:cNvSpPr txBox="1"/>
          <p:nvPr/>
        </p:nvSpPr>
        <p:spPr>
          <a:xfrm>
            <a:off x="8247888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결과로 전환 여부 — 이 덱이 아니라 회의에서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RISK REGISTER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완화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큰 위험은 에이전트가 틀리는 것이 아니라, 틀린 것이 맞는 것처럼 회의에 올라가는 것이다.</a:t>
            </a:r>
            <a:endParaRPr lang="en-US" sz="12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1042416"/>
                <a:gridCol w="2121408"/>
                <a:gridCol w="4133088"/>
                <a:gridCol w="3758184"/>
              </a:tblGrid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등급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리스크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무엇이 문제인가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완화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D6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환각 — 없는 값 생성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원장에 없는 값을 그럴듯하게 채우는 것이 LLM 의 기본 실패 양식이다. 0 으로 채우는 것보다 나쁘다.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스키마가 null 을 허용하고 근거 필드를 필수로 한다 + 게이트 ⑤ 신선도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 혼입 — 해석이 사실로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에이전트 문장이 §5 표에서 측정값과 같은 무게로 읽히면, 이 도구가 막으려던 실패가 재현된다.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'해석' 등급 신설 + 게이트 ② + 리포트에서 별도 블록으로 분리 렌더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8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78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관문의 과신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재현됐다고 인과가 성립하는 것은 아니다. 표본 구간을 바꾸면 판정이 뒤집힐 수 있다.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판정에 표본 구간·n 을 항상 붙이고, 반감기마다 재검해 변화 자체를 기록한다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치명·비가역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7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D7B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오염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추정치가 ki.sqlite 에 한 번 들어가면 다음 측정이 오염되고 되돌릴 수 없다.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 에 쓰기 도구 미노출 + data-ops 단독 권한 + PreToolUse 훅 차단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D6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5D6E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유사투자자문 규제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· 목표가를 생성하는 순간 산출물의 성격이 바뀐다.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미생성 원칙 유지 + 배포통제 배너(STAGE) + 내부 검토용 고지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FA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· 지연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이벤트가 몰린 날에는 인스턴스가 급증한다 (시뮬 피크 95).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T1~T3 등급 분리 · 인스턴스별 예산 상한 · 17:00 배치로 몰아서 실행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합성 검증의 자기확인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표를 만드는 쪽과 읽는 쪽이 같은 가정을 쓰면 둘 다 틀려도 통과한다. 검사 240개가 통과하는 동안 판단층은 진짜 원장에서 한 줄도 못 읽고 있었다.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원장은 "20260917" · "코스닥" 이다 — dialect.py 가 짐작하지 않고 물어본다 + 합성 원장도 진짜 형식으로 + audit [11] 이 영문 이름을 금지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811012"/>
            <a:ext cx="11094415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760720"/>
            <a:ext cx="11094415" cy="5120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760720"/>
            <a:ext cx="106189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자격증명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압축본의 env.txt 에 6종 키가 평문으로 있었다. 파일명이 .env 가 아니어서 기존 .gitignore 어떤 규칙에도 걸리지 않는다. 저장소에는 넣지 않았고 규칙을 추가했다.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20624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NEXT STEP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94944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끝난 것과, 원장이 있어야 되는 것</a:t>
            </a:r>
            <a:endParaRPr lang="en-US" sz="2800" dirty="0"/>
          </a:p>
        </p:txBody>
      </p:sp>
      <p:sp>
        <p:nvSpPr>
          <p:cNvPr id="46" name="Shape 44"/>
          <p:cNvSpPr/>
          <p:nvPr/>
        </p:nvSpPr>
        <p:spPr>
          <a:xfrm>
            <a:off x="598932" y="1531620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548640" y="1481328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261872" y="158191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진짜 원장에 물린다</a:t>
            </a:r>
            <a:endParaRPr lang="en-US" sz="1250" dirty="0"/>
          </a:p>
        </p:txBody>
      </p:sp>
      <p:sp>
        <p:nvSpPr>
          <p:cNvPr id="51" name="Text 49"/>
          <p:cNvSpPr txBox="1"/>
          <p:nvPr/>
        </p:nvSpPr>
        <p:spPr>
          <a:xfrm>
            <a:off x="1261872" y="185623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agents/cycle.py --run  ·  12편 중 5편이 검정 대상이다. 합성 자료로는 러너가 맞다는 것까지만 확인했다.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6601968" y="15819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필요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98932" y="2391156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640" y="2340864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261872" y="244144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발생률을 역산한다</a:t>
            </a:r>
            <a:endParaRPr lang="en-US" sz="1250" dirty="0"/>
          </a:p>
        </p:txBody>
      </p:sp>
      <p:sp>
        <p:nvSpPr>
          <p:cNvPr id="58" name="Text 56"/>
          <p:cNvSpPr txBox="1"/>
          <p:nvPr/>
        </p:nvSpPr>
        <p:spPr>
          <a:xfrm>
            <a:off x="1261872" y="271576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agents/run_day.py --stage convene  ·  원장의 공시·변동 이력으로 실제 소집 건수를 잰다. 부하 수치를 가정값에서 실측으로 바꾼다.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601968" y="2441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필요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98932" y="3250692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59"/>
          <p:cNvSpPr/>
          <p:nvPr/>
        </p:nvSpPr>
        <p:spPr>
          <a:xfrm>
            <a:off x="548640" y="3200400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261872" y="33009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method_papers 두 편을 Crossref 로 재대조</a:t>
            </a:r>
            <a:endParaRPr lang="en-US" sz="1250" dirty="0"/>
          </a:p>
        </p:txBody>
      </p:sp>
      <p:sp>
        <p:nvSpPr>
          <p:cNvPr id="65" name="Text 63"/>
          <p:cNvSpPr txBox="1"/>
          <p:nvPr/>
        </p:nvSpPr>
        <p:spPr>
          <a:xfrm>
            <a:off x="1261872" y="35753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hlz2016 · nw1987. 서지는 세 곳에서 일치를 봤지만 빌드 환경은 Crossref 이그레스가 막혀 규율대로의 재대조를 못 했다.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6601968" y="330098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망 필요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98932" y="4110228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059936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1261872" y="416052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needs_runner 가 비었다 — 유지할지 본다</a:t>
            </a:r>
            <a:endParaRPr lang="en-US" sz="1250" dirty="0"/>
          </a:p>
        </p:txBody>
      </p:sp>
      <p:sp>
        <p:nvSpPr>
          <p:cNvPr id="72" name="Text 70"/>
          <p:cNvSpPr txBox="1"/>
          <p:nvPr/>
        </p:nvSpPr>
        <p:spPr>
          <a:xfrm>
            <a:off x="1261872" y="44348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중 8편이 검정 대상이고 나머지 4편은 추정량·모형이라 원래 대상이 아니다. 새 논문이 그 칸에 걸리면 사유를 적어 넣는다.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6601968" y="41605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확인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98932" y="4969764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5" name="Shape 73"/>
          <p:cNvSpPr/>
          <p:nvPr/>
        </p:nvSpPr>
        <p:spPr>
          <a:xfrm>
            <a:off x="548640" y="4919472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1261872" y="502005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— 사람 산출과 대조</a:t>
            </a:r>
            <a:endParaRPr lang="en-US" sz="1250" dirty="0"/>
          </a:p>
        </p:txBody>
      </p:sp>
      <p:sp>
        <p:nvSpPr>
          <p:cNvPr id="79" name="Text 77"/>
          <p:cNvSpPr txBox="1"/>
          <p:nvPr/>
        </p:nvSpPr>
        <p:spPr>
          <a:xfrm>
            <a:off x="1261872" y="529437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스코어카드와 리플레이가 준비돼 있다. 전환 여부는 그 결과를 놓고 회의에서 사람이 정한다.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6601968" y="50200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회의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7863840" y="14813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성공 판정 지표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7863840" y="184708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273개</a:t>
            </a:r>
            <a:endParaRPr lang="en-US" sz="2500" dirty="0"/>
          </a:p>
        </p:txBody>
      </p:sp>
      <p:sp>
        <p:nvSpPr>
          <p:cNvPr id="83" name="Text 81"/>
          <p:cNvSpPr txBox="1"/>
          <p:nvPr/>
        </p:nvSpPr>
        <p:spPr>
          <a:xfrm>
            <a:off x="7863840" y="22677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검사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7863840" y="24871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키·네트워크·원장 없이 돈다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7863840" y="290779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0줄</a:t>
            </a:r>
            <a:endParaRPr lang="en-US" sz="2500" dirty="0"/>
          </a:p>
        </p:txBody>
      </p:sp>
      <p:sp>
        <p:nvSpPr>
          <p:cNvPr id="86" name="Text 84"/>
          <p:cNvSpPr txBox="1"/>
          <p:nvPr/>
        </p:nvSpPr>
        <p:spPr>
          <a:xfrm>
            <a:off x="7863840" y="332841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변경</a:t>
            </a:r>
            <a:endParaRPr lang="en-US" sz="1100" dirty="0"/>
          </a:p>
        </p:txBody>
      </p:sp>
      <p:sp>
        <p:nvSpPr>
          <p:cNvPr id="87" name="Text 85"/>
          <p:cNvSpPr txBox="1"/>
          <p:nvPr/>
        </p:nvSpPr>
        <p:spPr>
          <a:xfrm>
            <a:off x="7863840" y="3547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측정층은 손대지 않았다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7863840" y="3968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12</a:t>
            </a:r>
            <a:endParaRPr lang="en-US" sz="2500" dirty="0"/>
          </a:p>
        </p:txBody>
      </p:sp>
      <p:sp>
        <p:nvSpPr>
          <p:cNvPr id="89" name="Text 87"/>
          <p:cNvSpPr txBox="1"/>
          <p:nvPr/>
        </p:nvSpPr>
        <p:spPr>
          <a:xfrm>
            <a:off x="7863840" y="43891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대상 논문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7863840" y="460857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4편은 원래 대상 아님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7863840" y="50292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0건</a:t>
            </a:r>
            <a:endParaRPr lang="en-US" sz="2500" dirty="0"/>
          </a:p>
        </p:txBody>
      </p:sp>
      <p:sp>
        <p:nvSpPr>
          <p:cNvPr id="92" name="Text 90"/>
          <p:cNvSpPr txBox="1"/>
          <p:nvPr/>
        </p:nvSpPr>
        <p:spPr>
          <a:xfrm>
            <a:off x="7863840" y="544982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미분류 논문</a:t>
            </a:r>
            <a:endParaRPr lang="en-US" sz="1100" dirty="0"/>
          </a:p>
        </p:txBody>
      </p:sp>
      <p:sp>
        <p:nvSpPr>
          <p:cNvPr id="93" name="Text 91"/>
          <p:cNvSpPr txBox="1"/>
          <p:nvPr/>
        </p:nvSpPr>
        <p:spPr>
          <a:xfrm>
            <a:off x="7863840" y="566928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셋 중 하나로 분류됐다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598932" y="5829300"/>
            <a:ext cx="704088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5" name="Shape 93"/>
          <p:cNvSpPr/>
          <p:nvPr/>
        </p:nvSpPr>
        <p:spPr>
          <a:xfrm>
            <a:off x="548640" y="5779008"/>
            <a:ext cx="7040880" cy="457200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768096" y="5779008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①②③ 이 여기서 안 되는 것은 미완이어서가 아니라 환경 때문이다 — 원장은 87MB 라 저장소에 없고, 빌드 환경은 외부 이그레스가 전면 차단돼 있다. 코드는 세 경우 모두 준비돼 있다.</a:t>
            </a:r>
            <a:endParaRPr lang="en-US" sz="1100" dirty="0"/>
          </a:p>
        </p:txBody>
      </p:sp>
      <p:sp>
        <p:nvSpPr>
          <p:cNvPr id="97" name="Text 95"/>
          <p:cNvSpPr txBox="1"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내부 검토용 · 대외비 · 투자권유 자료 아님 · 계획안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저장소에 추가되는 것 — 파일 배치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파일은 하나도 옮기지 않는다. 아래는 전부 새로 생기는 경로다.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6126480" cy="45262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6126480" cy="4526280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847088"/>
            <a:ext cx="5760720" cy="430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Stock_Agent/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stock-monitor/        ki_monitor.py 변경 0줄 · .papers.json v2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        audit.py 에 정의 대조 [10] · 원장 방언 [11]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RUN_ALL · SCHEDULE    월 07:40 주간 재현 한 줄 추가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agents/               ← 들어감 (자체 검사 273개)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dialect.py           원장의 말 (형식을 묻는다)  11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envelope.py          봉투 스키마 · 검증기      28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papers.py            논문 장부 ki.papers/2    23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replication.py       분위 러너 (달력 시간)    29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eventstudy.py        이벤트 러너 (사건 시간)   19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gates.py             게이트 ①~⑦ 검사기     20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ki_ledger_mcp.py     MCP 서버 · 읽기 10종   32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selftest.py          열세 개를 한 번에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triggers.py          트리거 스캐너 · 소집      23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cycle.py             주간 논문 사이클         14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run_day.py           소집 · 발행 · 승격        28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reconcile.py         데스크 간 대조            15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scorecard.py         계측 (고치지는 않는다)    16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replay.py            되짚기 · 원장 대조         15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.claude/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agents/              데스크 9개 정의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q1-progress.md    q2-disposal.md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q3-execution.md   q4-timing.md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quant-method.md   risk-officer.md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compliance-officer.md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data-ops.md       ic-chair.md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skills/              규칙 5종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source-grading/     등급 판정 기준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envelope-schema/    봉투 작성법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replication/        재현 설계 · 판정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paper-adoption/     채택 · 감가 · 은퇴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compliance-gate/    게이트 판정 기준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 settings.json        훅 · MCP 등록</a:t>
            </a:r>
            <a:endParaRPr lang="en-US" sz="760" dirty="0"/>
          </a:p>
        </p:txBody>
      </p:sp>
      <p:sp>
        <p:nvSpPr>
          <p:cNvPr id="8" name="Shape 6"/>
          <p:cNvSpPr/>
          <p:nvPr/>
        </p:nvSpPr>
        <p:spPr>
          <a:xfrm>
            <a:off x="6926580" y="1787652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37360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77456" y="192024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0" y="18470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열지 않는다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139696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CRLF 파일이라 편집 도구가 줄바꿈을 바꾸면 파일 전체가 diff 에 잡힌다. 감싸기만 하고 손대지 않는 이유이기도 하다.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866644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816352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77456" y="2999232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0" y="2926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러너는 에이전트가 아니다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218688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파이썬 코드다. 같은 원장·같은 구간이면 항상 같은 판정이 나와야 하므로 LLM 을 쓰지 않는다.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945636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895344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77456" y="4078224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0" y="40050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게이트는 selftest 와 나란히 돈다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297680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agents/gates.py --selftest 를 기존 128개 옆에 붙인다. 검증은 한 곳에서 돌아야 실제로 돌아간다.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5024628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974336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7456" y="51572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0" y="50840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규칙은 확장한다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376672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산출 봉투도 포트폴리오사 실명을 담는다. out/ 과 같은 등급으로 .gitignore 에 넣는다.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실제로 들어갔다 — agents/ 파이썬 13 · 데스크 정의 9 · 스킬 5 · 자체 검사 273개 · ki_monitor.py 변경 0줄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 Agent v2 — 살아있는 리서치 데스크</dc:title>
  <dc:subject>PptxGenJS Presentation</dc:subject>
  <dc:creator>PptxGenJS</dc:creator>
  <cp:lastModifiedBy>PptxGenJS</cp:lastModifiedBy>
  <cp:revision>1</cp:revision>
  <dcterms:created xsi:type="dcterms:W3CDTF">2026-09-19T00:53:55Z</dcterms:created>
  <dcterms:modified xsi:type="dcterms:W3CDTF">2026-09-19T00:53:55Z</dcterms:modified>
</cp:coreProperties>
</file>