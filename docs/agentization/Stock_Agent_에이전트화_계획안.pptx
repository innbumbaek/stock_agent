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(85×4)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340</c:v>
                </c:pt>
                <c:pt idx="1">
                  <c:v>340</c:v>
                </c:pt>
                <c:pt idx="2">
                  <c:v>340</c:v>
                </c:pt>
                <c:pt idx="3">
                  <c:v>340</c:v>
                </c:pt>
                <c:pt idx="4">
                  <c:v>340</c:v>
                </c:pt>
                <c:pt idx="5">
                  <c:v>340</c:v>
                </c:pt>
                <c:pt idx="6">
                  <c:v>340</c:v>
                </c:pt>
                <c:pt idx="7">
                  <c:v>340</c:v>
                </c:pt>
                <c:pt idx="8">
                  <c:v>340</c:v>
                </c:pt>
                <c:pt idx="9">
                  <c:v>340</c:v>
                </c:pt>
                <c:pt idx="10">
                  <c:v>340</c:v>
                </c:pt>
                <c:pt idx="11">
                  <c:v>340</c:v>
                </c:pt>
                <c:pt idx="12">
                  <c:v>340</c:v>
                </c:pt>
                <c:pt idx="13">
                  <c:v>340</c:v>
                </c:pt>
                <c:pt idx="14">
                  <c:v>340</c:v>
                </c:pt>
                <c:pt idx="15">
                  <c:v>340</c:v>
                </c:pt>
                <c:pt idx="16">
                  <c:v>340</c:v>
                </c:pt>
                <c:pt idx="17">
                  <c:v>340</c:v>
                </c:pt>
                <c:pt idx="18">
                  <c:v>340</c:v>
                </c:pt>
                <c:pt idx="19">
                  <c:v>340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38</c:v>
                </c:pt>
                <c:pt idx="1">
                  <c:v>52</c:v>
                </c:pt>
                <c:pt idx="2">
                  <c:v>44</c:v>
                </c:pt>
                <c:pt idx="3">
                  <c:v>61</c:v>
                </c:pt>
                <c:pt idx="4">
                  <c:v>35</c:v>
                </c:pt>
                <c:pt idx="5">
                  <c:v>49</c:v>
                </c:pt>
                <c:pt idx="6">
                  <c:v>88</c:v>
                </c:pt>
                <c:pt idx="7">
                  <c:v>41</c:v>
                </c:pt>
                <c:pt idx="8">
                  <c:v>57</c:v>
                </c:pt>
                <c:pt idx="9">
                  <c:v>46</c:v>
                </c:pt>
                <c:pt idx="10">
                  <c:v>72</c:v>
                </c:pt>
                <c:pt idx="11">
                  <c:v>39</c:v>
                </c:pt>
                <c:pt idx="12">
                  <c:v>55</c:v>
                </c:pt>
                <c:pt idx="13">
                  <c:v>64</c:v>
                </c:pt>
                <c:pt idx="14">
                  <c:v>43</c:v>
                </c:pt>
                <c:pt idx="15">
                  <c:v>51</c:v>
                </c:pt>
                <c:pt idx="16">
                  <c:v>47</c:v>
                </c:pt>
                <c:pt idx="17">
                  <c:v>95</c:v>
                </c:pt>
                <c:pt idx="18">
                  <c:v>58</c:v>
                </c:pt>
                <c:pt idx="19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방식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스캔이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고정 12편으로 두지 않는다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수확해 재현 검사를 통과한 것만 채택하고, 반감기가 지나면 은퇴시킨다.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에이전트를 고정 8데스크로 두지 않는다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뜰 때만 소집됐다가 봉투를 내고 사라진다. 그날 변동분만 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재현 통과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모르는 숫자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알아야 할 것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12편은 전부 미국 표본 논문인데, 코스닥에서 성립하는지 확인한 적이 없다. "몇 편이 살아있는가"가 이 방안 전체의 출발점이다.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문서의 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부로 나뉜다. 2부(논문)가 먼저인 이유는,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3232" y="305409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자산 진단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13232" y="34198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에이전트화인가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" y="378561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깨면 안 되는 다섯 가지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44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이미 된다. 문제는 독해다.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66644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살린다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980944" y="305409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스냅샷이다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80944" y="34198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 5단계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980944" y="378561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재현 관문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980944" y="415137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은퇴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980944" y="45171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45536" y="444398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스키마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62656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54096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인용하기 전에 우리 데이터로 계산한다.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134356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084064" y="1737360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84064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34356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084064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30368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조직과 에이전트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248656" y="305409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조직도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248656" y="34198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카탈로그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248656" y="378561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13248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vs 소집 · 생명주기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248656" y="415137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13248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· 부하 · 에스컬레이션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230368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321808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증권사 분업을 이벤트 구동으로.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02068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7351776" y="1737360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351776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402068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55"/>
          <p:cNvSpPr/>
          <p:nvPr/>
        </p:nvSpPr>
        <p:spPr>
          <a:xfrm>
            <a:off x="7351776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498080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516368" y="305409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정보교류차단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516368" y="341985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680960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516368" y="378561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7680960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스키마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516368" y="415137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680960" y="407822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· 스코어카드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498080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589520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규칙이 아니라 구조다.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669780" y="1787652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19488" y="1737360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619488" y="173736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9669780" y="2299716"/>
            <a:ext cx="21579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3" name="Shape 71"/>
          <p:cNvSpPr/>
          <p:nvPr/>
        </p:nvSpPr>
        <p:spPr>
          <a:xfrm>
            <a:off x="9619488" y="2249424"/>
            <a:ext cx="21579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9765792" y="239572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9784080" y="305409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948672" y="298094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MCP 설계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9784080" y="34198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9948672" y="334670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운영 · 로드맵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9784080" y="378561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948672" y="3712464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· 착수와 KPI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9765792" y="4919472"/>
            <a:ext cx="1865376" cy="42062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9857232" y="49194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코드는 한 줄도 고치지 않는다.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문서는 계획안이다.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아무것도 구현하지 않았고, 숫자 중 시뮬레이션 가정값은 그 사실을 각 장 하단에 적어 두었다.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논문은 다섯 관문을 지나야 인용된다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수확은 이미 있다(fetch_papers.py).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최대 1편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깔때기가 좁은 것이 정상이다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훑는 양을 늘리는 것이 목적이 아니라, 남는 2건이 코스닥에서 실제로 성립하는 것이 목적이다.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수확 4곳은 이미 구현돼 있다 (docs/fetch_papers.py --harvest/--adopt/--verify)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Text 56"/>
          <p:cNvSpPr txBox="1"/>
          <p:nvPr/>
        </p:nvSpPr>
        <p:spPr>
          <a:xfrm>
            <a:off x="6986016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jt1993 모멘텀은 코스닥에서 방향이 뒤집힌다 — 널리 알려진 사실이다.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하되 "우리 표본에서는 반대"가 값에 붙어 나간다.</a:t>
            </a:r>
            <a:endParaRPr lang="en-US" sz="950" dirty="0"/>
          </a:p>
        </p:txBody>
      </p:sp>
      <p:sp>
        <p:nvSpPr>
          <p:cNvPr id="64" name="Text 57"/>
          <p:cNvSpPr txBox="1"/>
          <p:nvPr/>
        </p:nvSpPr>
        <p:spPr>
          <a:xfrm>
            <a:off x="6986016" y="51937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매번 표본 구간과 함께 기록된다. 같은 논문이라도 구간이 바뀌면 판정이 바뀔 수 있고, 그 변화 자체가 신호다.</a:t>
            </a:r>
            <a:endParaRPr lang="en-US" sz="950" dirty="0"/>
          </a:p>
        </p:txBody>
      </p:sp>
      <p:sp>
        <p:nvSpPr>
          <p:cNvPr id="65" name="Shape 58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6" name="Shape 59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재현 재검 대상이 된다. 하루 1편씩 오래된 순으로 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은퇴본은 지우지 않는다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상태로 원장에 남는다. 같은 논문이 다시 수확되면 '이미 은퇴함'으로 걸러진다.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12편에서 시작해 1년 뒤 63편 — 다만 그 63편은 전부 최근 재현 검사를 통과한 것들이다.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     // adopted | warned | 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2.31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만 인용할 수 있다. warned 는 인용은 되지만 경고가 함께 나가고, retired 는 인용 자체가 막힌다.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개념을 발명하지 않는다. 이미 검증된 분업과 견제 구조를 에이전트에 대응시킨다.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799332" y="1641348"/>
            <a:ext cx="4690872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3749040" y="1591056"/>
            <a:ext cx="4690872" cy="49377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49040" y="1591056"/>
            <a:ext cx="4690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투자심의위원회 (IC)  ·  사람이 결정한다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76188" y="2084832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9" name="Shape 7"/>
          <p:cNvSpPr/>
          <p:nvPr/>
        </p:nvSpPr>
        <p:spPr>
          <a:xfrm>
            <a:off x="4311396" y="2299716"/>
            <a:ext cx="3666744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4261104" y="2249424"/>
            <a:ext cx="3666744" cy="457200"/>
          </a:xfrm>
          <a:prstGeom prst="rect">
            <a:avLst/>
          </a:prstGeom>
          <a:solidFill>
            <a:srgbClr val="1F274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61104" y="2249424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  ·  간사 — 통합 · 정렬 (판단하지 않는다)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76188" y="2706624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700784" y="2871216"/>
            <a:ext cx="8787384" cy="32004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14" name="Shape 12"/>
          <p:cNvSpPr/>
          <p:nvPr/>
        </p:nvSpPr>
        <p:spPr>
          <a:xfrm>
            <a:off x="1577340" y="2871216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15" name="Shape 13"/>
          <p:cNvSpPr/>
          <p:nvPr/>
        </p:nvSpPr>
        <p:spPr>
          <a:xfrm>
            <a:off x="598932" y="3086100"/>
            <a:ext cx="2093976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035808"/>
            <a:ext cx="2093976" cy="51206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" y="30906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319272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" y="3744468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694176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803904"/>
            <a:ext cx="420624" cy="4206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52144" y="378561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860" dirty="0"/>
          </a:p>
        </p:txBody>
      </p:sp>
      <p:sp>
        <p:nvSpPr>
          <p:cNvPr id="23" name="Text 20"/>
          <p:cNvSpPr txBox="1"/>
          <p:nvPr/>
        </p:nvSpPr>
        <p:spPr>
          <a:xfrm>
            <a:off x="1152144" y="400507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기업분석역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8932" y="4457700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548640" y="4407408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17136"/>
            <a:ext cx="420624" cy="42062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152144" y="4498848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860" dirty="0"/>
          </a:p>
        </p:txBody>
      </p:sp>
      <p:sp>
        <p:nvSpPr>
          <p:cNvPr id="28" name="Text 24"/>
          <p:cNvSpPr txBox="1"/>
          <p:nvPr/>
        </p:nvSpPr>
        <p:spPr>
          <a:xfrm>
            <a:off x="1152144" y="4718304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계량분석역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98932" y="5170932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6"/>
          <p:cNvSpPr/>
          <p:nvPr/>
        </p:nvSpPr>
        <p:spPr>
          <a:xfrm>
            <a:off x="548640" y="5120640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230368"/>
            <a:ext cx="420624" cy="42062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152144" y="5212080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860" dirty="0"/>
          </a:p>
        </p:txBody>
      </p:sp>
      <p:sp>
        <p:nvSpPr>
          <p:cNvPr id="33" name="Text 28"/>
          <p:cNvSpPr txBox="1"/>
          <p:nvPr/>
        </p:nvSpPr>
        <p:spPr>
          <a:xfrm>
            <a:off x="1152144" y="543153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매크로전략역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3840480" y="2871216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35" name="Shape 30"/>
          <p:cNvSpPr/>
          <p:nvPr/>
        </p:nvSpPr>
        <p:spPr>
          <a:xfrm>
            <a:off x="2862072" y="3086100"/>
            <a:ext cx="2093976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2811780" y="3035808"/>
            <a:ext cx="2093976" cy="51206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2866644" y="30906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트레이딩·집행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2866644" y="3319272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2862072" y="3744468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5"/>
          <p:cNvSpPr/>
          <p:nvPr/>
        </p:nvSpPr>
        <p:spPr>
          <a:xfrm>
            <a:off x="2811780" y="3694176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508" y="3803904"/>
            <a:ext cx="420624" cy="420624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3415284" y="378561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860" dirty="0"/>
          </a:p>
        </p:txBody>
      </p:sp>
      <p:sp>
        <p:nvSpPr>
          <p:cNvPr id="43" name="Text 37"/>
          <p:cNvSpPr txBox="1"/>
          <p:nvPr/>
        </p:nvSpPr>
        <p:spPr>
          <a:xfrm>
            <a:off x="3415284" y="400507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6103620" y="2871216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45" name="Shape 39"/>
          <p:cNvSpPr/>
          <p:nvPr/>
        </p:nvSpPr>
        <p:spPr>
          <a:xfrm>
            <a:off x="5125212" y="3086100"/>
            <a:ext cx="2093976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5074920" y="3035808"/>
            <a:ext cx="2093976" cy="51206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5129784" y="30906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리스크관리본부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5129784" y="3319272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5125212" y="3744468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074920" y="3694176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3803904"/>
            <a:ext cx="420624" cy="420624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678424" y="378561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60" dirty="0"/>
          </a:p>
        </p:txBody>
      </p:sp>
      <p:sp>
        <p:nvSpPr>
          <p:cNvPr id="53" name="Text 46"/>
          <p:cNvSpPr txBox="1"/>
          <p:nvPr/>
        </p:nvSpPr>
        <p:spPr>
          <a:xfrm>
            <a:off x="5678424" y="400507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리스크심사역</a:t>
            </a:r>
            <a:endParaRPr lang="en-US" sz="950" dirty="0"/>
          </a:p>
        </p:txBody>
      </p:sp>
      <p:sp>
        <p:nvSpPr>
          <p:cNvPr id="54" name="Text 47"/>
          <p:cNvSpPr txBox="1"/>
          <p:nvPr/>
        </p:nvSpPr>
        <p:spPr>
          <a:xfrm>
            <a:off x="5129784" y="44439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900" dirty="0"/>
          </a:p>
        </p:txBody>
      </p:sp>
      <p:sp>
        <p:nvSpPr>
          <p:cNvPr id="55" name="Shape 48"/>
          <p:cNvSpPr/>
          <p:nvPr/>
        </p:nvSpPr>
        <p:spPr>
          <a:xfrm>
            <a:off x="8366760" y="2871216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56" name="Shape 49"/>
          <p:cNvSpPr/>
          <p:nvPr/>
        </p:nvSpPr>
        <p:spPr>
          <a:xfrm>
            <a:off x="7388352" y="3086100"/>
            <a:ext cx="2093976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50"/>
          <p:cNvSpPr/>
          <p:nvPr/>
        </p:nvSpPr>
        <p:spPr>
          <a:xfrm>
            <a:off x="7338060" y="3035808"/>
            <a:ext cx="2093976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8" name="Text 51"/>
          <p:cNvSpPr txBox="1"/>
          <p:nvPr/>
        </p:nvSpPr>
        <p:spPr>
          <a:xfrm>
            <a:off x="7392924" y="30906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</a:t>
            </a:r>
            <a:endParaRPr lang="en-US" sz="1200" dirty="0"/>
          </a:p>
        </p:txBody>
      </p:sp>
      <p:sp>
        <p:nvSpPr>
          <p:cNvPr id="59" name="Text 52"/>
          <p:cNvSpPr txBox="1"/>
          <p:nvPr/>
        </p:nvSpPr>
        <p:spPr>
          <a:xfrm>
            <a:off x="7392924" y="3319272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60" name="Shape 53"/>
          <p:cNvSpPr/>
          <p:nvPr/>
        </p:nvSpPr>
        <p:spPr>
          <a:xfrm>
            <a:off x="7388352" y="3744468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4"/>
          <p:cNvSpPr/>
          <p:nvPr/>
        </p:nvSpPr>
        <p:spPr>
          <a:xfrm>
            <a:off x="7338060" y="3694176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pic>
        <p:nvPicPr>
          <p:cNvPr id="6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7788" y="3803904"/>
            <a:ext cx="420624" cy="420624"/>
          </a:xfrm>
          <a:prstGeom prst="rect">
            <a:avLst/>
          </a:prstGeom>
        </p:spPr>
      </p:pic>
      <p:sp>
        <p:nvSpPr>
          <p:cNvPr id="63" name="Text 55"/>
          <p:cNvSpPr txBox="1"/>
          <p:nvPr/>
        </p:nvSpPr>
        <p:spPr>
          <a:xfrm>
            <a:off x="7941564" y="378561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60" dirty="0"/>
          </a:p>
        </p:txBody>
      </p:sp>
      <p:sp>
        <p:nvSpPr>
          <p:cNvPr id="64" name="Text 56"/>
          <p:cNvSpPr txBox="1"/>
          <p:nvPr/>
        </p:nvSpPr>
        <p:spPr>
          <a:xfrm>
            <a:off x="7941564" y="400507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</a:t>
            </a:r>
            <a:endParaRPr lang="en-US" sz="950" dirty="0"/>
          </a:p>
        </p:txBody>
      </p:sp>
      <p:sp>
        <p:nvSpPr>
          <p:cNvPr id="65" name="Text 57"/>
          <p:cNvSpPr txBox="1"/>
          <p:nvPr/>
        </p:nvSpPr>
        <p:spPr>
          <a:xfrm>
            <a:off x="7392924" y="44439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10629900" y="2871216"/>
            <a:ext cx="36576" cy="164592"/>
          </a:xfrm>
          <a:prstGeom prst="rect">
            <a:avLst/>
          </a:prstGeom>
          <a:solidFill>
            <a:srgbClr val="2E3A5C"/>
          </a:solidFill>
          <a:ln/>
        </p:spPr>
      </p:sp>
      <p:sp>
        <p:nvSpPr>
          <p:cNvPr id="67" name="Shape 59"/>
          <p:cNvSpPr/>
          <p:nvPr/>
        </p:nvSpPr>
        <p:spPr>
          <a:xfrm>
            <a:off x="9651492" y="3086100"/>
            <a:ext cx="2093976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0"/>
          <p:cNvSpPr/>
          <p:nvPr/>
        </p:nvSpPr>
        <p:spPr>
          <a:xfrm>
            <a:off x="9601200" y="3035808"/>
            <a:ext cx="2093976" cy="51206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Text 61"/>
          <p:cNvSpPr txBox="1"/>
          <p:nvPr/>
        </p:nvSpPr>
        <p:spPr>
          <a:xfrm>
            <a:off x="9656064" y="309067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데이터·IT</a:t>
            </a:r>
            <a:endParaRPr lang="en-US" sz="1200" dirty="0"/>
          </a:p>
        </p:txBody>
      </p:sp>
      <p:sp>
        <p:nvSpPr>
          <p:cNvPr id="70" name="Text 62"/>
          <p:cNvSpPr txBox="1"/>
          <p:nvPr/>
        </p:nvSpPr>
        <p:spPr>
          <a:xfrm>
            <a:off x="9656064" y="3319272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71" name="Shape 63"/>
          <p:cNvSpPr/>
          <p:nvPr/>
        </p:nvSpPr>
        <p:spPr>
          <a:xfrm>
            <a:off x="9651492" y="3744468"/>
            <a:ext cx="2093976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4"/>
          <p:cNvSpPr/>
          <p:nvPr/>
        </p:nvSpPr>
        <p:spPr>
          <a:xfrm>
            <a:off x="9601200" y="3694176"/>
            <a:ext cx="2093976" cy="6400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928" y="3803904"/>
            <a:ext cx="420624" cy="420624"/>
          </a:xfrm>
          <a:prstGeom prst="rect">
            <a:avLst/>
          </a:prstGeom>
        </p:spPr>
      </p:pic>
      <p:sp>
        <p:nvSpPr>
          <p:cNvPr id="74" name="Text 65"/>
          <p:cNvSpPr txBox="1"/>
          <p:nvPr/>
        </p:nvSpPr>
        <p:spPr>
          <a:xfrm>
            <a:off x="10204704" y="378561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60" dirty="0"/>
          </a:p>
        </p:txBody>
      </p:sp>
      <p:sp>
        <p:nvSpPr>
          <p:cNvPr id="75" name="Text 66"/>
          <p:cNvSpPr txBox="1"/>
          <p:nvPr/>
        </p:nvSpPr>
        <p:spPr>
          <a:xfrm>
            <a:off x="10204704" y="400507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</a:t>
            </a:r>
            <a:endParaRPr lang="en-US" sz="950" dirty="0"/>
          </a:p>
        </p:txBody>
      </p:sp>
      <p:sp>
        <p:nvSpPr>
          <p:cNvPr id="76" name="Text 67"/>
          <p:cNvSpPr txBox="1"/>
          <p:nvPr/>
        </p:nvSpPr>
        <p:spPr>
          <a:xfrm>
            <a:off x="9656064" y="44439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 단독</a:t>
            </a:r>
            <a:endParaRPr lang="en-US" sz="900" dirty="0"/>
          </a:p>
        </p:txBody>
      </p:sp>
      <p:sp>
        <p:nvSpPr>
          <p:cNvPr id="77" name="Shape 68"/>
          <p:cNvSpPr/>
          <p:nvPr/>
        </p:nvSpPr>
        <p:spPr>
          <a:xfrm>
            <a:off x="598932" y="5920740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8" name="Shape 69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786384" y="5870448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견제 구조 —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리서치가 만든 해석은 리스크와 준법감시 </a:t>
            </a:r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곳을 모두 통과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IC 에 올라간다(4-eyes). 원장을 고칠 수 있는 곳은 데이터·IT 하나뿐이고, 그곳은 해석을 쓰지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AGENT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정의 — 리서치본부 · 트레이딩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데스크는 리포트의 특정 절과 네 질문(q1~q4) 중 하나에 묶인다. 담당 범위 밖은 읽지 않는다.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63240"/>
                <a:gridCol w="3063240"/>
                <a:gridCol w="2642616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 (입력)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 (산출)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근거 · 제약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기업분석역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· ledger.disclosure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§5 종목별 코멘트 초안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이벤트의 사실관계 정리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원문만 인용. 제목 요약 금지 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발행조건·전환가·리픽싱은 원문에 있다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계량분석역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ledger.candles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ledger.papers (state=adopted)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§6 팩터 해설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검토 (하루 1편)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재현되지 않은 논문 인용 금지.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주장하지 않는 것을 함께 낸다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매크로전략역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(ECOS 100대)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ledger.calendar · FRED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 (수준 아닌 분위)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금통위 · 만기 · 락업 일정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 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의무보유확약으로 서술하면 게이트 탈락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 · 거래대금)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§3 집행 시뮬레이션 결과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 해설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참여율 · 충격 가정의 민감도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 (OrderNotAllowed).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반드시 함께 낸다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 세 데스크는 서로의 산출물을 보지 않는다. 같은 결론으로 수렴하면 교차검증의 의미가 사라지기 때문이다. 불일치는 지우지 않고 IC 간사가 쟁점으로 올린다.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AGENT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정의 — 통제 · 운영 · 의결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이쪽은 새로운 해석을 만들지 않는다. 만들어진 해석을 검사하고, 원장을 유지하고, 회의에 올린다.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63240"/>
                <a:gridCol w="3063240"/>
                <a:gridCol w="2642616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 (입력)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 (산출)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근거 · 제약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리스크심사역  (거부권)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리서치·집행 데스크의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(교차검산 · 항등식)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집중도 · 상관 · 가정 스트레스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인용된 값이 원장 값과 다르면 즉시 반려.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 돌려보낸다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 · CATALOG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 · 발행 승인/반려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대외비 · 자격증명 유출 검사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어휘 · 등급 혼입 · 미재현 인용 ·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신선도 초과 중 하나라도 걸리면 발행 중단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diagnose · catalog · .api_fields.json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ingest · catchup · fundamentals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· 필드매핑 감시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 이 데스크만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ki.sqlite 에 쓸 수 있고, 사실만 쓴다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게이트를 통과한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 간 불일치 · 결측을 쟁점화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뿐, 결정은 사람이 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두 통제 데스크 중 하나라도 반려하면 그날 회의자료에서 해당 절이 통째로 빠지고, 그 자리에는 '반려됨 — 사유'가 남는다. 조용히 통과시키는 것이 가장 위험하다.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나머지는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매일 여덟 데스크를 전부 돌리는 대신, 그날 실제로 무언가 일어난 곳에만 에이전트를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395728"/>
            <a:ext cx="3621024" cy="93268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60320"/>
            <a:ext cx="603504" cy="60350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91056" y="252374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591056" y="276148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감시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591056" y="29992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 단독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9808" y="3438144"/>
            <a:ext cx="3621024" cy="93268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602736"/>
            <a:ext cx="603504" cy="6035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91056" y="3566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591056" y="380390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판정 · 발행 승인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591056" y="404164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49808" y="4480560"/>
            <a:ext cx="3621024" cy="93268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645152"/>
            <a:ext cx="603504" cy="60350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591056" y="46085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591056" y="484632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591056" y="50840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N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95728"/>
            <a:ext cx="1993392" cy="1097280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523744"/>
            <a:ext cx="493776" cy="49377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5779008" y="25786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212080" y="3072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880" dirty="0"/>
          </a:p>
        </p:txBody>
      </p:sp>
      <p:sp>
        <p:nvSpPr>
          <p:cNvPr id="32" name="Text 26"/>
          <p:cNvSpPr txBox="1"/>
          <p:nvPr/>
        </p:nvSpPr>
        <p:spPr>
          <a:xfrm>
            <a:off x="5212080" y="325526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1건 = 인스턴스 1개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7205472" y="2395728"/>
            <a:ext cx="1993392" cy="1097280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2523744"/>
            <a:ext cx="493776" cy="49377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900416" y="25786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333488" y="3072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880" dirty="0"/>
          </a:p>
        </p:txBody>
      </p:sp>
      <p:sp>
        <p:nvSpPr>
          <p:cNvPr id="37" name="Text 30"/>
          <p:cNvSpPr txBox="1"/>
          <p:nvPr/>
        </p:nvSpPr>
        <p:spPr>
          <a:xfrm>
            <a:off x="7333488" y="325526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대상 논문 1편 = 1개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9326880" y="2395728"/>
            <a:ext cx="1993392" cy="1097280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2523744"/>
            <a:ext cx="493776" cy="493776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021824" y="25786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9454896" y="3072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880" dirty="0"/>
          </a:p>
        </p:txBody>
      </p:sp>
      <p:sp>
        <p:nvSpPr>
          <p:cNvPr id="42" name="Text 34"/>
          <p:cNvSpPr txBox="1"/>
          <p:nvPr/>
        </p:nvSpPr>
        <p:spPr>
          <a:xfrm>
            <a:off x="9454896" y="325526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일정·지표 갱신 시 1개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5084064" y="3602736"/>
            <a:ext cx="1993392" cy="1097280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3730752"/>
            <a:ext cx="493776" cy="493776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779008" y="37856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5212080" y="427939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880" dirty="0"/>
          </a:p>
        </p:txBody>
      </p:sp>
      <p:sp>
        <p:nvSpPr>
          <p:cNvPr id="47" name="Text 38"/>
          <p:cNvSpPr txBox="1"/>
          <p:nvPr/>
        </p:nvSpPr>
        <p:spPr>
          <a:xfrm>
            <a:off x="5212080" y="446227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 종목당 1개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205472" y="3602736"/>
            <a:ext cx="1993392" cy="1097280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3730752"/>
            <a:ext cx="493776" cy="493776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7900416" y="37856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1200" dirty="0"/>
          </a:p>
        </p:txBody>
      </p:sp>
      <p:sp>
        <p:nvSpPr>
          <p:cNvPr id="51" name="Text 41"/>
          <p:cNvSpPr txBox="1"/>
          <p:nvPr/>
        </p:nvSpPr>
        <p:spPr>
          <a:xfrm>
            <a:off x="7333488" y="427939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80" dirty="0"/>
          </a:p>
        </p:txBody>
      </p:sp>
      <p:sp>
        <p:nvSpPr>
          <p:cNvPr id="52" name="Text 42"/>
          <p:cNvSpPr txBox="1"/>
          <p:nvPr/>
        </p:nvSpPr>
        <p:spPr>
          <a:xfrm>
            <a:off x="7333488" y="4462272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묶음당 1개 (검산)</a:t>
            </a:r>
            <a:endParaRPr lang="en-US" sz="850" dirty="0"/>
          </a:p>
        </p:txBody>
      </p:sp>
      <p:sp>
        <p:nvSpPr>
          <p:cNvPr id="53" name="Shape 4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4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4데스크를 매일 돌리면 340회다. 그런데 어제와 달라진 것이 없는 종목을 다시 읽는 것은 같은 답을 다시 사는 일이다. 변동이 있는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링크 + 사실관계 정리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execution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달라졌나 · 처분여건 재계산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§3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데스크 4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6,800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1,079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340을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DART 원문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ECOS·FRED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298948"/>
            <a:ext cx="3602736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248656"/>
            <a:ext cx="3602736" cy="10972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43153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9264" y="53583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열은 전부 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669280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서버에 주문 API 가 있지만 화이트리스트에 없다. 코드가 OrderNotAllowed 로 막고 selftest 가 매번 검사한다. 에이전트에게도 이 도구는 만들지 않는다.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57116" y="5298948"/>
            <a:ext cx="3602736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248656"/>
            <a:ext cx="3602736" cy="10972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43153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27448" y="53583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5669280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일곱은 MCP 읽기 도구만 받는다. '쓰지 말라'는 지시가 아니라 쓸 수단이 없는 상태다.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15300" y="5298948"/>
            <a:ext cx="3602736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248656"/>
            <a:ext cx="3602736" cy="109728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43153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85632" y="53583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화이트리스트 호출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5669280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데스크가 부를 수 있는 엔드포인트를 명시 열거한다. 목록 밖 호출은 PreToolUse 훅이 차단한다.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2.31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"execution-trader",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"exec-20260911-000660-a91f",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아직 살아있는가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논문을 인용한 봉투는 게이트에서 즉시 반려된다.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논문이 우리 표본에서 재현됐는가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미재현 인용은 즉시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state=adopted 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은퇴본 인용 시 반려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8개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12편을 원장 형식으로 이관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소급 재현 → 판정 기록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실패분 warned 처리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fetch_papers 주간 스케줄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→ 재현 → 채택 연결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감가·은퇴 배치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목표 검증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12편이 코스닥에서 성립하는지 처음으로 알게 된다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12편을 환원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논문에서 방향이 있는 한 문장을 뽑는다.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소급 재현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편이 코스닥에서 살아남는지 실제로 센다. 이 숫자가 이 방안의 출발점이다.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?편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코스닥 재현 통과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숫자를 모르는 채로 쓰고 있었다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갱신되는가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알아야 할 것은 "12편 중 몇 편이 우리 시장에서 살아있는가" 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새로 생김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(~200줄)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(~250줄)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(~150줄)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8개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equity-analyst.md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quant-researcher.md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macro-strategist.md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execution-trader.md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data-ops.md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새로 쓰는 파이썬 약 600줄 · 나머지는 마크다운 정의 파일 · 기존 코드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2026-09-13T13:02:36Z</dcterms:created>
  <dcterms:modified xsi:type="dcterms:W3CDTF">2026-09-13T13:02:36Z</dcterms:modified>
</cp:coreProperties>
</file>