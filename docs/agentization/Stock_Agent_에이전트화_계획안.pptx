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그대로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193개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키·망·원장 없이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Shape 56"/>
          <p:cNvSpPr/>
          <p:nvPr/>
        </p:nvSpPr>
        <p:spPr>
          <a:xfrm>
            <a:off x="7036308" y="4530852"/>
            <a:ext cx="4480560" cy="11338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7"/>
          <p:cNvSpPr/>
          <p:nvPr/>
        </p:nvSpPr>
        <p:spPr>
          <a:xfrm>
            <a:off x="6986016" y="4480560"/>
            <a:ext cx="4480560" cy="1133856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7132320" y="45445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통과 임계  |t| ≥ 3.0</a:t>
            </a:r>
            <a:endParaRPr lang="en-US" sz="1100" dirty="0"/>
          </a:p>
        </p:txBody>
      </p:sp>
      <p:sp>
        <p:nvSpPr>
          <p:cNvPr id="66" name="Text 59"/>
          <p:cNvSpPr txBox="1"/>
          <p:nvPr/>
        </p:nvSpPr>
        <p:spPr>
          <a:xfrm>
            <a:off x="7132320" y="4773168"/>
            <a:ext cx="41879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2.0 은 검정을 한 번 할 때의 값이다. 주 1회 사이클이면 연 150회쯤 되고, 그때 2.0 은 효과 없는 팩터를 해마다 7~8개 통과시킨다 — '논문 근거 있음' 딱지를 달고서.</a:t>
            </a:r>
            <a:endParaRPr lang="en-US" sz="860" dirty="0"/>
          </a:p>
        </p:txBody>
      </p:sp>
      <p:sp>
        <p:nvSpPr>
          <p:cNvPr id="67" name="Text 60"/>
          <p:cNvSpPr txBox="1"/>
          <p:nvPr/>
        </p:nvSpPr>
        <p:spPr>
          <a:xfrm>
            <a:off x="7132320" y="5175504"/>
            <a:ext cx="4187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표준오차는 Newey-West 로 잰다. 월간 스프레드는 자기상관이 있어 보통 표준오차를 쓰면 t 가 과장된다.</a:t>
            </a:r>
            <a:endParaRPr lang="en-US" sz="860" dirty="0"/>
          </a:p>
        </p:txBody>
      </p:sp>
      <p:sp>
        <p:nvSpPr>
          <p:cNvPr id="68" name="Text 61"/>
          <p:cNvSpPr txBox="1"/>
          <p:nvPr/>
        </p:nvSpPr>
        <p:spPr>
          <a:xfrm>
            <a:off x="7132320" y="5431536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Harvey·Liu·Zhu (2016) RFS 29(1) 5-68   ·   Newey·West (1987) ECTA 55(3)</a:t>
            </a:r>
            <a:endParaRPr lang="en-US" sz="720" dirty="0"/>
          </a:p>
        </p:txBody>
      </p:sp>
      <p:sp>
        <p:nvSpPr>
          <p:cNvPr id="69" name="Shape 62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0" name="Shape 63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1" name="Text 64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 통과하지 못한 논문은 '미검증'으로 남아 표시를 달고 인용된다 — 관문은 정지 버튼이 아니다.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3.42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macro · 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disclosures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price_series · 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데스크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상한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희석/지분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자본구조·희석 재계산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실적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 갱신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 · 그 밖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이벤트로 시점 판단에 반영 (T1)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 · 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숫자 재검산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 · 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해제일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키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 3편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→ 장부 append (T3)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 · 게이트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 · 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재검산 → 게이트 ①~⑦ → 발행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 상설 셋(data-ops · compliance-officer · ic-chair)은 그래도 매일 돈다.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여전히 가정값이다. 역산기는 들어갔고(run_day.py --stage convene) 실측에는 원장이 필요하다 — 이 수치는 아직 실측이 아니다.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price_series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disclosures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staleness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 데스크는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6126480" cy="42245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6126480" cy="422452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792224"/>
            <a:ext cx="5715000" cy="4041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3.42 }   // 임계 3.0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"read": [{"key": "000660.close", "value": 88.0,     // ← v2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"asof": "2026-09-11"}],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"q3-execution",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"q3-execution-20260911-000660-a91f",  // ← v2 신설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740" dirty="0"/>
          </a:p>
          <a:p>
            <a:pPr indent="0" marL="0">
              <a:lnSpc>
                <a:spcPts val="920"/>
              </a:lnSpc>
              <a:buNone/>
            </a:pPr>
            <a:r>
              <a:rPr lang="en-US" sz="74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4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읽고 이 값을 냈는가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정정공시가 오면 원장의 같은 칸이 덮어써진다. 이것이 있어야 '틀렸다'와 '바뀌었다'가 갈린다.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장부에 실재하는 논문인가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지어낸 인용 차단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q2-disposal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봉투가 읽은 것을 적는다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원장은 정정이 오면 같은 칸을 덮어쓴다. 봉투의 read 와 대조해야 '틀렸다'와 '바뀌었다'가 갈린다.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instance ID 로 특정된다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좁혀진다. 무상태라 같은 입력이면 같은 봉투가 나와야 한다.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들어간 것 — agents/ 파이썬 11개 · 데스크 정의 9 · 스킬 5 · 자체 검사 193개.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코드 변경은 0줄이다. ki_monitor.py 는 열지 않았다.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열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인자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universe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시장의 상장종목 목록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최근 측정값 한 줄 (종가 기준)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price_series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start · end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일봉 시계열 (오름차순)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fundamentals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period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재무 항목 · 기준일은 보고서 기간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disclosures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code · since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index_series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index_name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지수 일봉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한국은행 ECOS · FRED 시계열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staleness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원장이 며칠 뒤처졌는가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key · state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장부 — 인용 가능 여부 · 붙는 표시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도구 전부 읽기다. 오래됐으면 stale_days 로 알릴 뿐, 몰래 새로 받아오지 않는다. papers 는 원장이 아니라 논문 장부를 읽으므로 등급이 '방법론' 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세 겹으로 막는다 — 쓰기 도구가 없다 · 연결이 mode=ro 다 · 생 SQL 을 받지 않는다. stdout 은 JSON 만, 진단은 stderr.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확정값 — 코드가 이것을 지킨다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아니다. 아래 값은 agents/ 에 들어가 있고, 문서와 코드가 어긋나면 docs/audit.py 가 잡는다.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market 인자로 받는다 (기본 KOSDAQ). 종목·월 단위로 거른다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100 · 유효 월 ≥ 36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 · rank 로 동값 처리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분위: Q5−Q1 · NW t  |  이벤트: 긴 구간 달력시간 NW · 짧은 창 횡단면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3.0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3.0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≤3편. 트리거와 같은 함수를 쓴다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제목·태그로 q2 · q1 · q4 로 분기 (T1)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 · 종목당 1회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상장일 + 6개월, D-30 영업일 진입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거시 갱신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macro_daily 최신일 &gt; 감시선 · 하루 1회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≤3편 (T3) · 은퇴본은 제외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07:40 · RUN_ALL.cmd cycle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&gt; 3 영업일 → 게이트 ⑤ 반려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asof · source_grade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있으면  → unit 필수 · read[]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가 null 이면 → reason 필수 (0 으로 채우지 않는다)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→ paper_state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replication 은 필수가 아니다 — unverified 는 아직 없다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read[] = {source, key, value, asof}   ← 재생 가능성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못 읽은 값도 value:null 로 적는다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12K 토큰 · 도구 6회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40K · 18회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저평가 · 고평가 · 추천 · 목표가 · 목표주가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비중확대 · 비중축소 · 적정주가 · 투자의견 · 강력매수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3.0 은 자연상수가 아니다.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방식과 가정한 검정 횟수에 따라 달라지는 값이고, 재검 대상이다. 다만 한 번의 판정을 위해 낮추지 않는다 — 낮추려면 사람이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단계 중 넷이 코드로 들어갔다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먼저였다. 재현되지 않은 방법론 위에 에이전트를 아무리 많이 띄워도 의미가 없기 때문이다.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들어감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0591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7991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89245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985723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899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117226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126553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6"/>
          <p:cNvSpPr/>
          <p:nvPr/>
        </p:nvSpPr>
        <p:spPr>
          <a:xfrm>
            <a:off x="135879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7"/>
          <p:cNvSpPr/>
          <p:nvPr/>
        </p:nvSpPr>
        <p:spPr>
          <a:xfrm>
            <a:off x="1452067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8"/>
          <p:cNvSpPr/>
          <p:nvPr/>
        </p:nvSpPr>
        <p:spPr>
          <a:xfrm>
            <a:off x="154533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9"/>
          <p:cNvSpPr/>
          <p:nvPr/>
        </p:nvSpPr>
        <p:spPr>
          <a:xfrm>
            <a:off x="163860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20"/>
          <p:cNvSpPr/>
          <p:nvPr/>
        </p:nvSpPr>
        <p:spPr>
          <a:xfrm>
            <a:off x="173187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1"/>
          <p:cNvSpPr/>
          <p:nvPr/>
        </p:nvSpPr>
        <p:spPr>
          <a:xfrm>
            <a:off x="1825142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8411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3"/>
          <p:cNvSpPr/>
          <p:nvPr/>
        </p:nvSpPr>
        <p:spPr>
          <a:xfrm>
            <a:off x="2011680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4"/>
          <p:cNvSpPr/>
          <p:nvPr/>
        </p:nvSpPr>
        <p:spPr>
          <a:xfrm>
            <a:off x="2104949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5"/>
          <p:cNvSpPr/>
          <p:nvPr/>
        </p:nvSpPr>
        <p:spPr>
          <a:xfrm>
            <a:off x="2198218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6"/>
          <p:cNvSpPr/>
          <p:nvPr/>
        </p:nvSpPr>
        <p:spPr>
          <a:xfrm>
            <a:off x="2291486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4755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8"/>
          <p:cNvSpPr/>
          <p:nvPr/>
        </p:nvSpPr>
        <p:spPr>
          <a:xfrm>
            <a:off x="2478024" y="2798064"/>
            <a:ext cx="71323" cy="9144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(미검증으로)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papers MCP 도구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들어감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3" name="Shape 4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297362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0668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16016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3253435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334670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343997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1" name="Shape 49"/>
          <p:cNvSpPr/>
          <p:nvPr/>
        </p:nvSpPr>
        <p:spPr>
          <a:xfrm>
            <a:off x="353324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651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3" name="Shape 51"/>
          <p:cNvSpPr/>
          <p:nvPr/>
        </p:nvSpPr>
        <p:spPr>
          <a:xfrm>
            <a:off x="3719779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4" name="Shape 52"/>
          <p:cNvSpPr/>
          <p:nvPr/>
        </p:nvSpPr>
        <p:spPr>
          <a:xfrm>
            <a:off x="381304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5" name="Shape 53"/>
          <p:cNvSpPr/>
          <p:nvPr/>
        </p:nvSpPr>
        <p:spPr>
          <a:xfrm>
            <a:off x="390631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6" name="Shape 54"/>
          <p:cNvSpPr/>
          <p:nvPr/>
        </p:nvSpPr>
        <p:spPr>
          <a:xfrm>
            <a:off x="399958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4092854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4186123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4279392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4372661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4465930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4559198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4652467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4745736" y="2798064"/>
            <a:ext cx="71323" cy="9144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러너 · 이벤트 러너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|t| ≥ 3.0 확정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장부 append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4" name="Shape 7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들어감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7" name="Shape 7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79" name="Shape 77"/>
          <p:cNvSpPr/>
          <p:nvPr/>
        </p:nvSpPr>
        <p:spPr>
          <a:xfrm>
            <a:off x="524134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33461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42787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521147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61441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570768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Shape 83"/>
          <p:cNvSpPr/>
          <p:nvPr/>
        </p:nvSpPr>
        <p:spPr>
          <a:xfrm>
            <a:off x="580095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6" name="Shape 84"/>
          <p:cNvSpPr/>
          <p:nvPr/>
        </p:nvSpPr>
        <p:spPr>
          <a:xfrm>
            <a:off x="589422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7" name="Shape 85"/>
          <p:cNvSpPr/>
          <p:nvPr/>
        </p:nvSpPr>
        <p:spPr>
          <a:xfrm>
            <a:off x="5987491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8" name="Shape 86"/>
          <p:cNvSpPr/>
          <p:nvPr/>
        </p:nvSpPr>
        <p:spPr>
          <a:xfrm>
            <a:off x="6080760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9" name="Shape 87"/>
          <p:cNvSpPr/>
          <p:nvPr/>
        </p:nvSpPr>
        <p:spPr>
          <a:xfrm>
            <a:off x="6174029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0" name="Shape 88"/>
          <p:cNvSpPr/>
          <p:nvPr/>
        </p:nvSpPr>
        <p:spPr>
          <a:xfrm>
            <a:off x="6267298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1" name="Shape 89"/>
          <p:cNvSpPr/>
          <p:nvPr/>
        </p:nvSpPr>
        <p:spPr>
          <a:xfrm>
            <a:off x="6360566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2" name="Shape 90"/>
          <p:cNvSpPr/>
          <p:nvPr/>
        </p:nvSpPr>
        <p:spPr>
          <a:xfrm>
            <a:off x="6453835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3" name="Shape 91"/>
          <p:cNvSpPr/>
          <p:nvPr/>
        </p:nvSpPr>
        <p:spPr>
          <a:xfrm>
            <a:off x="6547104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4" name="Shape 92"/>
          <p:cNvSpPr/>
          <p:nvPr/>
        </p:nvSpPr>
        <p:spPr>
          <a:xfrm>
            <a:off x="6640373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5" name="Shape 93"/>
          <p:cNvSpPr/>
          <p:nvPr/>
        </p:nvSpPr>
        <p:spPr>
          <a:xfrm>
            <a:off x="6733642" y="2798064"/>
            <a:ext cx="71323" cy="9144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96" name="Shape 94"/>
          <p:cNvSpPr/>
          <p:nvPr/>
        </p:nvSpPr>
        <p:spPr>
          <a:xfrm>
            <a:off x="682691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692017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96"/>
          <p:cNvSpPr/>
          <p:nvPr/>
        </p:nvSpPr>
        <p:spPr>
          <a:xfrm>
            <a:off x="701344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07:40 주간 배치 등록</a:t>
            </a:r>
            <a:endParaRPr lang="en-US" sz="950" dirty="0"/>
          </a:p>
        </p:txBody>
      </p:sp>
      <p:sp>
        <p:nvSpPr>
          <p:cNvPr id="101" name="Shape 9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도래분 합류 · 주 3편</a:t>
            </a:r>
            <a:endParaRPr lang="en-US" sz="950" dirty="0"/>
          </a:p>
        </p:txBody>
      </p:sp>
      <p:sp>
        <p:nvSpPr>
          <p:cNvPr id="103" name="Shape 10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채택률 실측은 원장 필요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8" name="Shape 10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들어감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113" name="Shape 111"/>
          <p:cNvSpPr/>
          <p:nvPr/>
        </p:nvSpPr>
        <p:spPr>
          <a:xfrm>
            <a:off x="750905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4" name="Shape 112"/>
          <p:cNvSpPr/>
          <p:nvPr/>
        </p:nvSpPr>
        <p:spPr>
          <a:xfrm>
            <a:off x="76023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769559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6" name="Shape 114"/>
          <p:cNvSpPr/>
          <p:nvPr/>
        </p:nvSpPr>
        <p:spPr>
          <a:xfrm>
            <a:off x="7788859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7" name="Shape 115"/>
          <p:cNvSpPr/>
          <p:nvPr/>
        </p:nvSpPr>
        <p:spPr>
          <a:xfrm>
            <a:off x="788212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97539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19" name="Shape 117"/>
          <p:cNvSpPr/>
          <p:nvPr/>
        </p:nvSpPr>
        <p:spPr>
          <a:xfrm>
            <a:off x="806866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0" name="Shape 118"/>
          <p:cNvSpPr/>
          <p:nvPr/>
        </p:nvSpPr>
        <p:spPr>
          <a:xfrm>
            <a:off x="816193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1" name="Shape 119"/>
          <p:cNvSpPr/>
          <p:nvPr/>
        </p:nvSpPr>
        <p:spPr>
          <a:xfrm>
            <a:off x="8255203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2" name="Shape 120"/>
          <p:cNvSpPr/>
          <p:nvPr/>
        </p:nvSpPr>
        <p:spPr>
          <a:xfrm>
            <a:off x="834847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3" name="Shape 121"/>
          <p:cNvSpPr/>
          <p:nvPr/>
        </p:nvSpPr>
        <p:spPr>
          <a:xfrm>
            <a:off x="844174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853501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5" name="Shape 123"/>
          <p:cNvSpPr/>
          <p:nvPr/>
        </p:nvSpPr>
        <p:spPr>
          <a:xfrm>
            <a:off x="8628278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721547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814816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08085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01354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094622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1" name="Shape 129"/>
          <p:cNvSpPr/>
          <p:nvPr/>
        </p:nvSpPr>
        <p:spPr>
          <a:xfrm>
            <a:off x="9187891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2" name="Shape 130"/>
          <p:cNvSpPr/>
          <p:nvPr/>
        </p:nvSpPr>
        <p:spPr>
          <a:xfrm>
            <a:off x="9281160" y="2798064"/>
            <a:ext cx="71323" cy="9144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작업지시서 · 예산 · 소멸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· read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일부</a:t>
            </a:r>
            <a:endParaRPr lang="en-US" sz="1050" dirty="0"/>
          </a:p>
        </p:txBody>
      </p:sp>
      <p:sp>
        <p:nvSpPr>
          <p:cNvPr id="144" name="Shape 14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147" name="Shape 145"/>
          <p:cNvSpPr/>
          <p:nvPr/>
        </p:nvSpPr>
        <p:spPr>
          <a:xfrm>
            <a:off x="9776765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870034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963302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0" name="Shape 148"/>
          <p:cNvSpPr/>
          <p:nvPr/>
        </p:nvSpPr>
        <p:spPr>
          <a:xfrm>
            <a:off x="10056571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1" name="Shape 149"/>
          <p:cNvSpPr/>
          <p:nvPr/>
        </p:nvSpPr>
        <p:spPr>
          <a:xfrm>
            <a:off x="10149840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2" name="Shape 150"/>
          <p:cNvSpPr/>
          <p:nvPr/>
        </p:nvSpPr>
        <p:spPr>
          <a:xfrm>
            <a:off x="10243109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336378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429646" y="2798064"/>
            <a:ext cx="71323" cy="9144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522915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61618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70945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80272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895990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989259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1082528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1175797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1269066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1362334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1455603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548872" y="2798064"/>
            <a:ext cx="71323" cy="91440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6" name="Shape 1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코드로 끝난 것</a:t>
            </a:r>
            <a:endParaRPr lang="en-US" sz="1000" dirty="0"/>
          </a:p>
        </p:txBody>
      </p:sp>
      <p:sp>
        <p:nvSpPr>
          <p:cNvPr id="178" name="Text 1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 · 러너 · 관문 · 트리거 · 사이클 · 되짚기 — 자체 검사 193개</a:t>
            </a:r>
            <a:endParaRPr lang="en-US" sz="1000" dirty="0"/>
          </a:p>
        </p:txBody>
      </p:sp>
      <p:sp>
        <p:nvSpPr>
          <p:cNvPr id="179" name="Shape 1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0" name="Shape 1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1" name="Text 1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원장이 있어야 되는 것</a:t>
            </a:r>
            <a:endParaRPr lang="en-US" sz="1000" dirty="0"/>
          </a:p>
        </p:txBody>
      </p:sp>
      <p:sp>
        <p:nvSpPr>
          <p:cNvPr id="182" name="Text 1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5편의 실제 재현 · 채택률 · 트리거 발생률 실측</a:t>
            </a:r>
            <a:endParaRPr lang="en-US" sz="1000" dirty="0"/>
          </a:p>
        </p:txBody>
      </p:sp>
      <p:sp>
        <p:nvSpPr>
          <p:cNvPr id="183" name="Shape 1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 정할 것</a:t>
            </a:r>
            <a:endParaRPr lang="en-US" sz="1000" dirty="0"/>
          </a:p>
        </p:txBody>
      </p:sp>
      <p:sp>
        <p:nvSpPr>
          <p:cNvPr id="186" name="Text 1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 — 이 덱이 아니라 회의에서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끝난 것과, 원장이 있어야 되는 것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진짜 원장에 물린다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agents/cycle.py --run  ·  12편 중 5편이 검정 대상이다. 합성 자료로는 러너가 맞다는 것까지만 확인했다.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발생률을 역산한다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agents/run_day.py --stage convene  ·  원장의 공시·변동 이력으로 실제 소집 건수를 잰다. 부하 수치를 가정값에서 실측으로 바꾼다.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원장 필요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method_papers 두 편을 Crossref 로 재대조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hlz2016 · nw1987. 서지는 세 곳에서 일치를 봤지만 빌드 환경은 Crossref 이그레스가 막혀 규율대로의 재대조를 못 했다.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망 필요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needs_runner 가 비었다 — 유지할지 본다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 중 8편이 검정 대상이고 나머지 4편은 추정량·모형이라 원래 대상이 아니다. 새 논문이 그 칸에 걸리면 사유를 적어 넣는다.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확인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— 사람 산출과 대조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스코어카드와 리플레이가 준비돼 있다. 전환 여부는 그 결과를 놓고 회의에서 사람이 정한다.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회의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193개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검사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키·네트워크·원장 없이 돈다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0줄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변경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측정층은 손대지 않았다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12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 대상 논문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 4편은 원래 대상 아님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미분류 논문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셋 중 하나로 분류됐다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①②③ 이 여기서 안 되는 것은 미완이어서가 아니라 환경 때문이다 — 원장은 87MB 라 저장소에 없고, 빌드 환경은 외부 이그레스가 전면 차단돼 있다. 코드는 세 경우 모두 준비돼 있다.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ki_monitor.py 변경 0줄 · .papers.json v2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audit.py 에 정의 대조 [10]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RUN_ALL · SCHEDULE    월 07:40 주간 재현 한 줄 추가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들어감 (자체 검사 193개)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papers.py            논문 장부 ki.papers/2    19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분위 러너 (달력 시간)    25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eventstudy.py        이벤트 러너 (사건 시간)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  20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10종   27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selftest.py          다섯 개를 한 번에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triggers.py          트리거 스캐너 · 소집      16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cycle.py             주간 논문 사이클         13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run_day.py           소집 → 게이트 → 발행     14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scorecard.py         계측 (고치지는 않는다)    11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replay.py            되짚기 · 원장 대조         12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실제로 들어갔다 — agents/ 파이썬 11 · 데스크 정의 9 · 스킬 5 · 자체 검사 193개 · ki_monitor.py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2026-09-18T06:06:14Z</dcterms:created>
  <dcterms:modified xsi:type="dcterms:W3CDTF">2026-09-18T06:06:14Z</dcterms:modified>
</cp:coreProperties>
</file>