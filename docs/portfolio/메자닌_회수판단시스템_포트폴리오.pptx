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918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9377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2296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5214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31673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48132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64592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81051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197510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13969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230428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46888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63347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79806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296265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312724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329184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345643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62102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78561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395020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11480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27939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44398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60857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77316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493776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526694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43153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559612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576072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592531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08990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25449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658368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674827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48640" y="47548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  ·  코스닥벤처 · 메자닌 운용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10972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메자닌 포트폴리오 회수 판단 시스템</a:t>
            </a:r>
            <a:endParaRPr lang="en-US" sz="42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19202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리픽싱 · 희석 · 락업 · 처분여건을 매일 재는 도구</a:t>
            </a:r>
            <a:endParaRPr lang="en-US" sz="19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241401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한국거래소·금융감독원 공식 API 로 숫자를 받아 원장에 쌓고, 그 원장으로 회수 판단 리포트를 만든다.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넣지 않는다 — 재기만 하고, 그 측정값이 무엇을 셌는지와 어떤 가정 위에 서 있는지를 함께 낸다.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98932" y="3506724"/>
            <a:ext cx="2615184" cy="107899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9" name="Shape 47"/>
          <p:cNvSpPr/>
          <p:nvPr/>
        </p:nvSpPr>
        <p:spPr>
          <a:xfrm>
            <a:off x="548640" y="3456432"/>
            <a:ext cx="2615184" cy="107899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13232" y="35844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8,684</a:t>
            </a:r>
            <a:endParaRPr lang="en-US" sz="2500" dirty="0"/>
          </a:p>
        </p:txBody>
      </p:sp>
      <p:sp>
        <p:nvSpPr>
          <p:cNvPr id="51" name="Text 49"/>
          <p:cNvSpPr txBox="1"/>
          <p:nvPr/>
        </p:nvSpPr>
        <p:spPr>
          <a:xfrm>
            <a:off x="713232" y="40050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· 단일 파일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713232" y="4224528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· 계산 · 리포트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396996" y="3506724"/>
            <a:ext cx="2615184" cy="107899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4" name="Shape 52"/>
          <p:cNvSpPr/>
          <p:nvPr/>
        </p:nvSpPr>
        <p:spPr>
          <a:xfrm>
            <a:off x="3346704" y="3456432"/>
            <a:ext cx="2615184" cy="107899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511296" y="35844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2500" dirty="0"/>
          </a:p>
        </p:txBody>
      </p:sp>
      <p:sp>
        <p:nvSpPr>
          <p:cNvPr id="56" name="Text 54"/>
          <p:cNvSpPr txBox="1"/>
          <p:nvPr/>
        </p:nvSpPr>
        <p:spPr>
          <a:xfrm>
            <a:off x="3511296" y="40050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검증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3511296" y="4224528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교차검산 · 항등식 · 방향성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195060" y="3506724"/>
            <a:ext cx="2615184" cy="107899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9" name="Shape 57"/>
          <p:cNvSpPr/>
          <p:nvPr/>
        </p:nvSpPr>
        <p:spPr>
          <a:xfrm>
            <a:off x="6144768" y="3456432"/>
            <a:ext cx="2615184" cy="107899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309360" y="35844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500" dirty="0"/>
          </a:p>
        </p:txBody>
      </p:sp>
      <p:sp>
        <p:nvSpPr>
          <p:cNvPr id="61" name="Text 59"/>
          <p:cNvSpPr txBox="1"/>
          <p:nvPr/>
        </p:nvSpPr>
        <p:spPr>
          <a:xfrm>
            <a:off x="6309360" y="40050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출처 API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6309360" y="4224528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크롤링 · 벤더 데이터 없음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993124" y="3506724"/>
            <a:ext cx="2615184" cy="107899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4" name="Shape 62"/>
          <p:cNvSpPr/>
          <p:nvPr/>
        </p:nvSpPr>
        <p:spPr>
          <a:xfrm>
            <a:off x="8942832" y="3456432"/>
            <a:ext cx="2615184" cy="107899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107424" y="35844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500" dirty="0"/>
          </a:p>
        </p:txBody>
      </p:sp>
      <p:sp>
        <p:nvSpPr>
          <p:cNvPr id="66" name="Text 64"/>
          <p:cNvSpPr txBox="1"/>
          <p:nvPr/>
        </p:nvSpPr>
        <p:spPr>
          <a:xfrm>
            <a:off x="9107424" y="40050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어휘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9107424" y="4224528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· 등급 · 목표주가 없음</a:t>
            </a:r>
            <a:endParaRPr lang="en-US" sz="950" dirty="0"/>
          </a:p>
        </p:txBody>
      </p:sp>
      <p:pic>
        <p:nvPicPr>
          <p:cNvPr id="6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882896"/>
            <a:ext cx="457200" cy="457200"/>
          </a:xfrm>
          <a:prstGeom prst="rect">
            <a:avLst/>
          </a:prstGeom>
        </p:spPr>
      </p:pic>
      <p:pic>
        <p:nvPicPr>
          <p:cNvPr id="6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4882896"/>
            <a:ext cx="457200" cy="457200"/>
          </a:xfrm>
          <a:prstGeom prst="rect">
            <a:avLst/>
          </a:prstGeom>
        </p:spPr>
      </p:pic>
      <p:pic>
        <p:nvPicPr>
          <p:cNvPr id="7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4882896"/>
            <a:ext cx="457200" cy="457200"/>
          </a:xfrm>
          <a:prstGeom prst="rect">
            <a:avLst/>
          </a:prstGeom>
        </p:spPr>
      </p:pic>
      <p:pic>
        <p:nvPicPr>
          <p:cNvPr id="7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424" y="4882896"/>
            <a:ext cx="457200" cy="457200"/>
          </a:xfrm>
          <a:prstGeom prst="rect">
            <a:avLst/>
          </a:prstGeom>
        </p:spPr>
      </p:pic>
      <p:pic>
        <p:nvPicPr>
          <p:cNvPr id="7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6352" y="4882896"/>
            <a:ext cx="457200" cy="457200"/>
          </a:xfrm>
          <a:prstGeom prst="rect">
            <a:avLst/>
          </a:prstGeom>
        </p:spPr>
      </p:pic>
      <p:pic>
        <p:nvPicPr>
          <p:cNvPr id="7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4882896"/>
            <a:ext cx="457200" cy="457200"/>
          </a:xfrm>
          <a:prstGeom prst="rect">
            <a:avLst/>
          </a:prstGeom>
        </p:spPr>
      </p:pic>
      <p:sp>
        <p:nvSpPr>
          <p:cNvPr id="74" name="Text 66"/>
          <p:cNvSpPr txBox="1"/>
          <p:nvPr/>
        </p:nvSpPr>
        <p:spPr>
          <a:xfrm>
            <a:off x="4206240" y="49926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확장 설계 — 데스크 에이전트 · 논문 재현 관문 (PART 5)</a:t>
            </a:r>
            <a:endParaRPr lang="en-US" sz="1000" dirty="0"/>
          </a:p>
        </p:txBody>
      </p:sp>
      <p:sp>
        <p:nvSpPr>
          <p:cNvPr id="75" name="Shape 67"/>
          <p:cNvSpPr/>
          <p:nvPr/>
        </p:nvSpPr>
        <p:spPr>
          <a:xfrm>
            <a:off x="598932" y="5664708"/>
            <a:ext cx="11094415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76" name="Shape 68"/>
          <p:cNvSpPr/>
          <p:nvPr/>
        </p:nvSpPr>
        <p:spPr>
          <a:xfrm>
            <a:off x="548640" y="5614416"/>
            <a:ext cx="11094415" cy="566928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7" name="Text 69"/>
          <p:cNvSpPr txBox="1"/>
          <p:nvPr/>
        </p:nvSpPr>
        <p:spPr>
          <a:xfrm>
            <a:off x="786384" y="5614416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이유 — </a:t>
            </a:r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메자닌은 리픽싱·희석·락업·유동성이 서로 얽혀 있어서, 한 종목의 회수 시점을 눈으로 판단하기 어렵다. 그 네 가지를 매일 같은 기준으로 재려고 만들었다.</a:t>
            </a:r>
            <a:endParaRPr lang="en-US" sz="1100" dirty="0"/>
          </a:p>
        </p:txBody>
      </p:sp>
      <p:sp>
        <p:nvSpPr>
          <p:cNvPr id="78" name="Text 70"/>
          <p:cNvSpPr txBox="1"/>
          <p:nvPr/>
        </p:nvSpPr>
        <p:spPr>
          <a:xfrm>
            <a:off x="548640" y="636422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  ·  github.com/InnbumBaek/Stock_Agent  ·  내부 검토용 · 투자권유 자료 아님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ONE PAGER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만들었고, 무엇이 다른가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시세 대시보드는 많다. 이 도구가 다루는 것은 시세가 아니라 메자닌 포지션의 회수 조건이다.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14500"/>
            <a:ext cx="7223760" cy="85953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64208"/>
            <a:ext cx="7223760" cy="85953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828800"/>
            <a:ext cx="146304" cy="53035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4128" y="179222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메자닌 구조를 계산한다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08483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리픽싱 시나리오 · 완전희석 지분 · 전환 잠재주식수를 코드로 계산한다. 공시 제목이 아니라 발행조건으로 본다.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8932" y="2683764"/>
            <a:ext cx="7223760" cy="85953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33472"/>
            <a:ext cx="7223760" cy="85953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798064"/>
            <a:ext cx="146304" cy="53035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24128" y="27614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희석과 권리락을 구분한다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305409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 전환은 주식수만 늘고 권리락이 아니다. 수정주가를 조정하면 과거 수익률이 조용히 틀어진다 — 구분해서 처리한다.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" y="3653028"/>
            <a:ext cx="7223760" cy="85953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602736"/>
            <a:ext cx="7223760" cy="85953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767328"/>
            <a:ext cx="146304" cy="5303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24128" y="373075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 수 있는지를 잰다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02336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 소요일수를 평균과 중앙값으로 나란히 낸다. 거래대금이 상위 며칠에 몰리는 코스닥 소형주는 평균값이 낙관적이다.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932" y="4622292"/>
            <a:ext cx="7223760" cy="85953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572000"/>
            <a:ext cx="7223760" cy="85953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736592"/>
            <a:ext cx="146304" cy="530352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4128" y="470001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7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모른다는 것을 표시한다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" y="499262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락업은 '추정'이고 확약이 아니다. 못 구한 값은 None 과 사유를 낸다. 0 으로 채우지 않는다.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23860" y="1714500"/>
            <a:ext cx="3666744" cy="38953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6" name="Shape 24"/>
          <p:cNvSpPr/>
          <p:nvPr/>
        </p:nvSpPr>
        <p:spPr>
          <a:xfrm>
            <a:off x="7973568" y="1664208"/>
            <a:ext cx="3666744" cy="3895344"/>
          </a:xfrm>
          <a:prstGeom prst="rect">
            <a:avLst/>
          </a:prstGeom>
          <a:solidFill>
            <a:srgbClr val="171E30"/>
          </a:solidFill>
          <a:ln w="15875">
            <a:solidFill>
              <a:srgbClr val="FFD3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74736" y="18105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면접에서 보실 것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74736" y="2139696"/>
            <a:ext cx="3273552" cy="47548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84464" y="21762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refix_scenario()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284464" y="23774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리픽싱 최저한도까지의 희석 가속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174736" y="2688336"/>
            <a:ext cx="3273552" cy="475488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84464" y="27249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fully_diluted_ownership()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284464" y="29260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 · BW · 옵션풀 반영 지분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74736" y="3236976"/>
            <a:ext cx="3273552" cy="47548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84464" y="32735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adjust_audit()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84464" y="34747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희석 ≠ 권리락 판별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174736" y="3785616"/>
            <a:ext cx="3273552" cy="475488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84464" y="38221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exit_days (mean · median)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284464" y="40233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 소요일수 두 기준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174736" y="4334256"/>
            <a:ext cx="3273552" cy="47548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284464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LOCKUP_MONTHS = 6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8284464" y="45720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벤처금융 보호예수 · 추정 표기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174736" y="4882896"/>
            <a:ext cx="3273552" cy="475488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284464" y="4919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selftest 128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8284464" y="5120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교차검산 · 항등식 · 방향성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98932" y="5719572"/>
            <a:ext cx="11094415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7" name="Shape 45"/>
          <p:cNvSpPr/>
          <p:nvPr/>
        </p:nvSpPr>
        <p:spPr>
          <a:xfrm>
            <a:off x="548640" y="5669280"/>
            <a:ext cx="11094415" cy="566928"/>
          </a:xfrm>
          <a:prstGeom prst="rect">
            <a:avLst/>
          </a:prstGeom>
          <a:solidFill>
            <a:srgbClr val="16281C"/>
          </a:solidFill>
          <a:ln w="15875">
            <a:solidFill>
              <a:srgbClr val="2A5A3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86384" y="5669280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 하나로 줄이면 — </a:t>
            </a:r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재기만 하고 판단하지 않는다. 점수·등급·목표주가를 만들지 않는다. 회의에서 근거 없는 결론이 근거 있는 숫자처럼 읽히는 것이 이 시스템이 막으려는 실패다.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1 · THE FOUR QUESTIONS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운용역이 매일 답해야 하는 네 가지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구조와 팩터 인용이 전부 이 네 질문에 묶여 있다. 질문에 답하지 않는 지표는 넣지 않는다.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69364"/>
            <a:ext cx="2615184" cy="4572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19072"/>
            <a:ext cx="2615184" cy="457200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6656" y="17190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25296" y="1719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왔는가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8932" y="2299716"/>
            <a:ext cx="2615184" cy="30175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249424"/>
            <a:ext cx="2615184" cy="30175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회수계획 대비 진척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71216"/>
            <a:ext cx="73152" cy="7315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2798064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 목표 · 기한 대비 현재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438144"/>
            <a:ext cx="73152" cy="7315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364992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목표회수단가 갭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005072"/>
            <a:ext cx="73152" cy="7315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6112" y="3931920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총수익률 · 배당 반영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846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논문 인용 → q1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96996" y="1769364"/>
            <a:ext cx="2615184" cy="4572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0" name="Shape 18"/>
          <p:cNvSpPr/>
          <p:nvPr/>
        </p:nvSpPr>
        <p:spPr>
          <a:xfrm>
            <a:off x="3346704" y="1719072"/>
            <a:ext cx="2615184" cy="457200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74720" y="17190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1719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 수 있는가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396996" y="2299716"/>
            <a:ext cx="2615184" cy="30175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4" name="Shape 22"/>
          <p:cNvSpPr/>
          <p:nvPr/>
        </p:nvSpPr>
        <p:spPr>
          <a:xfrm>
            <a:off x="3346704" y="2249424"/>
            <a:ext cx="2615184" cy="30175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11296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 여건 · 거래비용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29584" y="2871216"/>
            <a:ext cx="73152" cy="7315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694176" y="2798064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 소요일수 (평균 · 중앙값)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29584" y="3438144"/>
            <a:ext cx="73152" cy="7315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694176" y="3364992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스프레드 · 비유동성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29584" y="4005072"/>
            <a:ext cx="73152" cy="7315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94176" y="3931920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락업 잔여 · 물량 압력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511296" y="4846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논문 인용 → q2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95060" y="1769364"/>
            <a:ext cx="2615184" cy="4572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4" name="Shape 32"/>
          <p:cNvSpPr/>
          <p:nvPr/>
        </p:nvSpPr>
        <p:spPr>
          <a:xfrm>
            <a:off x="6144768" y="1719072"/>
            <a:ext cx="2615184" cy="45720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72784" y="17190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821424" y="1719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팔 것인가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195060" y="2299716"/>
            <a:ext cx="2615184" cy="30175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2249424"/>
            <a:ext cx="2615184" cy="30175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0936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27648" y="2871216"/>
            <a:ext cx="7315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92240" y="2798064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매도 규칙 4종 비교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27648" y="3438144"/>
            <a:ext cx="7315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492240" y="3364992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충격 가정과 민감도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27648" y="4005072"/>
            <a:ext cx="7315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492240" y="3931920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매물대 분포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309360" y="4846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논문 인용 → q3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993124" y="1769364"/>
            <a:ext cx="2615184" cy="4572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8" name="Shape 46"/>
          <p:cNvSpPr/>
          <p:nvPr/>
        </p:nvSpPr>
        <p:spPr>
          <a:xfrm>
            <a:off x="8942832" y="1719072"/>
            <a:ext cx="2615184" cy="457200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070848" y="17190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9619488" y="1719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지금이 그 때인가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8993124" y="2299716"/>
            <a:ext cx="2615184" cy="30175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2" name="Shape 50"/>
          <p:cNvSpPr/>
          <p:nvPr/>
        </p:nvSpPr>
        <p:spPr>
          <a:xfrm>
            <a:off x="8942832" y="2249424"/>
            <a:ext cx="2615184" cy="30175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107424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 · 국면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125712" y="2871216"/>
            <a:ext cx="73152" cy="73152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290304" y="2798064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지수·금리 분위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125712" y="3438144"/>
            <a:ext cx="73152" cy="73152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290304" y="3364992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금통위 · 파생 만기 일정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125712" y="4005072"/>
            <a:ext cx="73152" cy="73152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9290304" y="3931920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이벤트 · CAR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9107424" y="4846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논문 인용 → q4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98932" y="5500116"/>
            <a:ext cx="11094415" cy="80467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2" name="Shape 60"/>
          <p:cNvSpPr/>
          <p:nvPr/>
        </p:nvSpPr>
        <p:spPr>
          <a:xfrm>
            <a:off x="548640" y="5449824"/>
            <a:ext cx="11094415" cy="804672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86384" y="5449824"/>
            <a:ext cx="1061892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네 질문이 코드 안에 있다.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`.papers.json` 의 모든 채택 논문은 q1~q4 중 하나에 태그돼 있고, 네 질문 중 하나를 바꾸지 않는 논문은 채택하지 않는다.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지표를 늘리는 것이 목적이 아니라, 회수 시점을 판단하는 데 쓰이지 않는 지표를 들이지 않는 것이 목적이다.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2 · WHY MEZZANINE IS HARD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가지가 서로를 움직인다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하나만 보면 답이 나오는 것 같지만, 실제로는 주가가 내리면 전환가가 내리고, 전환가가 내리면 희석이 커지고, 희석이 커지면 팔기가 어려워진다.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64692" y="2153412"/>
            <a:ext cx="2103120" cy="10058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03120"/>
            <a:ext cx="2103120" cy="1005840"/>
          </a:xfrm>
          <a:prstGeom prst="rect">
            <a:avLst/>
          </a:prstGeom>
          <a:solidFill>
            <a:srgbClr val="171E30"/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42416" y="228600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하락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265176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시장</a:t>
            </a:r>
            <a:endParaRPr lang="en-US" sz="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7248" y="2505456"/>
            <a:ext cx="347472" cy="2194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890772" y="2153412"/>
            <a:ext cx="2103120" cy="10058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2103120"/>
            <a:ext cx="2103120" cy="1005840"/>
          </a:xfrm>
          <a:prstGeom prst="rect">
            <a:avLst/>
          </a:prstGeom>
          <a:solidFill>
            <a:srgbClr val="171E30"/>
          </a:solidFill>
          <a:ln w="15875">
            <a:solidFill>
              <a:srgbClr val="FFB6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68496" y="228600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전환가 하락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968496" y="265176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리픽싱 조항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2505456"/>
            <a:ext cx="347472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816852" y="2153412"/>
            <a:ext cx="2103120" cy="10058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6" name="Shape 12"/>
          <p:cNvSpPr/>
          <p:nvPr/>
        </p:nvSpPr>
        <p:spPr>
          <a:xfrm>
            <a:off x="6766560" y="2103120"/>
            <a:ext cx="2103120" cy="1005840"/>
          </a:xfrm>
          <a:prstGeom prst="rect">
            <a:avLst/>
          </a:prstGeom>
          <a:solidFill>
            <a:srgbClr val="171E30"/>
          </a:solidFill>
          <a:ln w="15875">
            <a:solidFill>
              <a:srgbClr val="9D7B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94576" y="228600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7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잠재주식 증가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894576" y="265176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희석</a:t>
            </a:r>
            <a:endParaRPr lang="en-US" sz="9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08" y="2505456"/>
            <a:ext cx="347472" cy="21945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742932" y="2153412"/>
            <a:ext cx="2103120" cy="10058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1" name="Shape 16"/>
          <p:cNvSpPr/>
          <p:nvPr/>
        </p:nvSpPr>
        <p:spPr>
          <a:xfrm>
            <a:off x="9692640" y="2103120"/>
            <a:ext cx="2103120" cy="1005840"/>
          </a:xfrm>
          <a:prstGeom prst="rect">
            <a:avLst/>
          </a:prstGeom>
          <a:solidFill>
            <a:srgbClr val="171E30"/>
          </a:solidFill>
          <a:ln w="15875">
            <a:solidFill>
              <a:srgbClr val="35D6ED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9820656" y="228600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 난도 상승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9820656" y="265176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유동성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327355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 되먹임 — 희석이 커지면 오버행으로 주가가 더 눌린다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98932" y="3762756"/>
            <a:ext cx="5413248" cy="10972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6" name="Shape 21"/>
          <p:cNvSpPr/>
          <p:nvPr/>
        </p:nvSpPr>
        <p:spPr>
          <a:xfrm>
            <a:off x="548640" y="3712464"/>
            <a:ext cx="5413248" cy="109728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31520" y="3840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리픽싱 최저한도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3840480" y="385876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최초 전환가액의 70%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151376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밑으로는 주주총회 특별결의가 있어야 한다. 정관만으로는 안 된다(2021 개정).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249924" y="3762756"/>
            <a:ext cx="5413248" cy="10972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1" name="Shape 26"/>
          <p:cNvSpPr/>
          <p:nvPr/>
        </p:nvSpPr>
        <p:spPr>
          <a:xfrm>
            <a:off x="6199632" y="3712464"/>
            <a:ext cx="5413248" cy="109728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382512" y="3840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상향조정 의무</a:t>
            </a:r>
            <a:endParaRPr lang="en-US" sz="1250" dirty="0"/>
          </a:p>
        </p:txBody>
      </p:sp>
      <p:sp>
        <p:nvSpPr>
          <p:cNvPr id="33" name="Text 28"/>
          <p:cNvSpPr txBox="1"/>
          <p:nvPr/>
        </p:nvSpPr>
        <p:spPr>
          <a:xfrm>
            <a:off x="9491472" y="385876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사모 발행 시</a:t>
            </a:r>
            <a:endParaRPr lang="en-US" sz="950" dirty="0"/>
          </a:p>
        </p:txBody>
      </p:sp>
      <p:sp>
        <p:nvSpPr>
          <p:cNvPr id="34" name="Text 29"/>
          <p:cNvSpPr txBox="1"/>
          <p:nvPr/>
        </p:nvSpPr>
        <p:spPr>
          <a:xfrm>
            <a:off x="6382512" y="4151376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하락으로 내린 뒤 다시 오르면 상향조정해야 한다. 범위는 최초 전환가액의 70~100%.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598932" y="4969764"/>
            <a:ext cx="5413248" cy="10972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6" name="Shape 31"/>
          <p:cNvSpPr/>
          <p:nvPr/>
        </p:nvSpPr>
        <p:spPr>
          <a:xfrm>
            <a:off x="548640" y="4919472"/>
            <a:ext cx="5413248" cy="109728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731520" y="5047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락업은 확약이 아니다</a:t>
            </a:r>
            <a:endParaRPr lang="en-US" sz="1250" dirty="0"/>
          </a:p>
        </p:txBody>
      </p:sp>
      <p:sp>
        <p:nvSpPr>
          <p:cNvPr id="38" name="Text 33"/>
          <p:cNvSpPr txBox="1"/>
          <p:nvPr/>
        </p:nvSpPr>
        <p:spPr>
          <a:xfrm>
            <a:off x="3840480" y="506577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상장일 + 6개월 (추정)</a:t>
            </a:r>
            <a:endParaRPr lang="en-US" sz="950" dirty="0"/>
          </a:p>
        </p:txBody>
      </p:sp>
      <p:sp>
        <p:nvSpPr>
          <p:cNvPr id="39" name="Text 34"/>
          <p:cNvSpPr txBox="1"/>
          <p:nvPr/>
        </p:nvSpPr>
        <p:spPr>
          <a:xfrm>
            <a:off x="731520" y="5358384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의무보유 기간·대상은 증권신고서를 봐야 한다. 이 도구는 '추정' 등급으로 표시한다.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6249924" y="4969764"/>
            <a:ext cx="5413248" cy="10972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1" name="Shape 36"/>
          <p:cNvSpPr/>
          <p:nvPr/>
        </p:nvSpPr>
        <p:spPr>
          <a:xfrm>
            <a:off x="6199632" y="4919472"/>
            <a:ext cx="5413248" cy="109728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6382512" y="5047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D7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평균은 낙관적이다</a:t>
            </a:r>
            <a:endParaRPr lang="en-US" sz="1250" dirty="0"/>
          </a:p>
        </p:txBody>
      </p:sp>
      <p:sp>
        <p:nvSpPr>
          <p:cNvPr id="43" name="Text 38"/>
          <p:cNvSpPr txBox="1"/>
          <p:nvPr/>
        </p:nvSpPr>
        <p:spPr>
          <a:xfrm>
            <a:off x="9491472" y="506577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처분 소요일수</a:t>
            </a:r>
            <a:endParaRPr lang="en-US" sz="950" dirty="0"/>
          </a:p>
        </p:txBody>
      </p:sp>
      <p:sp>
        <p:nvSpPr>
          <p:cNvPr id="44" name="Text 39"/>
          <p:cNvSpPr txBox="1"/>
          <p:nvPr/>
        </p:nvSpPr>
        <p:spPr>
          <a:xfrm>
            <a:off x="6382512" y="5358384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거래대금이 상위 며칠에 몰리는 종목은 평균 거래량 기준이 실제보다 짧게 나온다.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548640" y="647395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제도 근거는 금융위원회 「증권의 발행 및 공시 등에 관한 규정」 개정 보도자료 · 시행 시점과 최신 개정은 원문 재확인 필요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2 · ★ REFIXING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리픽싱 — 주가가 더 내리면 희석이 얼마나 가속되는가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전환가액은 고정이 아니다. 주가가 내리면 따라 내리고, 그만큼 잠재주식수가 늘어난다. 최저한도에 닿기 전까지는 계속 늘어난다.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69364"/>
            <a:ext cx="5943600" cy="223113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19072"/>
            <a:ext cx="5943600" cy="2231136"/>
          </a:xfrm>
          <a:prstGeom prst="rect">
            <a:avLst/>
          </a:prstGeom>
          <a:solidFill>
            <a:srgbClr val="0A102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ki_monitor.py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066544"/>
            <a:ext cx="554126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refix_scenario(cb_amount, price, floor_price,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drops=(0.9, 0.8, 0.7)) -&gt; list[dict]: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"""주가가 더 내리면 희석이 얼마나 가속되는가."""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[]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d in drops: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px = price * d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cv = max(px, floor_price)          # 최저조정한도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out.append({"price": round(px, 1),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"conv_price": round(cv, 1),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"potential_shares":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round(cb_amount / cv) if cv else None})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743700" y="1769364"/>
            <a:ext cx="4946904" cy="223113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0" name="Shape 8"/>
          <p:cNvSpPr/>
          <p:nvPr/>
        </p:nvSpPr>
        <p:spPr>
          <a:xfrm>
            <a:off x="6693408" y="1719072"/>
            <a:ext cx="4946904" cy="2231136"/>
          </a:xfrm>
          <a:prstGeom prst="rect">
            <a:avLst/>
          </a:prstGeom>
          <a:solidFill>
            <a:srgbClr val="171E30"/>
          </a:solidFill>
          <a:ln w="15875">
            <a:solidFill>
              <a:srgbClr val="FFB6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94576" y="18288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산출 예 · CB 10억 · 현재가 10,000 · 하한 7,000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894576" y="21396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주가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139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전환가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9875520" y="21396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잠재주식수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94576" y="2377440"/>
            <a:ext cx="4535424" cy="310896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86016" y="23774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기준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23774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3774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875520" y="23774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100,000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94576" y="2706624"/>
            <a:ext cx="4535424" cy="310896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86016" y="27066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-10%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270662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9,000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778240" y="270662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9,000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875520" y="27066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111,111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94576" y="3035808"/>
            <a:ext cx="4535424" cy="310896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86016" y="30358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-20%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0358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8,000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778240" y="30358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8,000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875520" y="303580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125,000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94576" y="3364992"/>
            <a:ext cx="4535424" cy="310896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986016" y="33649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-30%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33649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7,000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33649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7,000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875520" y="33649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142,857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894576" y="36941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-30% 에서 하한에 닿는다 — 그 아래로는 더 늘지 않는다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8932" y="4165092"/>
            <a:ext cx="3602736" cy="13716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114800"/>
            <a:ext cx="3602736" cy="13716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4242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최저조정한도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45171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최초 전환가액의 70%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4773168"/>
            <a:ext cx="3255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밑으로 내리려면 발행 시마다 주주총회 특별결의가 필요하다. 정관에 근거를 두는 방식은 2021년 개정으로 막혔다.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57116" y="4165092"/>
            <a:ext cx="3602736" cy="13716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2" name="Shape 40"/>
          <p:cNvSpPr/>
          <p:nvPr/>
        </p:nvSpPr>
        <p:spPr>
          <a:xfrm>
            <a:off x="4306824" y="4114800"/>
            <a:ext cx="3602736" cy="13716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489704" y="4242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상향조정 의무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4489704" y="45171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사모 발행 · 70~100%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489704" y="4773168"/>
            <a:ext cx="3255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하락으로 조정한 뒤 주가가 오르면 다시 올려야 한다. 범위는 최초 전환가액을 넘지 못한다.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115300" y="4165092"/>
            <a:ext cx="3602736" cy="13716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7" name="Shape 45"/>
          <p:cNvSpPr/>
          <p:nvPr/>
        </p:nvSpPr>
        <p:spPr>
          <a:xfrm>
            <a:off x="8065008" y="4114800"/>
            <a:ext cx="3602736" cy="13716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247888" y="4242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콜옵션 공시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8247888" y="45171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행사자 공시 의무화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8247888" y="4773168"/>
            <a:ext cx="3255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발행사·최대주주가 되사는 콜옵션의 행사자와 조건이 공시 대상이 됐다. 지분 변동 감시에 쓴다.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98932" y="5682996"/>
            <a:ext cx="11094415" cy="60350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2" name="Shape 50"/>
          <p:cNvSpPr/>
          <p:nvPr/>
        </p:nvSpPr>
        <p:spPr>
          <a:xfrm>
            <a:off x="548640" y="5632704"/>
            <a:ext cx="11094415" cy="603504"/>
          </a:xfrm>
          <a:prstGeom prst="rect">
            <a:avLst/>
          </a:prstGeom>
          <a:solidFill>
            <a:srgbClr val="2A1520"/>
          </a:solidFill>
          <a:ln w="15875">
            <a:solidFill>
              <a:srgbClr val="5C2A3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86384" y="5632704"/>
            <a:ext cx="1061892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한계를 함께 낸다 — </a:t>
            </a:r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floor_price 는 우리가 넣는 값이다. 실제 조항(조정 주기·한도·예외)은 증권신고서와 주요사항보고서 원문을 봐야 한다. 공시 제목만으로는 알 수 없고, 이 도구는 원문 링크를 달아 둔다.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2 · ★ DILUTION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보통주만 보면 지분율이 과대평가된다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메자닌 포지션은 전환 전까지 주식이 아니다. 그런데 우리 지분율은 전환 후 기준으로 봐야 협상도 회수도 말이 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87652"/>
            <a:ext cx="5943600" cy="19202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5943600" cy="1920240"/>
          </a:xfrm>
          <a:prstGeom prst="rect">
            <a:avLst/>
          </a:prstGeom>
          <a:solidFill>
            <a:srgbClr val="0A102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865376"/>
            <a:ext cx="554126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fully_diluted_ownership(our_shares, common,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cb_potential=0.0, bw_potential=0.0,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option_pool=0.0) -&gt; dict: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"""보통주만 보면 지분율이 과대평가됩니다."""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fd = common + cb_potential + bw_potential + option_pool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fd &lt;= 0: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{"ownership_fd": None}     # 0 으로 채우지 않는다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{"ownership_common": our_shares / common,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"ownership_fd":     our_shares / fd,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"fully_diluted_shares": fd}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743700" y="1787652"/>
            <a:ext cx="4946904" cy="19202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9" name="Shape 7"/>
          <p:cNvSpPr/>
          <p:nvPr/>
        </p:nvSpPr>
        <p:spPr>
          <a:xfrm>
            <a:off x="6693408" y="1737360"/>
            <a:ext cx="4946904" cy="1920240"/>
          </a:xfrm>
          <a:prstGeom prst="rect">
            <a:avLst/>
          </a:prstGeom>
          <a:solidFill>
            <a:srgbClr val="171E30"/>
          </a:solidFill>
          <a:ln w="15875">
            <a:solidFill>
              <a:srgbClr val="9D7B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94576" y="1865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무엇이 분모에 들어가는가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94576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보통주 발행주식총수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dart.ds002.stock_total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6894576" y="2542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cb_potential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5420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전환사채 전환 시 주식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0" y="2542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ds005.cb_amount ÷ 전환가액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6894576" y="2889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bw_potential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8895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신주인수권 행사 시 주식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0" y="2889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행사가액 · 행사비율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6894576" y="3236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option_pool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236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미행사 스톡옵션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0" y="3236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사업보고서 주식매수선택권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8587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 두 함수를 검사하는 selftest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8932" y="4238244"/>
            <a:ext cx="11094415" cy="5486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187952"/>
            <a:ext cx="11094415" cy="54864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379976"/>
            <a:ext cx="164592" cy="164592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005840" y="41879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완전희석 &lt; 보통주 지분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206240" y="41879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fully_diluted_ownership(100, 1000, 200) 의 ownership_fd 가 ownership_common 보다 작은가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98932" y="4860036"/>
            <a:ext cx="11094415" cy="5486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0" name="Shape 27"/>
          <p:cNvSpPr/>
          <p:nvPr/>
        </p:nvSpPr>
        <p:spPr>
          <a:xfrm>
            <a:off x="548640" y="4809744"/>
            <a:ext cx="11094415" cy="54864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01768"/>
            <a:ext cx="164592" cy="164592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005840" y="48097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리픽싱이 희석을 키운다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4206240" y="48097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refix_scenario(...) 의 마지막 시나리오 잠재주식수가 첫 시나리오보다 큰가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598932" y="5481828"/>
            <a:ext cx="11094415" cy="5486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5" name="Shape 31"/>
          <p:cNvSpPr/>
          <p:nvPr/>
        </p:nvSpPr>
        <p:spPr>
          <a:xfrm>
            <a:off x="548640" y="5431536"/>
            <a:ext cx="11094415" cy="54864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623560"/>
            <a:ext cx="164592" cy="164592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1005840" y="54315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분모는 None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4206240" y="543153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분모가 0 이면 계산을 거부하고 None 을 낸다 — 0 으로 채우지 않는다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598932" y="6103620"/>
            <a:ext cx="11094415" cy="4572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0" name="Shape 35"/>
          <p:cNvSpPr/>
          <p:nvPr/>
        </p:nvSpPr>
        <p:spPr>
          <a:xfrm>
            <a:off x="548640" y="6053328"/>
            <a:ext cx="11094415" cy="45720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786384" y="605332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예외가 안 난다고 맞는 게 아니다 — 금융 데이터 코드는 조용히 틀린다. 컬럼이 뒤바뀌어도, 단위가 천원이어도 계산은 돌아간다. 그래서 방향성 테스트를 둔다.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2 · ★★ THE SUBTLE 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희석은 권리락이 아니다 — 수정주가를 조정하면 안 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메자닌 포트폴리오는 CB 전환이 상시 일어난다. 주식수 증가를 자동으로 권리락으로 처리하는 순간, 과거 수익률이 조용히 틀어진다.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69364"/>
            <a:ext cx="5413248" cy="29260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19072"/>
            <a:ext cx="5413248" cy="2926080"/>
          </a:xfrm>
          <a:prstGeom prst="rect">
            <a:avLst/>
          </a:prstGeom>
          <a:solidFill>
            <a:srgbClr val="171E30"/>
          </a:solidFill>
          <a:ln w="15875">
            <a:solidFill>
              <a:srgbClr val="3DFA7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83664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60704" y="1828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무상증자 · 액면분할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97680" y="1828800"/>
            <a:ext cx="1463040" cy="29260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297680" y="1828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조정한다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49808" y="2304288"/>
            <a:ext cx="5010912" cy="32918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7824" y="23042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주식수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377440" y="23042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9808" y="2688336"/>
            <a:ext cx="5010912" cy="329184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77824" y="26883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주가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377440" y="26883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÷2 (권리락)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49808" y="3072384"/>
            <a:ext cx="5010912" cy="32918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77824" y="30723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시가총액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2377440" y="30723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불변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49808" y="3456432"/>
            <a:ext cx="5010912" cy="329184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77824" y="34564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수정주가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2377440" y="34564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과거를 ÷2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" y="396849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실측이 주식수 비율을 뒷받침한다. 같은 날 주가가 정확히 절반이 됐다면 권리락이다.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49924" y="1769364"/>
            <a:ext cx="5413248" cy="29260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5" name="Shape 22"/>
          <p:cNvSpPr/>
          <p:nvPr/>
        </p:nvSpPr>
        <p:spPr>
          <a:xfrm>
            <a:off x="6199632" y="1719072"/>
            <a:ext cx="5413248" cy="2926080"/>
          </a:xfrm>
          <a:prstGeom prst="rect">
            <a:avLst/>
          </a:prstGeom>
          <a:solidFill>
            <a:srgbClr val="171E30"/>
          </a:solidFill>
          <a:ln w="15875">
            <a:solidFill>
              <a:srgbClr val="FF4D6D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83664"/>
            <a:ext cx="201168" cy="201168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711696" y="1828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 전환 · 유상증자 · 옵션행사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9948672" y="1828800"/>
            <a:ext cx="1463040" cy="292608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9948672" y="1828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조정하지 않는다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400800" y="2304288"/>
            <a:ext cx="5010912" cy="32918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528816" y="23042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주식수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8028432" y="23042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+2.5%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400800" y="2688336"/>
            <a:ext cx="5010912" cy="329184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6528816" y="26883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주가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8028432" y="26883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시장이 정한다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400800" y="3072384"/>
            <a:ext cx="5010912" cy="32918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6528816" y="30723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시가총액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8028432" y="30723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증가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400800" y="3456432"/>
            <a:ext cx="5010912" cy="329184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6528816" y="34564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수정주가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8028432" y="34564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그대로 둔다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6400800" y="396849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주식수만 늘고 권리락은 없다. 여기서 조정하면 전환 이전 구간 수익률이 통째로 왜곡된다.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598932" y="4841748"/>
            <a:ext cx="7223760" cy="14447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4" name="Shape 40"/>
          <p:cNvSpPr/>
          <p:nvPr/>
        </p:nvSpPr>
        <p:spPr>
          <a:xfrm>
            <a:off x="548640" y="4791456"/>
            <a:ext cx="7223760" cy="1444752"/>
          </a:xfrm>
          <a:prstGeom prst="rect">
            <a:avLst/>
          </a:prstGeom>
          <a:solidFill>
            <a:srgbClr val="0A102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768096" y="49011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selftest — 이 구분을 매번 검사한다</a:t>
            </a:r>
            <a:endParaRPr lang="en-US" sz="950" dirty="0"/>
          </a:p>
        </p:txBody>
      </p:sp>
      <p:sp>
        <p:nvSpPr>
          <p:cNvPr id="46" name="Text 42"/>
          <p:cNvSpPr txBox="1"/>
          <p:nvPr/>
        </p:nvSpPr>
        <p:spPr>
          <a:xfrm>
            <a:off x="768096" y="5157216"/>
            <a:ext cx="68214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60"/>
              </a:lnSpc>
              <a:buNone/>
            </a:pPr>
            <a:r>
              <a:rPr lang="en-US" sz="86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d.loc[200:, "shares"] *= 1.025              # 주식수만 +2.5%</a:t>
            </a:r>
            <a:endParaRPr lang="en-US" sz="860" dirty="0"/>
          </a:p>
          <a:p>
            <a:pPr indent="0" marL="0">
              <a:lnSpc>
                <a:spcPts val="1160"/>
              </a:lnSpc>
              <a:buNone/>
            </a:pPr>
            <a:r>
              <a:rPr lang="en-US" sz="86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d.loc[200, ["open","high","low","close"]] *= 0.90   # 시장 하락</a:t>
            </a:r>
            <a:endParaRPr lang="en-US" sz="860" dirty="0"/>
          </a:p>
          <a:p>
            <a:pPr indent="0" marL="0">
              <a:lnSpc>
                <a:spcPts val="1160"/>
              </a:lnSpc>
              <a:buNone/>
            </a:pPr>
            <a:r>
              <a:rPr lang="en-US" sz="86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adjust_audit(d)</a:t>
            </a:r>
            <a:endParaRPr lang="en-US" sz="860" dirty="0"/>
          </a:p>
          <a:p>
            <a:pPr indent="0" marL="0">
              <a:lnSpc>
                <a:spcPts val="1160"/>
              </a:lnSpc>
              <a:buNone/>
            </a:pPr>
            <a:r>
              <a:rPr lang="en-US" sz="86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_assert(r["n_actions"] == 0)                # 조정하지 않는다</a:t>
            </a:r>
            <a:endParaRPr lang="en-US" sz="860" dirty="0"/>
          </a:p>
          <a:p>
            <a:pPr indent="0" marL="0">
              <a:lnSpc>
                <a:spcPts val="1160"/>
              </a:lnSpc>
              <a:buNone/>
            </a:pPr>
            <a:r>
              <a:rPr lang="en-US" sz="86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_assert(len(r["unresolved"]) == 1)          # 대신 "확인 필요" 로 표시</a:t>
            </a:r>
            <a:endParaRPr lang="en-US" sz="860" dirty="0"/>
          </a:p>
        </p:txBody>
      </p:sp>
      <p:sp>
        <p:nvSpPr>
          <p:cNvPr id="47" name="Shape 43"/>
          <p:cNvSpPr/>
          <p:nvPr/>
        </p:nvSpPr>
        <p:spPr>
          <a:xfrm>
            <a:off x="8023860" y="4841748"/>
            <a:ext cx="3666744" cy="14447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8" name="Shape 44"/>
          <p:cNvSpPr/>
          <p:nvPr/>
        </p:nvSpPr>
        <p:spPr>
          <a:xfrm>
            <a:off x="7973568" y="4791456"/>
            <a:ext cx="3666744" cy="1444752"/>
          </a:xfrm>
          <a:prstGeom prst="rect">
            <a:avLst/>
          </a:prstGeom>
          <a:solidFill>
            <a:srgbClr val="16281C"/>
          </a:solidFill>
          <a:ln w="15875">
            <a:solidFill>
              <a:srgbClr val="2A5A3A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8174736" y="4919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지우지 않고 남긴다</a:t>
            </a:r>
            <a:endParaRPr lang="en-US" sz="1250" dirty="0"/>
          </a:p>
        </p:txBody>
      </p:sp>
      <p:sp>
        <p:nvSpPr>
          <p:cNvPr id="50" name="Text 46"/>
          <p:cNvSpPr txBox="1"/>
          <p:nvPr/>
        </p:nvSpPr>
        <p:spPr>
          <a:xfrm>
            <a:off x="8174736" y="5212080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판별이 안 되면 조정하지도, 없애지도 않고 '확인 필요' 로 남긴다. 사람이 DART 원문을 보고 판단한다.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조용히 처리하는 것이 가장 위험하다.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2 · LOCKUP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락업은 '추정'이다 — 확약으로 서술하지 않는다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일정에도 등급이 있다. 확정된 일정과 관행상 그럴 것을 같은 무게로 읽으면, 추정이 확약처럼 읽힌다.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87652"/>
            <a:ext cx="11094415" cy="10972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11094415" cy="1097280"/>
          </a:xfrm>
          <a:prstGeom prst="rect">
            <a:avLst/>
          </a:prstGeom>
          <a:solidFill>
            <a:srgbClr val="171E30"/>
          </a:solidFill>
          <a:ln w="15875">
            <a:solidFill>
              <a:srgbClr val="3DFA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38528"/>
            <a:ext cx="859536" cy="38404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938528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공표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1901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기관이 미리 공표한 확정 일정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1945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금통위(연 8회) · FOMC(연 8회)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3852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.calendar.json 에 출처·확인일과 함께 적는다. 공개 API 가 없어 사람이 확인한다.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932" y="3012948"/>
            <a:ext cx="11094415" cy="10972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962656"/>
            <a:ext cx="11094415" cy="1097280"/>
          </a:xfrm>
          <a:prstGeom prst="rect">
            <a:avLst/>
          </a:prstGeom>
          <a:solidFill>
            <a:srgbClr val="171E30"/>
          </a:solidFill>
          <a:ln w="15875">
            <a:solidFill>
              <a:srgbClr val="35D6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163824"/>
            <a:ext cx="859536" cy="38404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163824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규칙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제도로 정해진 규칙에서 계산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34198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지수선물·옵션 만기 (매월 둘째 목요일)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163824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호출 없이 계산한다. 휴장일이면 앞당겨질 수 있다는 사실을 함께 적는다.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8932" y="4238244"/>
            <a:ext cx="11094415" cy="10972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87952"/>
            <a:ext cx="11094415" cy="1097280"/>
          </a:xfrm>
          <a:prstGeom prst="rect">
            <a:avLst/>
          </a:prstGeom>
          <a:solidFill>
            <a:srgbClr val="171E30"/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389120"/>
            <a:ext cx="859536" cy="384048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389120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추정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4352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원장의 상장일에서 관행으로 계산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46451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락업 만료 (상장 + 6개월) · 상장 3년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438912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의무보유확약이 아니다. 실제 기간·대상은 증권신고서를 봐야 한다.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8932" y="5518404"/>
            <a:ext cx="7223760" cy="76809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5468112"/>
            <a:ext cx="7223760" cy="768096"/>
          </a:xfrm>
          <a:prstGeom prst="rect">
            <a:avLst/>
          </a:prstGeom>
          <a:solidFill>
            <a:srgbClr val="0A102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5468112"/>
            <a:ext cx="68214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LOCKUP_MONTHS = 6   # 벤처금융 보호예수는 통상 1~6개월. 보수적으로 6개월을 씁니다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023860" y="5518404"/>
            <a:ext cx="3666744" cy="76809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0" name="Shape 28"/>
          <p:cNvSpPr/>
          <p:nvPr/>
        </p:nvSpPr>
        <p:spPr>
          <a:xfrm>
            <a:off x="7973568" y="5468112"/>
            <a:ext cx="3666744" cy="768096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74736" y="5468112"/>
            <a:ext cx="33101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보수적으로 잡는다 — 짧게 잡으면 팔 수 있다고 착각하게 된다.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3 · CAN WE SELL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 소요일수 — 평균과 중앙값을 나란히 낸다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코스닥 소형주는 거래대금이 상위 며칠에 몰린다. 평균 거래량으로 나누면 실제보다 짧게 나오고, 그 낙관이 회수 계획에 그대로 들어간다.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87652"/>
            <a:ext cx="5577840" cy="22860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5577840" cy="22860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865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종목, 두 기준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68096" y="2249424"/>
            <a:ext cx="5138928" cy="347472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2494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물량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2494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1,200,000 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" y="2651760"/>
            <a:ext cx="5138928" cy="347472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651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거래량 기준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651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12.4 영업일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" y="3054096"/>
            <a:ext cx="5138928" cy="347472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0540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중앙값 기준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0540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18.1 영업일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" y="3456432"/>
            <a:ext cx="5138928" cy="347472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6112" y="3456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34564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+5.7 일 (46%)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" y="37856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숫자는 예시입니다 (실제 값은 대외비)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23076" y="1787652"/>
            <a:ext cx="5367528" cy="5120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2" name="Shape 20"/>
          <p:cNvSpPr/>
          <p:nvPr/>
        </p:nvSpPr>
        <p:spPr>
          <a:xfrm>
            <a:off x="6272784" y="1737360"/>
            <a:ext cx="5367528" cy="5120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55664" y="1847088"/>
            <a:ext cx="109728" cy="29260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75120" y="173736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가정을 드러낸다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17373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참여율(일 거래량의 몇 %까지 낼 것인가)을 표에 적고 민감도를 함께 낸다. 숫자만 내면 가정이 숨는다.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23076" y="2372868"/>
            <a:ext cx="5367528" cy="5120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7" name="Shape 25"/>
          <p:cNvSpPr/>
          <p:nvPr/>
        </p:nvSpPr>
        <p:spPr>
          <a:xfrm>
            <a:off x="6272784" y="2322576"/>
            <a:ext cx="5367528" cy="5120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55664" y="2432304"/>
            <a:ext cx="109728" cy="292608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75120" y="232257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7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스프레드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412480" y="232257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Roll(1984) 추정치. 호가가 없어도 종가 계열만으로 거래비용을 잰다.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23076" y="2958084"/>
            <a:ext cx="5367528" cy="5120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2" name="Shape 30"/>
          <p:cNvSpPr/>
          <p:nvPr/>
        </p:nvSpPr>
        <p:spPr>
          <a:xfrm>
            <a:off x="6272784" y="2907792"/>
            <a:ext cx="5367528" cy="5120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55664" y="3017520"/>
            <a:ext cx="109728" cy="292608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75120" y="290779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비유동성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290779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Amihud(2002) — 거래대금당 가격 충격. 코스닥 소형주에서 특히 크다.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23076" y="3543300"/>
            <a:ext cx="5367528" cy="5120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7" name="Shape 35"/>
          <p:cNvSpPr/>
          <p:nvPr/>
        </p:nvSpPr>
        <p:spPr>
          <a:xfrm>
            <a:off x="6272784" y="3493008"/>
            <a:ext cx="5367528" cy="5120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55664" y="3602736"/>
            <a:ext cx="109728" cy="29260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675120" y="349300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매물대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412480" y="349300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가격대별 거래대금 분포. 어느 구간에 물량이 쌓여 있는지 본다.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23076" y="4165092"/>
            <a:ext cx="5367528" cy="13716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2" name="Shape 40"/>
          <p:cNvSpPr/>
          <p:nvPr/>
        </p:nvSpPr>
        <p:spPr>
          <a:xfrm>
            <a:off x="6272784" y="4114800"/>
            <a:ext cx="5367528" cy="137160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55664" y="42428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락업이 남아 있으면 소요일수는 의미가 없다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455664" y="4535424"/>
            <a:ext cx="4974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 여건은 '팔 수 있는 상태인가'와 '판다면 며칠 걸리는가'가 곱해진 값이다. 락업 잔여일이 소요일수보다 길면, 소요일수는 아직 답이 아니라 준비다.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8932" y="4165092"/>
            <a:ext cx="5577840" cy="13716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6" name="Shape 44"/>
          <p:cNvSpPr/>
          <p:nvPr/>
        </p:nvSpPr>
        <p:spPr>
          <a:xfrm>
            <a:off x="548640" y="4114800"/>
            <a:ext cx="5577840" cy="1371600"/>
          </a:xfrm>
          <a:prstGeom prst="rect">
            <a:avLst/>
          </a:prstGeom>
          <a:solidFill>
            <a:srgbClr val="2A1520"/>
          </a:solidFill>
          <a:ln w="15875">
            <a:solidFill>
              <a:srgbClr val="5C2A3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68096" y="424281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중앙값을 함께 내는가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68096" y="4535424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발표·테마 뉴스가 있던 며칠이 평균을 끌어올린다. 그날 팔 수 있었을지는 별개 문제다. 중앙값은 '평범한 날'에 낼 수 있는 물량을 본다.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8932" y="5682996"/>
            <a:ext cx="11094415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0" name="Shape 48"/>
          <p:cNvSpPr/>
          <p:nvPr/>
        </p:nvSpPr>
        <p:spPr>
          <a:xfrm>
            <a:off x="548640" y="5632704"/>
            <a:ext cx="11094415" cy="566928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86384" y="5632704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등급 — </a:t>
            </a:r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[1차] KRX 일별매매정보 거래량·거래대금 · [방법론] 처분 소요일 = 목표 물량 ÷ 기간 거래량, 가정은 표에 명시 · [사내] exit_plan.csv 의 목표 물량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3 · HOW TO SELL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매도 규칙 네 가지를 과거 구간마다 재현한다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규칙이 좋은지 주장하지 않는다. 같은 구간에서 네 규칙이 각각 어떤 실현단가를 냈는지만 낸다. 고르는 것은 사람이다.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87652"/>
            <a:ext cx="2615184" cy="43891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2615184" cy="438912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6656" y="173736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737360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IMMEDIATE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8932" y="2299716"/>
            <a:ext cx="2615184" cy="15727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249424"/>
            <a:ext cx="2615184" cy="157276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첫날 전량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706624"/>
            <a:ext cx="23042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기준선. 충격이 가장 크고 시점 위험이 없다.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96996" y="1787652"/>
            <a:ext cx="2615184" cy="43891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4" name="Shape 12"/>
          <p:cNvSpPr/>
          <p:nvPr/>
        </p:nvSpPr>
        <p:spPr>
          <a:xfrm>
            <a:off x="3346704" y="1737360"/>
            <a:ext cx="2615184" cy="43891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74720" y="173736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균등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718304" y="1737360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TWAP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96996" y="2299716"/>
            <a:ext cx="2615184" cy="15727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8" name="Shape 16"/>
          <p:cNvSpPr/>
          <p:nvPr/>
        </p:nvSpPr>
        <p:spPr>
          <a:xfrm>
            <a:off x="3346704" y="2249424"/>
            <a:ext cx="2615184" cy="157276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11296" y="2395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기간 균등 분할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511296" y="2706624"/>
            <a:ext cx="23042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단순하다. 유동성이 낮은 날에도 같은 물량을 낸다.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95060" y="1787652"/>
            <a:ext cx="2615184" cy="43891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2" name="Shape 20"/>
          <p:cNvSpPr/>
          <p:nvPr/>
        </p:nvSpPr>
        <p:spPr>
          <a:xfrm>
            <a:off x="6144768" y="1737360"/>
            <a:ext cx="2615184" cy="43891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72784" y="173736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유동성비례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516368" y="1737360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VWAP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95060" y="2299716"/>
            <a:ext cx="2615184" cy="15727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6" name="Shape 24"/>
          <p:cNvSpPr/>
          <p:nvPr/>
        </p:nvSpPr>
        <p:spPr>
          <a:xfrm>
            <a:off x="6144768" y="2249424"/>
            <a:ext cx="2615184" cy="157276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09360" y="2395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그날 거래량에 비례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2706624"/>
            <a:ext cx="23042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거래가 많은 날 더 낸다. 시장을 따라간다.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993124" y="1787652"/>
            <a:ext cx="2615184" cy="43891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0" name="Shape 28"/>
          <p:cNvSpPr/>
          <p:nvPr/>
        </p:nvSpPr>
        <p:spPr>
          <a:xfrm>
            <a:off x="8942832" y="1737360"/>
            <a:ext cx="2615184" cy="43891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070848" y="173736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유동성상위일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314432" y="1737360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993124" y="2299716"/>
            <a:ext cx="2615184" cy="15727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4" name="Shape 32"/>
          <p:cNvSpPr/>
          <p:nvPr/>
        </p:nvSpPr>
        <p:spPr>
          <a:xfrm>
            <a:off x="8942832" y="2249424"/>
            <a:ext cx="2615184" cy="157276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07424" y="2395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상위 거래일에만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107424" y="2706624"/>
            <a:ext cx="23042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좋아 보이지만 사후적 선택이다 — 그 사실을 함께 적는다.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" y="4037076"/>
            <a:ext cx="3602736" cy="151790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8" name="Shape 36"/>
          <p:cNvSpPr/>
          <p:nvPr/>
        </p:nvSpPr>
        <p:spPr>
          <a:xfrm>
            <a:off x="548640" y="3986784"/>
            <a:ext cx="3602736" cy="151790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" y="4151376"/>
            <a:ext cx="12801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69264" y="40782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충격은 가정이다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31520" y="4425696"/>
            <a:ext cx="3255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제곱근 모형을 쓴다. 모형이 맞다는 뜻이 아니라, 어떤 모형을 썼는지 밝힌다는 뜻이다. Almgren-Chriss(2000) 를 인용한다.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57116" y="4037076"/>
            <a:ext cx="3602736" cy="151790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3" name="Shape 41"/>
          <p:cNvSpPr/>
          <p:nvPr/>
        </p:nvSpPr>
        <p:spPr>
          <a:xfrm>
            <a:off x="4306824" y="3986784"/>
            <a:ext cx="3602736" cy="151790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89704" y="4151376"/>
            <a:ext cx="128016" cy="12801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727448" y="40782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구간마다 반복한다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489704" y="4425696"/>
            <a:ext cx="3255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구간의 결과는 그 구간의 운이다. 여러 구간에서 같은 규칙을 돌려 분포를 본다.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115300" y="4037076"/>
            <a:ext cx="3602736" cy="151790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8" name="Shape 46"/>
          <p:cNvSpPr/>
          <p:nvPr/>
        </p:nvSpPr>
        <p:spPr>
          <a:xfrm>
            <a:off x="8065008" y="3986784"/>
            <a:ext cx="3602736" cy="151790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47888" y="4151376"/>
            <a:ext cx="128016" cy="128016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485632" y="40782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사후적 선택을 표시한다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8247888" y="4425696"/>
            <a:ext cx="3255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'유동성 상위일' 은 그날이 상위일인 줄 미리 알 수 없다. 실행 가능한 규칙이 아니라 상한선으로 읽어야 한다.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98932" y="5701284"/>
            <a:ext cx="11094415" cy="58521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3" name="Shape 51"/>
          <p:cNvSpPr/>
          <p:nvPr/>
        </p:nvSpPr>
        <p:spPr>
          <a:xfrm>
            <a:off x="548640" y="5650992"/>
            <a:ext cx="11094415" cy="585216"/>
          </a:xfrm>
          <a:prstGeom prst="rect">
            <a:avLst/>
          </a:prstGeom>
          <a:solidFill>
            <a:srgbClr val="16281C"/>
          </a:solidFill>
          <a:ln w="15875">
            <a:solidFill>
              <a:srgbClr val="2A5A3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86384" y="5650992"/>
            <a:ext cx="1061892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절이 내지 않는 것 — </a:t>
            </a:r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"VWAP 으로 파십시오" 같은 권고. 네 규칙의 실현단가와 그 가정만 낸다. 권고를 만드는 순간 산출물의 성격이 바뀌고, 이 도구는 그 선을 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3 · FUND CONSTRAINT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코스닥벤처펀드 편입요건 — 다음에 붙일 것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회수는 수익률 문제이기 전에 요건 문제다. 팔면 비율이 깨지는 상황을 회수 판단 전에 알아야 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87652"/>
            <a:ext cx="6400800" cy="71323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6400800" cy="71323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7922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벤처기업 신주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0848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펀드 자산 기준. 신주여야 하므로 구주 매입으로는 못 채운다.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1911096"/>
            <a:ext cx="1188720" cy="365760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94960" y="19110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 이상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932" y="2592324"/>
            <a:ext cx="6400800" cy="71323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542032"/>
            <a:ext cx="6400800" cy="71323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5968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벤처 + 코스닥 중소·중견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88950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벤처기업, 또는 벤처 해제 후 7년 이내 코스닥 중소·중견기업.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94960" y="2715768"/>
            <a:ext cx="1188720" cy="365760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94960" y="27157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35% 이상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" y="3396996"/>
            <a:ext cx="6400800" cy="71323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346704"/>
            <a:ext cx="6400800" cy="71323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4015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369417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둘을 합쳐 자산의 절반 이상을 유지해야 한다.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94960" y="3520440"/>
            <a:ext cx="1188720" cy="36576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94960" y="3520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 이상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932" y="4201668"/>
            <a:ext cx="6400800" cy="71323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151376"/>
            <a:ext cx="6400800" cy="71323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42062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코스닥 공모주 우선배정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449884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2026-01-01 이후 25% → 30% 로 상향됐다.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94960" y="4325112"/>
            <a:ext cx="1188720" cy="365760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394960" y="43251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 이상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200900" y="1787652"/>
            <a:ext cx="4489704" cy="219456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0" name="Shape 28"/>
          <p:cNvSpPr/>
          <p:nvPr/>
        </p:nvSpPr>
        <p:spPr>
          <a:xfrm>
            <a:off x="7150608" y="1737360"/>
            <a:ext cx="4489704" cy="2194560"/>
          </a:xfrm>
          <a:prstGeom prst="rect">
            <a:avLst/>
          </a:prstGeom>
          <a:solidFill>
            <a:srgbClr val="171E30"/>
          </a:solidFill>
          <a:ln w="15875">
            <a:solidFill>
              <a:srgbClr val="FFD34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51776" y="18653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계산할 것인가</a:t>
            </a:r>
            <a:endParaRPr lang="en-US" sz="125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76" y="2267712"/>
            <a:ext cx="219456" cy="13716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7644384" y="2194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편입비율 (신주 · 합계)</a:t>
            </a:r>
            <a:endParaRPr lang="en-US" sz="100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6" y="2670048"/>
            <a:ext cx="219456" cy="13716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7644384" y="25968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종목을 전량 처분하면 비율이 얼마가 되는가</a:t>
            </a:r>
            <a:endParaRPr lang="en-US" sz="100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76" y="3072384"/>
            <a:ext cx="219456" cy="137160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7644384" y="2999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 미달까지 남은 여유 금액</a:t>
            </a:r>
            <a:endParaRPr lang="en-US" sz="10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76" y="3474720"/>
            <a:ext cx="219456" cy="13716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644384" y="3401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시 신주 인정 여부 (구주 전환은 신주가 아니다)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7200900" y="4146804"/>
            <a:ext cx="4489704" cy="140817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1" name="Shape 35"/>
          <p:cNvSpPr/>
          <p:nvPr/>
        </p:nvSpPr>
        <p:spPr>
          <a:xfrm>
            <a:off x="7150608" y="4096512"/>
            <a:ext cx="4489704" cy="1408176"/>
          </a:xfrm>
          <a:prstGeom prst="rect">
            <a:avLst/>
          </a:prstGeom>
          <a:solidFill>
            <a:srgbClr val="2A1520"/>
          </a:solidFill>
          <a:ln w="15875">
            <a:solidFill>
              <a:srgbClr val="5C2A3A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7351776" y="42245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구현하지 않았다</a:t>
            </a:r>
            <a:endParaRPr lang="en-US" sz="1250" dirty="0"/>
          </a:p>
        </p:txBody>
      </p:sp>
      <p:sp>
        <p:nvSpPr>
          <p:cNvPr id="43" name="Text 37"/>
          <p:cNvSpPr txBox="1"/>
          <p:nvPr/>
        </p:nvSpPr>
        <p:spPr>
          <a:xfrm>
            <a:off x="7351776" y="4517136"/>
            <a:ext cx="4133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펀드 단위 데이터(수탁고·편입 원장)가 이 도구에 없기 때문이다. 종목 단위 측정은 되지만 펀드 단위 제약은 사내 데이터가 붙어야 한다. 있는 척하지 않고 '다음에 붙일 것' 으로 적어 둔다.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598932" y="5079492"/>
            <a:ext cx="6400800" cy="4754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5" name="Shape 39"/>
          <p:cNvSpPr/>
          <p:nvPr/>
        </p:nvSpPr>
        <p:spPr>
          <a:xfrm>
            <a:off x="548640" y="5029200"/>
            <a:ext cx="6400800" cy="475488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749808" y="502920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세제 혜택도 바뀐다 — 2026 과세연도부터 소득공제 한도가 축소됐다(경과규정 있음). 판매 논리가 아니라 환매 압력의 변수로 본다.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598932" y="5701284"/>
            <a:ext cx="11094415" cy="58521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8" name="Shape 42"/>
          <p:cNvSpPr/>
          <p:nvPr/>
        </p:nvSpPr>
        <p:spPr>
          <a:xfrm>
            <a:off x="548640" y="5650992"/>
            <a:ext cx="11094415" cy="585216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786384" y="5650992"/>
            <a:ext cx="1061892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[참고] </a:t>
            </a:r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수치는 금융위원회·금융투자협회 공개자료 기준이며 제도는 자주 바뀐다. 실제 운용에 쓰기 전에 현행 규정 원문으로 재확인해야 한다 — 이 도구의 원칙대로, 확인한 날짜와 함께 적는다.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4 ·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1차 출처다 — 크롤링도, 벤더 데이터도 없다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가공물(증권사 리포트·언론 기사)을 근거로 쓰지 않는다. 출처가 곧 신뢰도이고, 신뢰도는 절마다 표시된다.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87652"/>
            <a:ext cx="7223760" cy="5303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7223760" cy="53035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847088"/>
            <a:ext cx="109728" cy="31089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50976" y="173736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KRX Open API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688336" y="173736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한국거래소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968496" y="17373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일별시세 · 지수 · 국고채 · 선물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173736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헤더 AUTH_KEY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8932" y="2391156"/>
            <a:ext cx="7223760" cy="5303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340864"/>
            <a:ext cx="7223760" cy="53035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450592"/>
            <a:ext cx="109728" cy="31089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50976" y="234086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Open API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688336" y="2340864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금융감독원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968496" y="234086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공시목록 · 기업개황 · 주요계정 · 대량보유 · CB발행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34086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쿼리 crtfc_key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" y="2994660"/>
            <a:ext cx="7223760" cy="5303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944368"/>
            <a:ext cx="7223760" cy="53035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054096"/>
            <a:ext cx="109728" cy="310896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0976" y="29443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ECOS Open API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688336" y="294436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한국은행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968496" y="29443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100대 통계지표 (기준금리 · 환율 · 물가)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294436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인증키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98932" y="3598164"/>
            <a:ext cx="7223760" cy="5303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3547872"/>
            <a:ext cx="7223760" cy="53035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3657600"/>
            <a:ext cx="109728" cy="31089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50976" y="354787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KIS Open API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2688336" y="354787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한국투자증권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3968496" y="354787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국내주식 현재가 · 호가 (시세 2종만)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354787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앱키/시크릿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8932" y="4201668"/>
            <a:ext cx="7223760" cy="5303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4151376"/>
            <a:ext cx="7223760" cy="53035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4261104"/>
            <a:ext cx="109728" cy="31089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50976" y="41513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FRED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2688336" y="4151376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세인트루이스 연준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3968496" y="415137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국채 2년·10년 · 스프레드 · 달러지수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675120" y="415137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무료 키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023860" y="1787652"/>
            <a:ext cx="3666744" cy="12070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1" name="Shape 39"/>
          <p:cNvSpPr/>
          <p:nvPr/>
        </p:nvSpPr>
        <p:spPr>
          <a:xfrm>
            <a:off x="7973568" y="1737360"/>
            <a:ext cx="3666744" cy="120700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174736" y="186537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"API 가 된다" ≠ "내 필드가 맞다"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174736" y="2286000"/>
            <a:ext cx="3310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호출이 200 이어도 필드명을 하나 잘못 적으면 그 값은 조용히 None 이 되고 리포트엔 '데이터 없음' 이 찍힌다. 틀렸다는 신호가 어디에도 안 뜬다.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023860" y="3104388"/>
            <a:ext cx="3666744" cy="12070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5" name="Shape 43"/>
          <p:cNvSpPr/>
          <p:nvPr/>
        </p:nvSpPr>
        <p:spPr>
          <a:xfrm>
            <a:off x="7973568" y="3054096"/>
            <a:ext cx="3666744" cy="120700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74736" y="318211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필드를 얼려 뒀다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8174736" y="3602736"/>
            <a:ext cx="3310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기관 공식 예제·표준 클라이언트에서 응답 필드를 뽑아 .api_fields.json 에 고정하고, selftest 가 매번 '내 매핑이 그 안에 있는가' 를 검사한다. 네트워크 없이 돈다.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023860" y="4421124"/>
            <a:ext cx="3666744" cy="12070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9" name="Shape 47"/>
          <p:cNvSpPr/>
          <p:nvPr/>
        </p:nvSpPr>
        <p:spPr>
          <a:xfrm>
            <a:off x="7973568" y="4370832"/>
            <a:ext cx="3666744" cy="120700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174736" y="449884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API 는 막았다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174736" y="4919472"/>
            <a:ext cx="3310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는 같은 서버에 주문이 있다. 시세 조회 2종만 화이트리스트에 두고, 그 밖은 OrderNotAllowed 로 막는다. selftest 가 검사한다.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98932" y="4914900"/>
            <a:ext cx="7223760" cy="13716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3" name="Shape 51"/>
          <p:cNvSpPr/>
          <p:nvPr/>
        </p:nvSpPr>
        <p:spPr>
          <a:xfrm>
            <a:off x="548640" y="4864608"/>
            <a:ext cx="7223760" cy="137160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68096" y="499262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제3자 저작 계열은 기본값에서 뺐다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768096" y="5285232"/>
            <a:ext cx="68031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VIX(Cboe) · 나스닥종합(Nasdaq) · 미국 하이일드 스프레드(ICE) 는 FRED 로 받을 수는 있으나 저작권이 제3자에게 있다. --include-restricted 로만 켜지고, 켜면 리포트에 저작권 주체가 함께 찍힌다. 이미 적재된 것은 --purge-restricted 로 지운다.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4 · VERIFICATION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예외가 안 난다고 맞는 게 아니다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데이터 코드는 조용히 틀린다. 컬럼이 뒤바뀌어도, 단위가 천원이어도 계산은 끝까지 돌아간다. 그래서 값이 상식적인지를 따로 검사한다.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69364"/>
            <a:ext cx="3602736" cy="13716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19072"/>
            <a:ext cx="3602736" cy="13716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83664"/>
            <a:ext cx="109728" cy="29260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50976" y="1847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교차검산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57984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값을 두 경로로 구해 맞춰 본다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450592"/>
            <a:ext cx="3255264" cy="51206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450592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거래대금 ÷ 거래량 이 고가·저가 범위 안에 들어오는가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57116" y="1769364"/>
            <a:ext cx="3602736" cy="13716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3" name="Shape 11"/>
          <p:cNvSpPr/>
          <p:nvPr/>
        </p:nvSpPr>
        <p:spPr>
          <a:xfrm>
            <a:off x="4306824" y="1719072"/>
            <a:ext cx="3602736" cy="13716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9704" y="1883664"/>
            <a:ext cx="109728" cy="29260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09160" y="1847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항등식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89704" y="2157984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정의상 반드시 성립해야 하는 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89704" y="2450592"/>
            <a:ext cx="3255264" cy="51206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99432" y="2450592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종가 × 상장주식수 = 시가총액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15300" y="1769364"/>
            <a:ext cx="3602736" cy="13716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0" name="Shape 18"/>
          <p:cNvSpPr/>
          <p:nvPr/>
        </p:nvSpPr>
        <p:spPr>
          <a:xfrm>
            <a:off x="8065008" y="1719072"/>
            <a:ext cx="3602736" cy="13716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47888" y="1883664"/>
            <a:ext cx="109728" cy="292608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67344" y="1847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방향성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47888" y="2157984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부호·대소 관계가 맞는가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47888" y="2450592"/>
            <a:ext cx="3255264" cy="51206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57616" y="2450592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완전희석 지분 &lt; 보통주 지분 · 리픽싱이 희석을 키운다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" y="3305556"/>
            <a:ext cx="3602736" cy="13716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3255264"/>
            <a:ext cx="3602736" cy="13716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419856"/>
            <a:ext cx="109728" cy="292608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50976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7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처리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3694176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모를 때 모른다고 하는가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1520" y="3986784"/>
            <a:ext cx="3255264" cy="51206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41248" y="3986784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F-Score 항목 하나가 비면 0 이 아니라 None 을 낸다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57116" y="3305556"/>
            <a:ext cx="3602736" cy="13716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4" name="Shape 32"/>
          <p:cNvSpPr/>
          <p:nvPr/>
        </p:nvSpPr>
        <p:spPr>
          <a:xfrm>
            <a:off x="4306824" y="3255264"/>
            <a:ext cx="3602736" cy="13716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89704" y="3419856"/>
            <a:ext cx="109728" cy="292608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709160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주입 방어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489704" y="3694176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리포트에 들어가는 문자열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489704" y="3986784"/>
            <a:ext cx="3255264" cy="51206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599432" y="3986784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_esc() 를 거치지 않은 &lt;script&gt; 가 HTML 에 들어가지 않는가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115300" y="3305556"/>
            <a:ext cx="3602736" cy="13716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1" name="Shape 39"/>
          <p:cNvSpPr/>
          <p:nvPr/>
        </p:nvSpPr>
        <p:spPr>
          <a:xfrm>
            <a:off x="8065008" y="3255264"/>
            <a:ext cx="3602736" cy="13716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47888" y="3419856"/>
            <a:ext cx="109728" cy="292608"/>
          </a:xfrm>
          <a:prstGeom prst="rect">
            <a:avLst/>
          </a:prstGeom>
          <a:solidFill>
            <a:srgbClr val="FF784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467344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8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 방어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247888" y="3694176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문구에 키가 남는가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247888" y="3986784"/>
            <a:ext cx="3255264" cy="51206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357616" y="3986784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는 인증키를 쿼리로 보낸다 — 모든 예외를 scrub() 에 통과시킨다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8932" y="4878324"/>
            <a:ext cx="5394960" cy="140817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8" name="Shape 46"/>
          <p:cNvSpPr/>
          <p:nvPr/>
        </p:nvSpPr>
        <p:spPr>
          <a:xfrm>
            <a:off x="548640" y="4828032"/>
            <a:ext cx="5394960" cy="1408176"/>
          </a:xfrm>
          <a:prstGeom prst="rect">
            <a:avLst/>
          </a:prstGeom>
          <a:solidFill>
            <a:srgbClr val="0A102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68096" y="495604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ki_monitor.py selftest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128 passed, 0 failed  (총 128)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docs/audit.py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전부 통과 (2건 경고)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95060" y="4878324"/>
            <a:ext cx="5495544" cy="140817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1" name="Shape 49"/>
          <p:cNvSpPr/>
          <p:nvPr/>
        </p:nvSpPr>
        <p:spPr>
          <a:xfrm>
            <a:off x="6144768" y="4828032"/>
            <a:ext cx="5495544" cy="140817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345936" y="49560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테스트가 못 보는 것은 감사 스크립트가 본다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345936" y="5248656"/>
            <a:ext cx="51389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줄바꿈이 뒤집혔는지(CRLF/LF), 배치 파일의 괄호·라벨이 성립하는지, 저장소에 키나 실명이 새지 않았는지, 문서에 적힌 테스트 개수가 실제와 맞는지 — docs/audit.py 가 검사한다. 키·네트워크 없이 돈다.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4 · KNOWING WHAT WE DON'T KNOW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값을 만들지 않는다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으로 채우면 계산은 끝까지 돌아가고, 받는 쪽은 '측정 못 함' 과 '0 으로 측정됨' 을 구분할 수 없게 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87652"/>
            <a:ext cx="11094415" cy="6766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11094415" cy="67665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73736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구한 값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06624" y="1892808"/>
            <a:ext cx="1828800" cy="365760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06624" y="1892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+ 사유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737360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으로 채우지 않는다. F-Score 항목 하나가 비면 점수를 내지 않는다.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932" y="2574036"/>
            <a:ext cx="11094415" cy="6766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523744"/>
            <a:ext cx="11094415" cy="67665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2523744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 부족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06624" y="2679192"/>
            <a:ext cx="1828800" cy="365760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06624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계산 거부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523744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동종 비교군 표본이 적으면 그 사실을 적고 비교를 하지 않는다.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" y="3360420"/>
            <a:ext cx="11094415" cy="6766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310128"/>
            <a:ext cx="11094415" cy="67665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8096" y="3310128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 불가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06624" y="3465576"/>
            <a:ext cx="1828800" cy="36576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06624" y="34655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'확인 필요' 로 표시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310128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권리락인지 희석인지 판별이 안 되면 조정하지도, 지우지도 않는다.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932" y="4146804"/>
            <a:ext cx="11094415" cy="6766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096512"/>
            <a:ext cx="11094415" cy="67665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" y="4096512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묵은 값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706624" y="4251960"/>
            <a:ext cx="1828800" cy="365760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706624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기준일 + 경과일수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409651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원장은 일별 종가라 며칠 묵을 수 있다. 몇 주 된 종가가 현재가 행세를 하는 것이 가장 조용한 실패다.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" y="4933188"/>
            <a:ext cx="11094415" cy="6766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882896"/>
            <a:ext cx="11094415" cy="67665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8096" y="4882896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추정한 값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706624" y="5038344"/>
            <a:ext cx="1828800" cy="365760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706624" y="50383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등급 '추정' 고정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754880" y="4882896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락업은 관행으로 계산한 것이지 확약이 아니다. 값에 등급이 붙어 리포트에 함께 실린다.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8932" y="5811012"/>
            <a:ext cx="11094415" cy="49377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5760720"/>
            <a:ext cx="11094415" cy="493776"/>
          </a:xfrm>
          <a:prstGeom prst="rect">
            <a:avLst/>
          </a:prstGeom>
          <a:solidFill>
            <a:srgbClr val="16281C"/>
          </a:solidFill>
          <a:ln w="15875">
            <a:solidFill>
              <a:srgbClr val="2A5A3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6384" y="5760720"/>
            <a:ext cx="1061892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모른다는 것을 아는 게 낫다. </a:t>
            </a:r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 회의에서 가장 비싼 실수는 틀린 숫자가 아니라, 틀린 줄 모르고 쓴 숫자다.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4 · SOURCE GRADING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재료에는 등급이 있다 — 같은 표에 섞지 않는다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회의에서 가장 먼저 나오는 질문은 "그 숫자 어디서 났나요" 다. 절마다 하단에 출처와 등급을 적어 둔다.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87652"/>
            <a:ext cx="2615184" cy="4572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2615184" cy="457200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8932" y="2318004"/>
            <a:ext cx="2615184" cy="16093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67712"/>
            <a:ext cx="2615184" cy="16093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4140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근거로 삼아도 된다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01752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KRX · DART · 한국은행 ECOS · KIS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96996" y="1787652"/>
            <a:ext cx="2615184" cy="4572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3" name="Shape 11"/>
          <p:cNvSpPr/>
          <p:nvPr/>
        </p:nvSpPr>
        <p:spPr>
          <a:xfrm>
            <a:off x="3346704" y="1737360"/>
            <a:ext cx="2615184" cy="45720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46704" y="173736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참고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96996" y="2318004"/>
            <a:ext cx="2615184" cy="16093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6" name="Shape 14"/>
          <p:cNvSpPr/>
          <p:nvPr/>
        </p:nvSpPr>
        <p:spPr>
          <a:xfrm>
            <a:off x="3346704" y="2267712"/>
            <a:ext cx="2615184" cy="16093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11296" y="24140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"이런 이야기가 돈다" 까지만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511296" y="301752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헤드라인 · 심리지표 (본문은 쓰지 않는다)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5060" y="1787652"/>
            <a:ext cx="2615184" cy="4572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0" name="Shape 18"/>
          <p:cNvSpPr/>
          <p:nvPr/>
        </p:nvSpPr>
        <p:spPr>
          <a:xfrm>
            <a:off x="6144768" y="1737360"/>
            <a:ext cx="2615184" cy="457200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44768" y="173736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방법론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95060" y="2318004"/>
            <a:ext cx="2615184" cy="16093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3" name="Shape 21"/>
          <p:cNvSpPr/>
          <p:nvPr/>
        </p:nvSpPr>
        <p:spPr>
          <a:xfrm>
            <a:off x="6144768" y="2267712"/>
            <a:ext cx="2615184" cy="16093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24140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규칙의 출처이지 시세 출처가 아니다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301752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— .papers.json 채택본만 인용 가능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93124" y="1787652"/>
            <a:ext cx="2615184" cy="4572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7" name="Shape 25"/>
          <p:cNvSpPr/>
          <p:nvPr/>
        </p:nvSpPr>
        <p:spPr>
          <a:xfrm>
            <a:off x="8942832" y="1737360"/>
            <a:ext cx="2615184" cy="457200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42832" y="173736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사내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993124" y="2318004"/>
            <a:ext cx="2615184" cy="16093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0" name="Shape 28"/>
          <p:cNvSpPr/>
          <p:nvPr/>
        </p:nvSpPr>
        <p:spPr>
          <a:xfrm>
            <a:off x="8942832" y="2267712"/>
            <a:ext cx="2615184" cy="16093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07424" y="24140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넣은 값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107424" y="301752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exit_plan.csv · positions.csv · watchlist.csv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8932" y="4110228"/>
            <a:ext cx="7223760" cy="128016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4059936"/>
            <a:ext cx="7223760" cy="1280160"/>
          </a:xfrm>
          <a:prstGeom prst="rect">
            <a:avLst/>
          </a:prstGeom>
          <a:solidFill>
            <a:srgbClr val="0A102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8096" y="4169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SECTION_SOURCES — 절마다 하단에 찍힌다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68096" y="4425696"/>
            <a:ext cx="6821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4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"s2": [("1차",   "KRX Open API 일별매매정보 — 거래량·거래대금·상장주식수"),</a:t>
            </a:r>
            <a:endParaRPr lang="en-US" sz="84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4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("1차",   "DART Open API — 최대주주·지분 공시"),</a:t>
            </a:r>
            <a:endParaRPr lang="en-US" sz="84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4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("방법론", "처분 소요일 = 목표 물량 ÷ 기간 평균 거래량 (가정은 표에 명시)")],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8023860" y="4110228"/>
            <a:ext cx="3666744" cy="128016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8" name="Shape 36"/>
          <p:cNvSpPr/>
          <p:nvPr/>
        </p:nvSpPr>
        <p:spPr>
          <a:xfrm>
            <a:off x="7973568" y="4059936"/>
            <a:ext cx="3666744" cy="1280160"/>
          </a:xfrm>
          <a:prstGeom prst="rect">
            <a:avLst/>
          </a:prstGeom>
          <a:solidFill>
            <a:srgbClr val="171E30"/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74736" y="4187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논문은 시세 출처가 아니다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174736" y="4480560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팩터는 논문 키를 달고 나가고, selftest 가 "모든 팩터가 실재하는 논문을 인용하는가" 를 검사한다. 그리고 그 논문이 주장하지 않는 것(limits)을 값과 함께 낸다.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8932" y="5554980"/>
            <a:ext cx="11094415" cy="7315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5504688"/>
            <a:ext cx="11094415" cy="73152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6384" y="5504688"/>
            <a:ext cx="10618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흔한 사고는 </a:t>
            </a:r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논문이 말한 적 없는 것을 말했다고 읽는 것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이다.
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Amihud(2002) 의 표본은 미국 상장주다. 코스닥 소형주에 그대로 외삽할 근거가 아니며, 그 문장이 값 옆에 붙어 나간다.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5 · ★ REPLICATION GATE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관문 — 인용하기 전에 우리 데이터로 계산해 본다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데스크가 다루는 것은 코스닥 소형주다. 논문 표본이 미국 대형주라면, 그 결론은 가설이지 근거가 아니다.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32788"/>
            <a:ext cx="5943600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82496"/>
            <a:ext cx="5943600" cy="6949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828800"/>
            <a:ext cx="402336" cy="40233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6656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7556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논문에서 검정 가능한 주장 하나를 뽑는다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0116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"거래량이 낮을수록 이후 수익률이 높다" 처럼 방향이 있는 한 문장으로 환원한다. 환원되지 않으면 재현 대상이 아니다.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8932" y="2519172"/>
            <a:ext cx="5943600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468880"/>
            <a:ext cx="5943600" cy="6949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15184"/>
            <a:ext cx="402336" cy="40233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6656" y="2615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5420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원장에서 그 팩터를 계산한다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27980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ki.sqlite 일봉으로 팩터를 만든다. 새 데이터를 받지 않는다 — 이미 KRX 공식 API 로 받아 둔 것만 쓴다.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932" y="3305556"/>
            <a:ext cx="5943600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255264"/>
            <a:ext cx="5943600" cy="6949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3401568"/>
            <a:ext cx="402336" cy="40233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6656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332841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코스닥 전종목에 적용해 방향을 본다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35844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분위 포트폴리오 스프레드의 부호가 논문과 같은가. 표본이 부족하면 계산을 거부한다(기존 원칙 그대로).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8932" y="4091940"/>
            <a:ext cx="5943600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041648"/>
            <a:ext cx="5943600" cy="6949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187952"/>
            <a:ext cx="402336" cy="40233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6656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07008" y="4114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중 하나로 판정한다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207008" y="43708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재현됨 / 방향 반대 / 판정 불가. 재현되지 않아도 지우지 않고 결과를 남긴다.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932" y="4878324"/>
            <a:ext cx="5943600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828032"/>
            <a:ext cx="5943600" cy="6949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" y="4974336"/>
            <a:ext cx="402336" cy="40233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6656" y="4974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207008" y="49011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재현된 것만 채택본으로 넘긴다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207008" y="515721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결과와 표본 구간이 논문 항목에 함께 저장돼, 리포트에 인용될 때 같이 따라 나간다.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3428" y="1732788"/>
            <a:ext cx="4837176" cy="39319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6" name="Shape 34"/>
          <p:cNvSpPr/>
          <p:nvPr/>
        </p:nvSpPr>
        <p:spPr>
          <a:xfrm>
            <a:off x="6803136" y="1682496"/>
            <a:ext cx="4837176" cy="39319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86016" y="181051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판정 예시  ·  win=60 · KOSDAQ 전종목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86016" y="2139696"/>
            <a:ext cx="4480560" cy="402336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095744" y="21396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amihud2002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412480" y="21396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비유동성 ↑ → 수익 ↑</a:t>
            </a:r>
            <a:endParaRPr lang="en-US" sz="95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2267712"/>
            <a:ext cx="155448" cy="155448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10497312" y="213969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재현됨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986016" y="2615184"/>
            <a:ext cx="4480560" cy="402336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7095744" y="261518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dnr1998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8412480" y="26151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회전율 ↓ → 수익 ↑</a:t>
            </a:r>
            <a:endParaRPr lang="en-US" sz="950" dirty="0"/>
          </a:p>
        </p:txBody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2743200"/>
            <a:ext cx="155448" cy="155448"/>
          </a:xfrm>
          <a:prstGeom prst="rect">
            <a:avLst/>
          </a:prstGeom>
        </p:spPr>
      </p:pic>
      <p:sp>
        <p:nvSpPr>
          <p:cNvPr id="47" name="Text 43"/>
          <p:cNvSpPr txBox="1"/>
          <p:nvPr/>
        </p:nvSpPr>
        <p:spPr>
          <a:xfrm>
            <a:off x="10497312" y="261518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재현됨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6986016" y="3090672"/>
            <a:ext cx="4480560" cy="402336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7095744" y="309067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jt1993</a:t>
            </a:r>
            <a:endParaRPr lang="en-US" sz="950" dirty="0"/>
          </a:p>
        </p:txBody>
      </p:sp>
      <p:sp>
        <p:nvSpPr>
          <p:cNvPr id="50" name="Text 46"/>
          <p:cNvSpPr txBox="1"/>
          <p:nvPr/>
        </p:nvSpPr>
        <p:spPr>
          <a:xfrm>
            <a:off x="8412480" y="30906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 모멘텀 지속</a:t>
            </a:r>
            <a:endParaRPr lang="en-US" sz="950" dirty="0"/>
          </a:p>
        </p:txBody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56" y="3218688"/>
            <a:ext cx="155448" cy="155448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10497312" y="309067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방향 반대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6986016" y="3566160"/>
            <a:ext cx="4480560" cy="402336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7095744" y="3566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ahxz2006</a:t>
            </a:r>
            <a:endParaRPr lang="en-US" sz="950" dirty="0"/>
          </a:p>
        </p:txBody>
      </p:sp>
      <p:sp>
        <p:nvSpPr>
          <p:cNvPr id="55" name="Text 50"/>
          <p:cNvSpPr txBox="1"/>
          <p:nvPr/>
        </p:nvSpPr>
        <p:spPr>
          <a:xfrm>
            <a:off x="8412480" y="35661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특이변동성 ↑ → 수익 ↓</a:t>
            </a:r>
            <a:endParaRPr lang="en-US" sz="950" dirty="0"/>
          </a:p>
        </p:txBody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856" y="3694176"/>
            <a:ext cx="155448" cy="155448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10497312" y="3566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판정 불가</a:t>
            </a:r>
            <a:endParaRPr lang="en-US" sz="950" dirty="0"/>
          </a:p>
        </p:txBody>
      </p:sp>
      <p:sp>
        <p:nvSpPr>
          <p:cNvPr id="58" name="Shape 52"/>
          <p:cNvSpPr/>
          <p:nvPr/>
        </p:nvSpPr>
        <p:spPr>
          <a:xfrm>
            <a:off x="6986016" y="4041648"/>
            <a:ext cx="4480560" cy="402336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59" name="Text 53"/>
          <p:cNvSpPr txBox="1"/>
          <p:nvPr/>
        </p:nvSpPr>
        <p:spPr>
          <a:xfrm>
            <a:off x="7095744" y="404164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roll1984</a:t>
            </a:r>
            <a:endParaRPr lang="en-US" sz="950" dirty="0"/>
          </a:p>
        </p:txBody>
      </p:sp>
      <p:sp>
        <p:nvSpPr>
          <p:cNvPr id="60" name="Text 54"/>
          <p:cNvSpPr txBox="1"/>
          <p:nvPr/>
        </p:nvSpPr>
        <p:spPr>
          <a:xfrm>
            <a:off x="8412480" y="40416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스프레드 추정</a:t>
            </a:r>
            <a:endParaRPr lang="en-US" sz="950" dirty="0"/>
          </a:p>
        </p:txBody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856" y="4169664"/>
            <a:ext cx="155448" cy="155448"/>
          </a:xfrm>
          <a:prstGeom prst="rect">
            <a:avLst/>
          </a:prstGeom>
        </p:spPr>
      </p:pic>
      <p:sp>
        <p:nvSpPr>
          <p:cNvPr id="62" name="Text 55"/>
          <p:cNvSpPr txBox="1"/>
          <p:nvPr/>
        </p:nvSpPr>
        <p:spPr>
          <a:xfrm>
            <a:off x="10497312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재현됨</a:t>
            </a:r>
            <a:endParaRPr lang="en-US" sz="950" dirty="0"/>
          </a:p>
        </p:txBody>
      </p:sp>
      <p:sp>
        <p:nvSpPr>
          <p:cNvPr id="63" name="Text 56"/>
          <p:cNvSpPr txBox="1"/>
          <p:nvPr/>
        </p:nvSpPr>
        <p:spPr>
          <a:xfrm>
            <a:off x="6986016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jt1993 모멘텀은 코스닥에서 방향이 뒤집힌다 — 널리 알려진 사실이다.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인용은 하되 "우리 표본에서는 반대"가 값에 붙어 나간다.</a:t>
            </a:r>
            <a:endParaRPr lang="en-US" sz="950" dirty="0"/>
          </a:p>
        </p:txBody>
      </p:sp>
      <p:sp>
        <p:nvSpPr>
          <p:cNvPr id="64" name="Text 57"/>
          <p:cNvSpPr txBox="1"/>
          <p:nvPr/>
        </p:nvSpPr>
        <p:spPr>
          <a:xfrm>
            <a:off x="6986016" y="51937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판정은 매번 표본 구간과 함께 기록된다. 같은 논문이라도 구간이 바뀌면 판정이 바뀔 수 있고, 그 변화 자체가 신호다.</a:t>
            </a:r>
            <a:endParaRPr lang="en-US" sz="950" dirty="0"/>
          </a:p>
        </p:txBody>
      </p:sp>
      <p:sp>
        <p:nvSpPr>
          <p:cNvPr id="65" name="Shape 58"/>
          <p:cNvSpPr/>
          <p:nvPr/>
        </p:nvSpPr>
        <p:spPr>
          <a:xfrm>
            <a:off x="598932" y="5701284"/>
            <a:ext cx="11094415" cy="60350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6" name="Shape 59"/>
          <p:cNvSpPr/>
          <p:nvPr/>
        </p:nvSpPr>
        <p:spPr>
          <a:xfrm>
            <a:off x="548640" y="5650992"/>
            <a:ext cx="11094415" cy="603504"/>
          </a:xfrm>
          <a:prstGeom prst="rect">
            <a:avLst/>
          </a:prstGeom>
          <a:solidFill>
            <a:srgbClr val="2A1520"/>
          </a:solidFill>
          <a:ln w="15875">
            <a:solidFill>
              <a:srgbClr val="5C2A3A"/>
            </a:solidFill>
            <a:prstDash val="solid"/>
          </a:ln>
        </p:spPr>
      </p:sp>
      <p:sp>
        <p:nvSpPr>
          <p:cNvPr id="67" name="Text 60"/>
          <p:cNvSpPr txBox="1"/>
          <p:nvPr/>
        </p:nvSpPr>
        <p:spPr>
          <a:xfrm>
            <a:off x="786384" y="5650992"/>
            <a:ext cx="1061892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실패는 실패가 아니다.  </a:t>
            </a:r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논문은 코스닥에서 성립하지 않는다"는 것도 측정 결과다. 지우지 않고 남겨 두면, 다음 사람이 같은 논문을 다시 주워 오는 일을 막는다.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5 · SCALING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— 데스크 에이전트로 읽기를 나눈다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측정은 이미 된다. 병목은 85개 종목의 상세를 읽을 사람이 한 명이라는 것이다. 읽기를 나누되, 판단은 나누지 않는다.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69364"/>
            <a:ext cx="2615184" cy="10972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19072"/>
            <a:ext cx="2615184" cy="109728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93392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53312" y="19568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기업분석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353312" y="2249424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원문 · 재무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96996" y="1769364"/>
            <a:ext cx="2615184" cy="10972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1" name="Shape 8"/>
          <p:cNvSpPr/>
          <p:nvPr/>
        </p:nvSpPr>
        <p:spPr>
          <a:xfrm>
            <a:off x="3346704" y="1719072"/>
            <a:ext cx="2615184" cy="109728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993392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51376" y="19568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D7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계량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151376" y="2249424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팩터 · 논문 재현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95060" y="1769364"/>
            <a:ext cx="2615184" cy="10972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6" name="Shape 12"/>
          <p:cNvSpPr/>
          <p:nvPr/>
        </p:nvSpPr>
        <p:spPr>
          <a:xfrm>
            <a:off x="6144768" y="1719072"/>
            <a:ext cx="2615184" cy="109728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93392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49440" y="19568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매크로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6949440" y="2249424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국면 · 일정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993124" y="1769364"/>
            <a:ext cx="2615184" cy="10972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1" name="Shape 16"/>
          <p:cNvSpPr/>
          <p:nvPr/>
        </p:nvSpPr>
        <p:spPr>
          <a:xfrm>
            <a:off x="8942832" y="1719072"/>
            <a:ext cx="2615184" cy="109728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4" y="1993392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747504" y="19568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9747504" y="2249424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처분여건 · 시뮬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98932" y="2976372"/>
            <a:ext cx="2615184" cy="10972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6" name="Shape 20"/>
          <p:cNvSpPr/>
          <p:nvPr/>
        </p:nvSpPr>
        <p:spPr>
          <a:xfrm>
            <a:off x="548640" y="2926080"/>
            <a:ext cx="2615184" cy="109728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200400"/>
            <a:ext cx="548640" cy="54864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53312" y="3163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1353312" y="345643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재검산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396996" y="2976372"/>
            <a:ext cx="2615184" cy="10972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1" name="Shape 24"/>
          <p:cNvSpPr/>
          <p:nvPr/>
        </p:nvSpPr>
        <p:spPr>
          <a:xfrm>
            <a:off x="3346704" y="2926080"/>
            <a:ext cx="2615184" cy="109728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3200400"/>
            <a:ext cx="548640" cy="54864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151376" y="3163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78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준법감시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4151376" y="345643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 게이트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195060" y="2976372"/>
            <a:ext cx="2615184" cy="10972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6" name="Shape 28"/>
          <p:cNvSpPr/>
          <p:nvPr/>
        </p:nvSpPr>
        <p:spPr>
          <a:xfrm>
            <a:off x="6144768" y="2926080"/>
            <a:ext cx="2615184" cy="109728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200400"/>
            <a:ext cx="548640" cy="54864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949440" y="3163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250" dirty="0"/>
          </a:p>
        </p:txBody>
      </p:sp>
      <p:sp>
        <p:nvSpPr>
          <p:cNvPr id="39" name="Text 30"/>
          <p:cNvSpPr txBox="1"/>
          <p:nvPr/>
        </p:nvSpPr>
        <p:spPr>
          <a:xfrm>
            <a:off x="6949440" y="345643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쓰기 단독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8993124" y="2976372"/>
            <a:ext cx="2615184" cy="10972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1" name="Shape 32"/>
          <p:cNvSpPr/>
          <p:nvPr/>
        </p:nvSpPr>
        <p:spPr>
          <a:xfrm>
            <a:off x="8942832" y="2926080"/>
            <a:ext cx="2615184" cy="109728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7424" y="3200400"/>
            <a:ext cx="548640" cy="54864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747504" y="3163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간사</a:t>
            </a:r>
            <a:endParaRPr lang="en-US" sz="1250" dirty="0"/>
          </a:p>
        </p:txBody>
      </p:sp>
      <p:sp>
        <p:nvSpPr>
          <p:cNvPr id="44" name="Text 34"/>
          <p:cNvSpPr txBox="1"/>
          <p:nvPr/>
        </p:nvSpPr>
        <p:spPr>
          <a:xfrm>
            <a:off x="9747504" y="345643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쟁점 정렬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598932" y="4256532"/>
            <a:ext cx="3602736" cy="14630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6" name="Shape 36"/>
          <p:cNvSpPr/>
          <p:nvPr/>
        </p:nvSpPr>
        <p:spPr>
          <a:xfrm>
            <a:off x="548640" y="4206240"/>
            <a:ext cx="3602736" cy="146304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731520" y="4334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벽은 구조다</a:t>
            </a:r>
            <a:endParaRPr lang="en-US" sz="1200" dirty="0"/>
          </a:p>
        </p:txBody>
      </p:sp>
      <p:sp>
        <p:nvSpPr>
          <p:cNvPr id="48" name="Text 38"/>
          <p:cNvSpPr txBox="1"/>
          <p:nvPr/>
        </p:nvSpPr>
        <p:spPr>
          <a:xfrm>
            <a:off x="731520" y="4626864"/>
            <a:ext cx="3255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원장(ki.sqlite)을 쓸 수 있는 도구를 에이전트에게 만들어 주지 않는다. MCP 서버에 읽기 도구만 노출한다 — "쓰지 마라" 는 지시가 아니라 쓸 수단이 없는 상태다.</a:t>
            </a:r>
            <a:endParaRPr lang="en-US" sz="950" dirty="0"/>
          </a:p>
        </p:txBody>
      </p:sp>
      <p:sp>
        <p:nvSpPr>
          <p:cNvPr id="49" name="Shape 39"/>
          <p:cNvSpPr/>
          <p:nvPr/>
        </p:nvSpPr>
        <p:spPr>
          <a:xfrm>
            <a:off x="4357116" y="4256532"/>
            <a:ext cx="3602736" cy="14630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0" name="Shape 40"/>
          <p:cNvSpPr/>
          <p:nvPr/>
        </p:nvSpPr>
        <p:spPr>
          <a:xfrm>
            <a:off x="4306824" y="4206240"/>
            <a:ext cx="3602736" cy="146304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4489704" y="4334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산출은 등급 '해석'</a:t>
            </a:r>
            <a:endParaRPr lang="en-US" sz="1200" dirty="0"/>
          </a:p>
        </p:txBody>
      </p:sp>
      <p:sp>
        <p:nvSpPr>
          <p:cNvPr id="52" name="Text 42"/>
          <p:cNvSpPr txBox="1"/>
          <p:nvPr/>
        </p:nvSpPr>
        <p:spPr>
          <a:xfrm>
            <a:off x="4489704" y="4626864"/>
            <a:ext cx="3255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쓴 문장은 무엇을 근거로 삼았든 1차 자료가 되지 않는다. 다섯 번째 등급을 만들어 측정값과 섞이지 않게 한다.</a:t>
            </a:r>
            <a:endParaRPr lang="en-US" sz="950" dirty="0"/>
          </a:p>
        </p:txBody>
      </p:sp>
      <p:sp>
        <p:nvSpPr>
          <p:cNvPr id="53" name="Shape 43"/>
          <p:cNvSpPr/>
          <p:nvPr/>
        </p:nvSpPr>
        <p:spPr>
          <a:xfrm>
            <a:off x="8115300" y="4256532"/>
            <a:ext cx="3602736" cy="14630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4" name="Shape 44"/>
          <p:cNvSpPr/>
          <p:nvPr/>
        </p:nvSpPr>
        <p:spPr>
          <a:xfrm>
            <a:off x="8065008" y="4206240"/>
            <a:ext cx="3602736" cy="146304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8247888" y="4334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이벤트로 소집한다</a:t>
            </a:r>
            <a:endParaRPr lang="en-US" sz="1200" dirty="0"/>
          </a:p>
        </p:txBody>
      </p:sp>
      <p:sp>
        <p:nvSpPr>
          <p:cNvPr id="56" name="Text 46"/>
          <p:cNvSpPr txBox="1"/>
          <p:nvPr/>
        </p:nvSpPr>
        <p:spPr>
          <a:xfrm>
            <a:off x="8247888" y="4626864"/>
            <a:ext cx="3255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1건 = 인스턴스 1개. 봉투를 내면 소멸한다. 무상태라 같은 입력이면 같은 결과가 나오고, 그래서 되짚을 수 있다.</a:t>
            </a:r>
            <a:endParaRPr lang="en-US" sz="950" dirty="0"/>
          </a:p>
        </p:txBody>
      </p:sp>
      <p:sp>
        <p:nvSpPr>
          <p:cNvPr id="57" name="Shape 47"/>
          <p:cNvSpPr/>
          <p:nvPr/>
        </p:nvSpPr>
        <p:spPr>
          <a:xfrm>
            <a:off x="598932" y="5847588"/>
            <a:ext cx="11094415" cy="49377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8" name="Shape 48"/>
          <p:cNvSpPr/>
          <p:nvPr/>
        </p:nvSpPr>
        <p:spPr>
          <a:xfrm>
            <a:off x="548640" y="5797296"/>
            <a:ext cx="11094415" cy="493776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786384" y="5797296"/>
            <a:ext cx="1061892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대상은 '독해와 정렬' 이다. </a:t>
            </a:r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지금과 똑같이 회의에서 사람이 한다 — 이 경계가 흔들리면 실패다.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5 · WHAT'S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채울 것 — 있는 척하지 않는다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없는 것을 정확히 적어 두는 편이, 있는 것처럼 보이게 만드는 것보다 낫다.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87652"/>
            <a:ext cx="11094415" cy="7498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11094415" cy="74980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11096"/>
            <a:ext cx="402336" cy="40233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911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837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메자닌 지표 보강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1214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패리티(주가÷전환가) · 전환프리미엄 · put 행사 가능일과 행사 시 IRR · 리픽싱 여력(현 전환가 → 하한까지)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326880" y="18379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W1–3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" y="2647188"/>
            <a:ext cx="11094415" cy="7498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596896"/>
            <a:ext cx="11094415" cy="74980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770632"/>
            <a:ext cx="402336" cy="40233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770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97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발행조건 구조화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8094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cb_amount · cb_conv_price 두 값뿐이다. 주요사항보고서 원문에서 조정주기 · 하한 · put/call 조항을 구조화한다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W3–6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" y="3506724"/>
            <a:ext cx="11094415" cy="7498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456432"/>
            <a:ext cx="11094415" cy="74980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630168"/>
            <a:ext cx="402336" cy="40233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3630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5570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펀드 단위 제약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8404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코스닥벤처펀드 편입비율 모니터링. 사내 편입 원장이 붙어야 가능하다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35570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사내 데이터 필요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" y="4366260"/>
            <a:ext cx="11094415" cy="7498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315968"/>
            <a:ext cx="11094415" cy="74980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489704"/>
            <a:ext cx="402336" cy="402336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489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4416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재현 관문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47000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채택본 12편이 코스닥에서 실제로 성립하는지 소급 재현한다. 통과한 것만 인용 자격을 준다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4416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W4–8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932" y="5225796"/>
            <a:ext cx="11094415" cy="7498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5175504"/>
            <a:ext cx="11094415" cy="74980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5349240"/>
            <a:ext cx="402336" cy="402336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31520" y="5349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280160" y="5276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에이전트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1280160" y="55595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읽기를 나눈다. 원장 쓰기 권한은 주지 않는다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9326880" y="5276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W8–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8932" y="6103620"/>
            <a:ext cx="11094415" cy="4572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6053328"/>
            <a:ext cx="11094415" cy="45720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86384" y="605332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알아야 할 숫자 — 채택본 12편 중 몇 편이 코스닥에서 실제로 성립하는가. 지금은 아무도 모른다.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918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9377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2296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5214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31673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48132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64592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81051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197510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13969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230428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46888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63347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79806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296265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312724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329184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345643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62102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78561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395020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11480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27939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44398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60857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77316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493776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526694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43153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559612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576072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592531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08990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25449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658368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674827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48640" y="42062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SUMMARY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94944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프로젝트로 보여드리고 싶은 것</a:t>
            </a:r>
            <a:endParaRPr lang="en-US" sz="2800" dirty="0"/>
          </a:p>
        </p:txBody>
      </p:sp>
      <p:sp>
        <p:nvSpPr>
          <p:cNvPr id="46" name="Shape 44"/>
          <p:cNvSpPr/>
          <p:nvPr/>
        </p:nvSpPr>
        <p:spPr>
          <a:xfrm>
            <a:off x="598932" y="1513332"/>
            <a:ext cx="7589520" cy="78638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7" name="Shape 45"/>
          <p:cNvSpPr/>
          <p:nvPr/>
        </p:nvSpPr>
        <p:spPr>
          <a:xfrm>
            <a:off x="548640" y="1463040"/>
            <a:ext cx="7589520" cy="786384"/>
          </a:xfrm>
          <a:prstGeom prst="rect">
            <a:avLst/>
          </a:prstGeom>
          <a:solidFill>
            <a:srgbClr val="16274A"/>
          </a:solidFill>
          <a:ln w="15875">
            <a:solidFill>
              <a:srgbClr val="2C3E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1520" y="1645920"/>
            <a:ext cx="128016" cy="420624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024128" y="15727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메자닌 구조를 계산으로 옮길 수 있다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186537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리픽싱 · 완전희석 · 전환 잠재주식수를 조항에서 코드로 옮겼고, 그 계산이 맞는지 방향성 테스트로 검사한다.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98932" y="2409444"/>
            <a:ext cx="7589520" cy="78638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2" name="Shape 50"/>
          <p:cNvSpPr/>
          <p:nvPr/>
        </p:nvSpPr>
        <p:spPr>
          <a:xfrm>
            <a:off x="548640" y="2359152"/>
            <a:ext cx="7589520" cy="786384"/>
          </a:xfrm>
          <a:prstGeom prst="rect">
            <a:avLst/>
          </a:prstGeom>
          <a:solidFill>
            <a:srgbClr val="16274A"/>
          </a:solidFill>
          <a:ln w="15875">
            <a:solidFill>
              <a:srgbClr val="2C3E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1520" y="2542032"/>
            <a:ext cx="128016" cy="420624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1024128" y="2468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실무에서만 보이는 함정을 안다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1024128" y="276148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 전환을 권리락으로 처리하면 과거 수익률이 조용히 틀어진다. 이 구분을 코드와 테스트로 남겼다.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98932" y="3305556"/>
            <a:ext cx="7589520" cy="78638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7" name="Shape 55"/>
          <p:cNvSpPr/>
          <p:nvPr/>
        </p:nvSpPr>
        <p:spPr>
          <a:xfrm>
            <a:off x="548640" y="3255264"/>
            <a:ext cx="7589520" cy="786384"/>
          </a:xfrm>
          <a:prstGeom prst="rect">
            <a:avLst/>
          </a:prstGeom>
          <a:solidFill>
            <a:srgbClr val="16274A"/>
          </a:solidFill>
          <a:ln w="15875">
            <a:solidFill>
              <a:srgbClr val="2C3E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1520" y="3438144"/>
            <a:ext cx="128016" cy="420624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024128" y="33649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데이터의 신뢰도를 관리한다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1024128" y="36576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출처만 쓰고, 응답 필드를 얼려 두고, 절마다 출처와 등급을 찍는다. 못 구한 값은 None 으로 낸다.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98932" y="4201668"/>
            <a:ext cx="7589520" cy="78638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2" name="Shape 60"/>
          <p:cNvSpPr/>
          <p:nvPr/>
        </p:nvSpPr>
        <p:spPr>
          <a:xfrm>
            <a:off x="548640" y="4151376"/>
            <a:ext cx="7589520" cy="786384"/>
          </a:xfrm>
          <a:prstGeom prst="rect">
            <a:avLst/>
          </a:prstGeom>
          <a:solidFill>
            <a:srgbClr val="16274A"/>
          </a:solidFill>
          <a:ln w="15875">
            <a:solidFill>
              <a:srgbClr val="2C3E6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1520" y="4334256"/>
            <a:ext cx="128016" cy="420624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1024128" y="42611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측정과 판단을 분리한다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1024128" y="455371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· 등급 · 목표주가를 만들지 않는다. 회의에 올리는 것은 측정값과 그 가정 · 한계다.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98932" y="5097780"/>
            <a:ext cx="7589520" cy="78638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7" name="Shape 65"/>
          <p:cNvSpPr/>
          <p:nvPr/>
        </p:nvSpPr>
        <p:spPr>
          <a:xfrm>
            <a:off x="548640" y="5047488"/>
            <a:ext cx="7589520" cy="786384"/>
          </a:xfrm>
          <a:prstGeom prst="rect">
            <a:avLst/>
          </a:prstGeom>
          <a:solidFill>
            <a:srgbClr val="16274A"/>
          </a:solidFill>
          <a:ln w="15875">
            <a:solidFill>
              <a:srgbClr val="2C3E6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1520" y="5230368"/>
            <a:ext cx="128016" cy="420624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1024128" y="51572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혼자서 끝까지 만든다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1024128" y="544982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· 계산 · 검증 · 리포트 · 자동 실행까지 8,684줄 단일 파일로 돌아가고, 자체 검증 128개가 매번 통과한다.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8412480" y="14630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저장소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841248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github.com/InnbumBaek/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Stock_Agent</a:t>
            </a:r>
            <a:endParaRPr lang="en-US" sz="1050" dirty="0"/>
          </a:p>
        </p:txBody>
      </p:sp>
      <p:sp>
        <p:nvSpPr>
          <p:cNvPr id="73" name="Text 71"/>
          <p:cNvSpPr txBox="1"/>
          <p:nvPr/>
        </p:nvSpPr>
        <p:spPr>
          <a:xfrm>
            <a:off x="8412480" y="2450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8,684</a:t>
            </a:r>
            <a:endParaRPr lang="en-US" sz="2400" dirty="0"/>
          </a:p>
        </p:txBody>
      </p:sp>
      <p:sp>
        <p:nvSpPr>
          <p:cNvPr id="74" name="Text 72"/>
          <p:cNvSpPr txBox="1"/>
          <p:nvPr/>
        </p:nvSpPr>
        <p:spPr>
          <a:xfrm>
            <a:off x="8412480" y="28163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· 단일 파일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8412480" y="32369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2400" dirty="0"/>
          </a:p>
        </p:txBody>
      </p:sp>
      <p:sp>
        <p:nvSpPr>
          <p:cNvPr id="76" name="Text 74"/>
          <p:cNvSpPr txBox="1"/>
          <p:nvPr/>
        </p:nvSpPr>
        <p:spPr>
          <a:xfrm>
            <a:off x="8412480" y="3602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검증 · 전부 통과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841248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400" dirty="0"/>
          </a:p>
        </p:txBody>
      </p:sp>
      <p:sp>
        <p:nvSpPr>
          <p:cNvPr id="78" name="Text 76"/>
          <p:cNvSpPr txBox="1"/>
          <p:nvPr/>
        </p:nvSpPr>
        <p:spPr>
          <a:xfrm>
            <a:off x="8412480" y="43891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출처 API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8412480" y="48097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2400" dirty="0"/>
          </a:p>
        </p:txBody>
      </p:sp>
      <p:sp>
        <p:nvSpPr>
          <p:cNvPr id="80" name="Text 78"/>
          <p:cNvSpPr txBox="1"/>
          <p:nvPr/>
        </p:nvSpPr>
        <p:spPr>
          <a:xfrm>
            <a:off x="8412480" y="51755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논문 (재현 예정)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98932" y="6048756"/>
            <a:ext cx="7589520" cy="4572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82" name="Shape 80"/>
          <p:cNvSpPr/>
          <p:nvPr/>
        </p:nvSpPr>
        <p:spPr>
          <a:xfrm>
            <a:off x="548640" y="5998464"/>
            <a:ext cx="7589520" cy="457200"/>
          </a:xfrm>
          <a:prstGeom prst="rect">
            <a:avLst/>
          </a:prstGeom>
          <a:solidFill>
            <a:srgbClr val="16281C"/>
          </a:solidFill>
          <a:ln w="15875">
            <a:solidFill>
              <a:srgbClr val="2A5A3A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68096" y="599846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도구가 하지 않는 일 — 매매 시그널, 목표주가, 투자 권고. 그 선을 지키는 것이 설계의 핵심입니다.</a:t>
            </a:r>
            <a:endParaRPr lang="en-US" sz="1050" dirty="0"/>
          </a:p>
        </p:txBody>
      </p:sp>
      <p:sp>
        <p:nvSpPr>
          <p:cNvPr id="84" name="Text 82"/>
          <p:cNvSpPr txBox="1"/>
          <p:nvPr/>
        </p:nvSpPr>
        <p:spPr>
          <a:xfrm>
            <a:off x="8412480" y="59984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내부 검토용 · 대외비 · 투자권유 · 투자자문 자료가 아닙니다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Agent v2 — 살아있는 리서치 데스크</dc:title>
  <dc:subject>PptxGenJS Presentation</dc:subject>
  <dc:creator>PptxGenJS</dc:creator>
  <cp:lastModifiedBy>PptxGenJS</cp:lastModifiedBy>
  <cp:revision>1</cp:revision>
  <dcterms:created xsi:type="dcterms:W3CDTF">2026-09-16T12:31:47Z</dcterms:created>
  <dcterms:modified xsi:type="dcterms:W3CDTF">2026-09-16T12:31:47Z</dcterms:modified>
</cp:coreProperties>
</file>